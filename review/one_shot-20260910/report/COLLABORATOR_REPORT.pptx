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本报告依据9月8日战略与概念审查、本轮原始运行记录及ADK数据核对。当前不是完整效果实验交付。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G1/G2关注证据和物理对象；Rules与Agent是可选执行方式。规则数量和通过率不是科学回答质量。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11个来源paper_id，并非旧计划的12个。Q05等保留暴露开发角色，不能提升为独立测试。</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10条分为5条开始已有开放方向与5条后来出现。NOE是核磁距离约束的违例读数；方向变化不等于平衡人口或转换速率。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两份普通Agent答复都未发现原始包装坐标异常。后置最近镜像计算与VMD核对，不可归给原Agent。实验仅作背景，距离不能单独证明氢键或抑制机制。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同模型、推理设置、工具、资料、预算和提交机会。R-P比较实际指导方案，内容措辞可能不同，不能隔离通用引擎或表格形式贡献。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论文 DOI10.1126/sciadv.abi5514。当前四文件不含数值散射差谱，采用计划允许的单一来源MD比较。结构文件不含ATP或AMP，不能直接叫ATP结合事件。</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正文PDF和SI已取得。VMD物理时间接口返回0，被检查拦住后改读原生XTC头；坐标与时间逐帧绑定。每套结构与自身轨迹配对。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这是明确标为教学的几何例子，不是论文实验数据。正交最小映像限制各分量；非键相互作用截断半盒长的要求不能直接搬成所有结构距离的合法性判据。</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两个本地最小映像结果与GROMACS2025.1文本精度一致。此证据推翻超半盒长即错误的充分条件，不代表MD或整个域间科学解释已验证。旧准入仍保留FAIL。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预算上限1.55美元，剩余1.41169805；截止与费用不重置。没有未知扣费。保留错误探测、时间修正和输出精度核对等偏离记录。</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下一动作是采用具体的物理准入修订：先区分完整分子距离与周期最近距离，核对拓扑/单位/时间/周期处理及成熟软件一致性。通过后再冻结ADK科学答案和DPR比较，不按结果追加规则。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科学协议居中，重新对齐 Rules 的价值问题</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Rules Table 保留为前提与边界说明</a:t>
            </a:r>
          </a:p>
          <a:p>
            <a:pPr>
              <a:spcAft>
                <a:spcPts val="2000"/>
              </a:spcAft>
              <a:defRPr sz="2500" b="0">
                <a:solidFill>
                  <a:srgbClr val="20394E"/>
                </a:solidFill>
                <a:latin typeface="PingFang SC"/>
              </a:defRPr>
            </a:pPr>
            <a:r>
              <a:t>选择器的增量，改与已有七条协议直接比较</a:t>
            </a:r>
          </a:p>
          <a:p>
            <a:pPr>
              <a:spcAft>
                <a:spcPts val="2000"/>
              </a:spcAft>
              <a:defRPr sz="2500" b="0">
                <a:solidFill>
                  <a:srgbClr val="20394E"/>
                </a:solidFill>
                <a:latin typeface="PingFang SC"/>
              </a:defRPr>
            </a:pPr>
            <a:r>
              <a:t>新 D/P/R 尚未运行；科学结果与测试状态分开报告</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原始目标：给出有用、可核的科学回答</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先问哪些蛋白结构与动力学解释有证据</a:t>
            </a:r>
          </a:p>
          <a:p>
            <a:pPr>
              <a:spcAft>
                <a:spcPts val="2000"/>
              </a:spcAft>
              <a:defRPr sz="2500" b="0">
                <a:solidFill>
                  <a:srgbClr val="20394E"/>
                </a:solidFill>
                <a:latin typeface="PingFang SC"/>
              </a:defRPr>
            </a:pPr>
            <a:r>
              <a:t>再选成熟方法，算出可检验的量</a:t>
            </a:r>
          </a:p>
          <a:p>
            <a:pPr>
              <a:spcAft>
                <a:spcPts val="2000"/>
              </a:spcAft>
              <a:defRPr sz="2500" b="0">
                <a:solidFill>
                  <a:srgbClr val="20394E"/>
                </a:solidFill>
                <a:latin typeface="PingFang SC"/>
              </a:defRPr>
            </a:pPr>
            <a:r>
              <a:t>最后说明未解决的解释与下一步</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已有成果：科学在推进，增量仍待测</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33 条候选规则：有来源的知识材料</a:t>
            </a:r>
          </a:p>
          <a:p>
            <a:pPr>
              <a:spcAft>
                <a:spcPts val="2000"/>
              </a:spcAft>
              <a:defRPr sz="2500" b="0">
                <a:solidFill>
                  <a:srgbClr val="20394E"/>
                </a:solidFill>
                <a:latin typeface="PingFang SC"/>
              </a:defRPr>
            </a:pPr>
            <a:r>
              <a:t>HSP90：派生方向与原生 NOE 的对应</a:t>
            </a:r>
          </a:p>
          <a:p>
            <a:pPr>
              <a:spcAft>
                <a:spcPts val="2000"/>
              </a:spcAft>
              <a:defRPr sz="2500" b="0">
                <a:solidFill>
                  <a:srgbClr val="20394E"/>
                </a:solidFill>
                <a:latin typeface="PingFang SC"/>
              </a:defRPr>
            </a:pPr>
            <a:r>
              <a:t>DHFR：局部几何比较与包装坐标修正</a:t>
            </a:r>
          </a:p>
          <a:p>
            <a:pPr>
              <a:spcAft>
                <a:spcPts val="2000"/>
              </a:spcAft>
              <a:defRPr sz="2500" b="0">
                <a:solidFill>
                  <a:srgbClr val="20394E"/>
                </a:solidFill>
                <a:latin typeface="PingFang SC"/>
              </a:defRPr>
            </a:pPr>
            <a:r>
              <a:t>ADK：真实数据到手，准入判据出现反例</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HSP90：趋开，不等于到达开放态</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闭合起始 20 条：10 条有持续开放方向</a:t>
            </a:r>
          </a:p>
          <a:p>
            <a:pPr>
              <a:spcAft>
                <a:spcPts val="2000"/>
              </a:spcAft>
              <a:defRPr sz="2500" b="0">
                <a:solidFill>
                  <a:srgbClr val="20394E"/>
                </a:solidFill>
                <a:latin typeface="PingFang SC"/>
              </a:defRPr>
            </a:pPr>
            <a:r>
              <a:t>这 10 条在 1 Å 容差下：9 条只相对趋开</a:t>
            </a:r>
          </a:p>
          <a:p>
            <a:pPr>
              <a:spcAft>
                <a:spcPts val="2000"/>
              </a:spcAft>
              <a:defRPr sz="2500" b="0">
                <a:solidFill>
                  <a:srgbClr val="20394E"/>
                </a:solidFill>
                <a:latin typeface="PingFang SC"/>
              </a:defRPr>
            </a:pPr>
            <a:r>
              <a:t>开放起始 20 条：18 条与开放参照一致</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DHFR：修正后的数字属于开发者</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M20–O3P 平均距离，TMP → 4′-DTMP</a:t>
            </a:r>
          </a:p>
          <a:p>
            <a:pPr>
              <a:spcAft>
                <a:spcPts val="2000"/>
              </a:spcAft>
              <a:defRPr sz="2500" b="0">
                <a:solidFill>
                  <a:srgbClr val="20394E"/>
                </a:solidFill>
                <a:latin typeface="PingFang SC"/>
              </a:defRPr>
            </a:pPr>
            <a:r>
              <a:t>WT：8.69 → 4.62 Å</a:t>
            </a:r>
          </a:p>
          <a:p>
            <a:pPr>
              <a:spcAft>
                <a:spcPts val="2000"/>
              </a:spcAft>
              <a:defRPr sz="2500" b="0">
                <a:solidFill>
                  <a:srgbClr val="20394E"/>
                </a:solidFill>
                <a:latin typeface="PingFang SC"/>
              </a:defRPr>
            </a:pPr>
            <a:r>
              <a:t>L28R：10.44 → 4.81 Å</a:t>
            </a:r>
          </a:p>
          <a:p>
            <a:pPr>
              <a:spcAft>
                <a:spcPts val="2000"/>
              </a:spcAft>
              <a:defRPr sz="2500" b="0">
                <a:solidFill>
                  <a:srgbClr val="20394E"/>
                </a:solidFill>
                <a:latin typeface="PingFang SC"/>
              </a:defRPr>
            </a:pPr>
            <a:r>
              <a:t>每条件一条轨迹，主窗口 990 帧</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把比较改成 D / P / R</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D：整理好的共同资料与工具</a:t>
            </a:r>
          </a:p>
          <a:p>
            <a:pPr>
              <a:spcAft>
                <a:spcPts val="2000"/>
              </a:spcAft>
              <a:defRPr sz="2500" b="0">
                <a:solidFill>
                  <a:srgbClr val="20394E"/>
                </a:solidFill>
                <a:latin typeface="PingFang SC"/>
              </a:defRPr>
            </a:pPr>
            <a:r>
              <a:t>P：D + 原有七条科学协议</a:t>
            </a:r>
          </a:p>
          <a:p>
            <a:pPr>
              <a:spcAft>
                <a:spcPts val="2000"/>
              </a:spcAft>
              <a:defRPr sz="2500" b="0">
                <a:solidFill>
                  <a:srgbClr val="20394E"/>
                </a:solidFill>
                <a:latin typeface="PingFang SC"/>
              </a:defRPr>
            </a:pPr>
            <a:r>
              <a:t>R：D + 注册表选择器生成的提示</a:t>
            </a:r>
          </a:p>
          <a:p>
            <a:pPr>
              <a:spcAft>
                <a:spcPts val="2000"/>
              </a:spcAft>
              <a:defRPr sz="2500" b="0">
                <a:solidFill>
                  <a:srgbClr val="20394E"/>
                </a:solidFill>
                <a:latin typeface="PingFang SC"/>
              </a:defRPr>
            </a:pPr>
            <a:r>
              <a:t>核心比较 R−P；取消 C 检查层</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ADK论文：构象库不等于反应时钟</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光释放 ATP → 实验差谱随时间变化</a:t>
            </a:r>
          </a:p>
          <a:p>
            <a:pPr>
              <a:spcAft>
                <a:spcPts val="2000"/>
              </a:spcAft>
              <a:defRPr sz="2500" b="0">
                <a:solidFill>
                  <a:srgbClr val="20394E"/>
                </a:solidFill>
                <a:latin typeface="PingFang SC"/>
              </a:defRPr>
            </a:pPr>
            <a:r>
              <a:t>MD 产生候选构象 → 计算差谱 → 与实验比较</a:t>
            </a:r>
          </a:p>
          <a:p>
            <a:pPr>
              <a:spcAft>
                <a:spcPts val="2000"/>
              </a:spcAft>
              <a:defRPr sz="2500" b="0">
                <a:solidFill>
                  <a:srgbClr val="20394E"/>
                </a:solidFill>
                <a:latin typeface="PingFang SC"/>
              </a:defRPr>
            </a:pPr>
            <a:r>
              <a:t>轨迹时间与实验毫秒时间不是同一个量</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ADK数据：下载与时间核对完成</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四个文件：1.373 GB，全部校验通过</a:t>
            </a:r>
          </a:p>
          <a:p>
            <a:pPr>
              <a:spcAft>
                <a:spcPts val="2000"/>
              </a:spcAft>
              <a:defRPr sz="2500" b="0">
                <a:solidFill>
                  <a:srgbClr val="20394E"/>
                </a:solidFill>
                <a:latin typeface="PingFang SC"/>
              </a:defRPr>
            </a:pPr>
            <a:r>
              <a:t>开放起始：2253 帧，0–450.4 ns</a:t>
            </a:r>
          </a:p>
          <a:p>
            <a:pPr>
              <a:spcAft>
                <a:spcPts val="2000"/>
              </a:spcAft>
              <a:defRPr sz="2500" b="0">
                <a:solidFill>
                  <a:srgbClr val="20394E"/>
                </a:solidFill>
                <a:latin typeface="PingFang SC"/>
              </a:defRPr>
            </a:pPr>
            <a:r>
              <a:t>闭合起始：1678 帧，0–335.4 ns</a:t>
            </a:r>
          </a:p>
          <a:p>
            <a:pPr>
              <a:spcAft>
                <a:spcPts val="2000"/>
              </a:spcAft>
              <a:defRPr sz="2500" b="0">
                <a:solidFill>
                  <a:srgbClr val="20394E"/>
                </a:solidFill>
                <a:latin typeface="PingFang SC"/>
              </a:defRPr>
            </a:pPr>
            <a:r>
              <a:t>间隔均为 0.2 ns，GROMACS 核对一致</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半盒长不是所有距离的正确性上限</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100 Å 盒子，最小位移 (40,40,0) Å</a:t>
            </a:r>
          </a:p>
          <a:p>
            <a:pPr>
              <a:spcAft>
                <a:spcPts val="2000"/>
              </a:spcAft>
              <a:defRPr sz="2500" b="0">
                <a:solidFill>
                  <a:srgbClr val="20394E"/>
                </a:solidFill>
                <a:latin typeface="PingFang SC"/>
              </a:defRPr>
            </a:pPr>
            <a:r>
              <a:t>各分量均小于 50 Å</a:t>
            </a:r>
          </a:p>
          <a:p>
            <a:pPr>
              <a:spcAft>
                <a:spcPts val="2000"/>
              </a:spcAft>
              <a:defRPr sz="2500" b="0">
                <a:solidFill>
                  <a:srgbClr val="20394E"/>
                </a:solidFill>
                <a:latin typeface="PingFang SC"/>
              </a:defRPr>
            </a:pPr>
            <a:r>
              <a:t>总距离 √(40²+40²) = 56.57 Å</a:t>
            </a:r>
          </a:p>
          <a:p>
            <a:pPr>
              <a:spcAft>
                <a:spcPts val="2000"/>
              </a:spcAft>
              <a:defRPr sz="2500" b="0">
                <a:solidFill>
                  <a:srgbClr val="20394E"/>
                </a:solidFill>
                <a:latin typeface="PingFang SC"/>
              </a:defRPr>
            </a:pPr>
            <a:r>
              <a:t>径向距离超半盒长，不能单独证明错误</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真实反例：GROMACS也得到超限距离</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开放起始 425 ns，Cα 144–189：69.80 Å</a:t>
            </a:r>
          </a:p>
          <a:p>
            <a:pPr>
              <a:spcAft>
                <a:spcPts val="2000"/>
              </a:spcAft>
              <a:defRPr sz="2500" b="0">
                <a:solidFill>
                  <a:srgbClr val="20394E"/>
                </a:solidFill>
                <a:latin typeface="PingFang SC"/>
              </a:defRPr>
            </a:pPr>
            <a:r>
              <a:t>对应半盒长：49.02 Å</a:t>
            </a:r>
          </a:p>
          <a:p>
            <a:pPr>
              <a:spcAft>
                <a:spcPts val="2000"/>
              </a:spcAft>
              <a:defRPr sz="2500" b="0">
                <a:solidFill>
                  <a:srgbClr val="20394E"/>
                </a:solidFill>
                <a:latin typeface="PingFang SC"/>
              </a:defRPr>
            </a:pPr>
            <a:r>
              <a:t>闭合起始 180.6 ns，149–188：62.18 Å</a:t>
            </a:r>
          </a:p>
          <a:p>
            <a:pPr>
              <a:spcAft>
                <a:spcPts val="2000"/>
              </a:spcAft>
              <a:defRPr sz="2500" b="0">
                <a:solidFill>
                  <a:srgbClr val="20394E"/>
                </a:solidFill>
                <a:latin typeface="PingFang SC"/>
              </a:defRPr>
            </a:pPr>
            <a:r>
              <a:t>对应半盒长：49.07 Å</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当前交付与停止点</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旧 A/B/C：8 份原答保留，未混入新样本</a:t>
            </a:r>
          </a:p>
          <a:p>
            <a:pPr>
              <a:spcAft>
                <a:spcPts val="2000"/>
              </a:spcAft>
              <a:defRPr sz="2500" b="0">
                <a:solidFill>
                  <a:srgbClr val="20394E"/>
                </a:solidFill>
                <a:latin typeface="PingFang SC"/>
              </a:defRPr>
            </a:pPr>
            <a:r>
              <a:t>新增费用 $0.13830，全部核清</a:t>
            </a:r>
          </a:p>
          <a:p>
            <a:pPr>
              <a:spcAft>
                <a:spcPts val="2000"/>
              </a:spcAft>
              <a:defRPr sz="2500" b="0">
                <a:solidFill>
                  <a:srgbClr val="20394E"/>
                </a:solidFill>
                <a:latin typeface="PingFang SC"/>
              </a:defRPr>
            </a:pPr>
            <a:r>
              <a:t>D/P/R 和 ADK Agent：未运行</a:t>
            </a:r>
          </a:p>
          <a:p>
            <a:pPr>
              <a:spcAft>
                <a:spcPts val="2000"/>
              </a:spcAft>
              <a:defRPr sz="2500" b="0">
                <a:solidFill>
                  <a:srgbClr val="20394E"/>
                </a:solidFill>
                <a:latin typeface="PingFang SC"/>
              </a:defRPr>
            </a:pPr>
            <a:r>
              <a:t>原总令要求准入不满足即停，修订条款待采用</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94360" y="502920"/>
            <a:ext cx="10972800" cy="1005840"/>
          </a:xfrm>
          <a:prstGeom prst="rect">
            <a:avLst/>
          </a:prstGeom>
          <a:noFill/>
        </p:spPr>
        <p:txBody>
          <a:bodyPr wrap="square">
            <a:spAutoFit/>
          </a:bodyPr>
          <a:lstStyle/>
          <a:p>
            <a:pPr>
              <a:spcAft>
                <a:spcPts val="2000"/>
              </a:spcAft>
              <a:defRPr sz="3000" b="1">
                <a:solidFill>
                  <a:srgbClr val="20394E"/>
                </a:solidFill>
                <a:latin typeface="PingFang SC"/>
              </a:defRPr>
            </a:pPr>
            <a:r>
              <a:t>投入决定：以证据决定是否维护选择器</a:t>
            </a:r>
          </a:p>
        </p:txBody>
      </p:sp>
      <p:sp>
        <p:nvSpPr>
          <p:cNvPr id="3" name="TextBox 2"/>
          <p:cNvSpPr txBox="1"/>
          <p:nvPr/>
        </p:nvSpPr>
        <p:spPr>
          <a:xfrm>
            <a:off x="685800" y="1828800"/>
            <a:ext cx="10789920" cy="4206240"/>
          </a:xfrm>
          <a:prstGeom prst="rect">
            <a:avLst/>
          </a:prstGeom>
          <a:noFill/>
        </p:spPr>
        <p:txBody>
          <a:bodyPr wrap="square">
            <a:spAutoFit/>
          </a:bodyPr>
          <a:lstStyle/>
          <a:p>
            <a:pPr>
              <a:spcAft>
                <a:spcPts val="2000"/>
              </a:spcAft>
              <a:defRPr sz="2500" b="0">
                <a:solidFill>
                  <a:srgbClr val="20394E"/>
                </a:solidFill>
                <a:latin typeface="PingFang SC"/>
              </a:defRPr>
            </a:pPr>
            <a:r>
              <a:t>保留协议、成熟方法与来源账本</a:t>
            </a:r>
          </a:p>
          <a:p>
            <a:pPr>
              <a:spcAft>
                <a:spcPts val="2000"/>
              </a:spcAft>
              <a:defRPr sz="2500" b="0">
                <a:solidFill>
                  <a:srgbClr val="20394E"/>
                </a:solidFill>
                <a:latin typeface="PingFang SC"/>
              </a:defRPr>
            </a:pPr>
            <a:r>
              <a:t>R−P 未测，不判 Rules 有效或无效</a:t>
            </a:r>
          </a:p>
          <a:p>
            <a:pPr>
              <a:spcAft>
                <a:spcPts val="2000"/>
              </a:spcAft>
              <a:defRPr sz="2500" b="0">
                <a:solidFill>
                  <a:srgbClr val="20394E"/>
                </a:solidFill>
                <a:latin typeface="PingFang SC"/>
              </a:defRPr>
            </a:pPr>
            <a:r>
              <a:t>只有一个新来源，不满足两个独立组门槛</a:t>
            </a:r>
          </a:p>
          <a:p>
            <a:pPr>
              <a:spcAft>
                <a:spcPts val="2000"/>
              </a:spcAft>
              <a:defRPr sz="2500" b="0">
                <a:solidFill>
                  <a:srgbClr val="20394E"/>
                </a:solidFill>
                <a:latin typeface="PingFang SC"/>
              </a:defRPr>
            </a:pPr>
            <a:r>
              <a:t>没有真实人工计时，不宣称节省 25%</a:t>
            </a:r>
          </a:p>
        </p:txBody>
      </p:sp>
      <p:sp>
        <p:nvSpPr>
          <p:cNvPr id="4" name="TextBox 3"/>
          <p:cNvSpPr txBox="1"/>
          <p:nvPr/>
        </p:nvSpPr>
        <p:spPr>
          <a:xfrm>
            <a:off x="685800" y="6400800"/>
            <a:ext cx="10424160" cy="274320"/>
          </a:xfrm>
          <a:prstGeom prst="rect">
            <a:avLst/>
          </a:prstGeom>
          <a:noFill/>
        </p:spPr>
        <p:txBody>
          <a:bodyPr wrap="square">
            <a:spAutoFit/>
          </a:bodyPr>
          <a:lstStyle/>
          <a:p>
            <a:pPr>
              <a:spcAft>
                <a:spcPts val="2000"/>
              </a:spcAft>
              <a:defRPr sz="1000" b="0">
                <a:solidFill>
                  <a:srgbClr val="66788A"/>
                </a:solidFill>
                <a:latin typeface="PingFang SC"/>
              </a:defRPr>
            </a:pPr>
            <a:r>
              <a:t>Dynamics Atlas · 2026-09-10 · 已有证据与未完成项分开报告</a:t>
            </a:r>
          </a:p>
        </p:txBody>
      </p:sp>
      <p:sp>
        <p:nvSpPr>
          <p:cNvPr id="5" name="TextBox 4"/>
          <p:cNvSpPr txBox="1"/>
          <p:nvPr/>
        </p:nvSpPr>
        <p:spPr>
          <a:xfrm>
            <a:off x="10972800" y="6400800"/>
            <a:ext cx="457200" cy="274320"/>
          </a:xfrm>
          <a:prstGeom prst="rect">
            <a:avLst/>
          </a:prstGeom>
          <a:noFill/>
        </p:spPr>
        <p:txBody>
          <a:bodyPr wrap="square">
            <a:spAutoFit/>
          </a:bodyPr>
          <a:lstStyle/>
          <a:p>
            <a:pPr>
              <a:spcAft>
                <a:spcPts val="2000"/>
              </a:spcAft>
              <a:defRPr sz="1000" b="0">
                <a:solidFill>
                  <a:srgbClr val="66788A"/>
                </a:solidFill>
                <a:latin typeface="PingFang SC"/>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