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闭合起始中趋开的10条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Sheet1!$A$2:$A$4</c:f>
              <c:strCache>
                <c:ptCount val="3"/>
                <c:pt idx="0">
                  <c:v>仅相对方向</c:v>
                </c:pt>
                <c:pt idx="1">
                  <c:v>部分一致</c:v>
                </c:pt>
                <c:pt idx="2">
                  <c:v>一致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开放起始20条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Sheet1!$A$2:$A$4</c:f>
              <c:strCache>
                <c:ptCount val="3"/>
                <c:pt idx="0">
                  <c:v>仅相对方向</c:v>
                </c:pt>
                <c:pt idx="1">
                  <c:v>部分一致</c:v>
                </c:pt>
                <c:pt idx="2">
                  <c:v>一致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18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轨迹条数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2.0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TMP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WT</c:v>
                </c:pt>
                <c:pt idx="1">
                  <c:v>L28R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8.687677</c:v>
                </c:pt>
                <c:pt idx="1">
                  <c:v>10.435783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4′-DTMP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WT</c:v>
                </c:pt>
                <c:pt idx="1">
                  <c:v>L28R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4.622056</c:v>
                </c:pt>
                <c:pt idx="1">
                  <c:v>4.80891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M20–O3P 平均距离 / Å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NMP–CORE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开态起始</c:v>
                </c:pt>
                <c:pt idx="1">
                  <c:v>闭态起始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0.0707211184</c:v>
                </c:pt>
                <c:pt idx="1">
                  <c:v>1.0908948441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LID–CORE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开态起始</c:v>
                </c:pt>
                <c:pt idx="1">
                  <c:v>闭态起始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2.2904106995</c:v>
                </c:pt>
                <c:pt idx="1">
                  <c:v>1.1764212186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末窗减首窗 / Å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无卡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缺陷识别</c:v>
                </c:pt>
                <c:pt idx="1">
                  <c:v>据此降级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有卡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缺陷识别</c:v>
                </c:pt>
                <c:pt idx="1">
                  <c:v>据此降级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4次中的次数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0.5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无反馈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Sheet1!$A$2:$A$4</c:f>
              <c:strCache>
                <c:ptCount val="3"/>
                <c:pt idx="0">
                  <c:v>HSP90</c:v>
                </c:pt>
                <c:pt idx="1">
                  <c:v>DHFR</c:v>
                </c:pt>
                <c:pt idx="2">
                  <c:v>ADK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一次反馈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Sheet1!$A$2:$A$4</c:f>
              <c:strCache>
                <c:ptCount val="3"/>
                <c:pt idx="0">
                  <c:v>HSP90</c:v>
                </c:pt>
                <c:pt idx="1">
                  <c:v>DHFR</c:v>
                </c:pt>
                <c:pt idx="2">
                  <c:v>ADK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0.0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5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核心错误中位数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0.5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七条协议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Q05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</c:v>
                </c:pt>
                <c:pt idx="1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整段规则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Q05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2.0</c:v>
                </c:pt>
                <c:pt idx="1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方法卡</c:v>
                </c:pt>
              </c:strCache>
            </c:strRef>
          </c:tx>
          <c:spPr>
            <a:solidFill>
              <a:srgbClr val="20394E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Q05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2.5</c:v>
                </c:pt>
                <c:pt idx="1">
                  <c:v>4.5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5个核心单元：正确中位数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1.0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原题</c:v>
                </c:pt>
              </c:strCache>
            </c:strRef>
          </c:tx>
          <c:spPr>
            <a:solidFill>
              <a:srgbClr val="3674A0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ADK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拆题</c:v>
                </c:pt>
              </c:strCache>
            </c:strRef>
          </c:tx>
          <c:spPr>
            <a:solidFill>
              <a:srgbClr val="AF6B30"/>
            </a:solidFill>
          </c:spPr>
          <c:cat>
            <c:strRef>
              <c:f>Sheet1!$A$2:$A$3</c:f>
              <c:strCache>
                <c:ptCount val="2"/>
                <c:pt idx="0">
                  <c:v>HSP90</c:v>
                </c:pt>
                <c:pt idx="1">
                  <c:v>ADK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2.5</c:v>
                </c:pt>
                <c:pt idx="1">
                  <c:v>3.0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sz="16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/>
                </a:pPr>
                <a:r>
                  <a:t>3个子问题：覆盖中位数</a:t>
                </a:r>
              </a:p>
            </c:rich>
          </c:tx>
          <c:layout/>
          <c:overlay val="0"/>
        </c:title>
        <c:numFmt formatCode="0.#" sourceLinked="0"/>
        <c:majorTickMark val="out"/>
        <c:minorTickMark val="none"/>
        <c:tickLblPos val="nextTo"/>
        <c:txPr>
          <a:bodyPr/>
          <a:lstStyle/>
          <a:p>
            <a:pPr>
              <a:defRPr sz="1500"/>
            </a:pPr>
          </a:p>
        </c:txPr>
        <c:crossAx val="-2068027336"/>
        <c:crosses val="autoZero"/>
        <c:majorUnit val="0.5"/>
      </c:valAx>
    </c:plotArea>
    <c:legend>
      <c:legendPos val="b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保留科学问题与分析协议为中心；本轮只支持明确拆题带来的覆盖收益，未证明规则选择器或当前结论检查器有稳定增量。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最初目的不是维持规则引擎，而是得到可核查的异质蛋白证据回答。普通组已有整理好的表。72次对照加2次ADK普通答复；每题每条件四次。评分者参与建包，条件标签隐藏，但不是独立领域专家双盲。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规则33条是来源材料。Q05暴露了关键分析由开发者安排。HSP90原生NOE对照是跨来源结果；DHFR、ADK主要是MD内部描述。本轮对组件逐项比较，不把工程可运行当作效果。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闭合起始20条有10条出现持续开放方向，分成5条起始已有、5条后来出现、10条从未出现。图中闭合起始只展示这10条，与全部20条开放起始对照比较。容差1Å；原生NOE第二列与伪距离第三列不是同一量。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展示M20-O3P平均最近周期配体副本距离。每条件一条轨迹，990帧。旧两份Agent均未识别包装坐标缺陷；修正数字属于开发者。距离更小不能单独证明氢键、抑制机制或解离速率。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分子直接距离，与GROMACS全帧交叉核对差约0.005Å。域定义为项目预定的Cα对平均距离；正值表示远离。首末各10%帧，开放窗口44.8ns、闭合窗口33.2ns。apo模拟不是ATP光释放实验；不能把4.3ms实验中间态直接映射为轨迹时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/6是与可信参照一致性测试，0/3干净包与参照完全相同。独立坐标重算是上游工作。图显示实际缺陷识别与降级行为，四次每组。普通组与卡组均为0/4检测、0/4降级。进一步查工具日志：四次卡组都列到了ADMISSION_CARD文件名，却没有读取其内容；故失败定位在准入结果未进入分析，不能据此断言Agent读懂卡后仍忽略。应由建包准入直接阻止坏表流入，不依赖Agent主动找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历史回放当前检查器未检出7处目标核心错误，唯一提示把Å^-1指数误认数字。E2三题缺PUBLIC_FACTS，角色检查未被测试；实际反馈另做语义核对。三题中只有ADK达到错误中位数降低且遗漏不增加，少于预定2/3。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P90取到1张BME卡，但当前NOE违例对照不要求重加权。Q05取到4张；DHFR/ADK的MD比较取到0张。主判据仅四个冻结术语，额外BME问题为探索性分析。HSP90协议/旧规则/方法卡正确中位数4.5/2/2.5；Q05为4.5/5/4.5。方法卡未达到两个题都不劣于另外两组的冻结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版资料工具相同。拆题版明确要求更多子问题，估计对象是框题包，不是严格等长同义改写，也不是自主问题发现。冻结按2/2题子问题覆盖改善且过强结论不增。HSP90覆盖从2/3提高到2.5/3，ADK从2/3提高到3/3，达到冻结的2/2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完整来源定位在科学读本、claim_source_map和逐份评分。论文结论与本地计算、Agent实际分析分别记录。Bengtsen和Fuertes卡片来源及具体限制见METHOD_CARD_DESIGN_ANALYSIS_ZH。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保留可审阅的七条协议与文献规则库，停止扩充选择器和通用结论拦截层。</a:t>
            </a:r>
          </a:p>
          <a:p>
            <a:r>
              <a:t>继续用明确科学问题、成熟计算和可复核报告交付结果；把问题拆成观测、幅度和结论边界。</a:t>
            </a:r>
          </a:p>
          <a:p>
            <a:r>
              <a:t>将准入结果接到建包流程本身，方法卡按具体操作适用性整理；新实现另做小型新题检验，不覆盖本轮原答。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Rules 的价值，要落实到具体科学回答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Dynamics Atlas · 2026-09-10 · 四层验证与三个体系的实际结果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20394E"/>
                </a:solidFill>
                <a:latin typeface="PingFang SC"/>
              </a:defRPr>
            </a:pPr>
            <a:r>
              <a:t>保留科学问题与分析协议为中心；本轮只支持明确拆题带来的覆盖收益，未证明规则选择器或当前结论检查器有稳定增量。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A 达到本轮覆盖标准：拆题后两题的子问题覆盖中位数均提高，过强结论未增加。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B 文件可用性方案未奏效：自动检查6/6；但给Agent放入准入卡后，缺陷检测和降级仍为0/4。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C 未达非劣与增量标准：方法卡没有稳定优于七条协议；HSP90核心正确中位数2.5/5，对照协议4.5/5。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D 未达继续标准：仅ADK的组间错误中位数改善；HSP90与DHFR未改善，DHFR遗漏增加。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同资料、同工具，检验辅助机制改变了什么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来源：各实验 FREEZE.json、运行回执、盲评分与费用账本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600" b="1">
                <a:solidFill>
                  <a:srgbClr val="20394E"/>
                </a:solidFill>
                <a:latin typeface="PingFang SC"/>
              </a:defRPr>
            </a:pPr>
            <a:r>
              <a:t>研究问题：辅助机制能否让 Agent 少错、多答对？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669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PingFang SC"/>
              </a:defRPr>
            </a:pPr>
            <a:r>
              <a:t>准入卡：缺陷识别与结论降级</a:t>
            </a:r>
          </a:p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PingFang SC"/>
              </a:defRPr>
            </a:pPr>
            <a:r>
              <a:t>一次反馈：错误、遗漏与新增错误</a:t>
            </a:r>
          </a:p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PingFang SC"/>
              </a:defRPr>
            </a:pPr>
            <a:r>
              <a:t>方法卡：适用性与科学正确</a:t>
            </a:r>
          </a:p>
          <a:p>
            <a:pPr>
              <a:spcAft>
                <a:spcPts val="1500"/>
              </a:spcAft>
              <a:defRPr sz="2300" b="0">
                <a:solidFill>
                  <a:srgbClr val="20394E"/>
                </a:solidFill>
                <a:latin typeface="PingFang SC"/>
              </a:defRPr>
            </a:pPr>
            <a:r>
              <a:t>拆题：有证据的子问题覆盖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65176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Luna · medium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每组每题 4 次 · 新上下文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新增费用 $1.2029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暴露开发材料 + 1 个新ADK来源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项目已从规则覆盖转向科学结果与受控比较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来源：9月8日报告与战略审查；9月9–10日冻结材料、原始运行记录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1">
                <a:solidFill>
                  <a:srgbClr val="20394E"/>
                </a:solidFill>
                <a:latin typeface="PingFang SC"/>
              </a:defRPr>
            </a:pPr>
            <a:r>
              <a:t>整理 33 条候选规则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0020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形成有来源的前提与边界，但未测独立增量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1">
                <a:solidFill>
                  <a:srgbClr val="20394E"/>
                </a:solidFill>
                <a:latin typeface="PingFang SC"/>
              </a:defRPr>
            </a:pPr>
            <a:r>
              <a:t>Q05 开发与 9月8日重置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60604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科学问题和分析协议居中，停止按规则数量推进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1">
                <a:solidFill>
                  <a:srgbClr val="20394E"/>
                </a:solidFill>
                <a:latin typeface="PingFang SC"/>
              </a:defRPr>
            </a:pPr>
            <a:r>
              <a:t>HSP90 → DHFR → ADK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61188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得到具体数值，也发现列含义和周期表示问题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1">
                <a:solidFill>
                  <a:srgbClr val="20394E"/>
                </a:solidFill>
                <a:latin typeface="PingFang SC"/>
              </a:defRPr>
            </a:pPr>
            <a:r>
              <a:t>本轮四层比较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61772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按预先冻结的标准决定保留、简化或暂不投入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HSP90 的开放方向不等于接近开放参照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Henot等，2022，doi:10.1038/s41467-022-35399-8；项目原生NOE逐轨迹对照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10 = 5 起始就开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       + 5 后来趋开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1 Å 下仅少数接近参照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方向、绝对读数分别回答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DHFR 的局部距离差异要先通过周期核对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Cetin等，2023，PMC10428214，Fig.4；项目修正表与VMD核对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两条件都更近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每条件仅 1 条轨迹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旧原答未识别坏表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修正数字不归功于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ADK 两条轨迹未显示两个结构域共同闭合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Orädd等，2021，Sci. Adv. 7:eabi5514；Zenodo 5583119；项目独立复算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四项变化均为正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分布仍有重叠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合法大分子距离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不因超过半盒长而拒收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准入层必须把可信参照与自动检查分开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来源：E1a_RESULTS、E1A_CHECK_COVERAGE_AUDIT、E1b盲评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6/6 植入缺陷检出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0/3 自一致性误报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自动检查6/6；但给Agent放入准入卡后，缺陷检测和降级仍为0/4。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结论检查要按真实纠错与误报评价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来源：E2逐题盲评、首次/最终提交；E0历史回放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仅ADK的组间错误中位数改善；HSP90与DHFR未改善，DHFR遗漏增加。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数字出现过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不等于计算有依据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同时检查遗漏与过强结论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方法族匹配尚不能代替操作适用性判断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来源：E3_CARD_RETRIEVAL、冻结卡片与E3逐份盲评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方法卡没有稳定优于七条协议；HSP90核心正确中位数2.5/5，对照协议4.5/5。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HSP90：1 张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Q05：4 张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检索命中不等于适用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拆题比较衡量明确需求后多回答了什么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来源：E4冻结拆题、共有评分依据和逐题盲评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10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00200"/>
          <a:ext cx="704088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2440" y="178308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拆题后两题的子问题覆盖中位数均提高，过强结论未增加。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覆盖与核心错误分列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一个ADK来源</a:t>
            </a:r>
          </a:p>
          <a:p>
            <a:pPr>
              <a:spcAft>
                <a:spcPts val="1500"/>
              </a:spcAft>
              <a:defRPr sz="2200" b="0">
                <a:solidFill>
                  <a:srgbClr val="20394E"/>
                </a:solidFill>
                <a:latin typeface="PingFang SC"/>
              </a:defRPr>
            </a:pPr>
            <a:r>
              <a:t>不能推算总体正确率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所有判断都能回到论文、原答和计算记录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报告与证据：github.com/alex051107/dynamics-atlas-harness/pull/27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Henot等（2022）· HSP90原生NOE与模拟</a:t>
            </a:r>
          </a:p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doi:10.1038/s41467-022-35399-8</a:t>
            </a:r>
          </a:p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Cetin等（2023）· DHFR抑制剂比较</a:t>
            </a:r>
          </a:p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PMC10428214，Table 1 / Fig.3 / Fig.4</a:t>
            </a:r>
          </a:p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Orädd等（2021）· Tracking the ATP-binding response in adenylate kinase in real time</a:t>
            </a:r>
          </a:p>
          <a:p>
            <a:pPr>
              <a:spcAft>
                <a:spcPts val="1500"/>
              </a:spcAft>
              <a:defRPr sz="2100" b="0">
                <a:solidFill>
                  <a:srgbClr val="20394E"/>
                </a:solidFill>
                <a:latin typeface="PingFang SC"/>
              </a:defRPr>
            </a:pPr>
            <a:r>
              <a:t>doi:10.1126/sciadv.abi5514；Zenodo 5583119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1018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1">
                <a:solidFill>
                  <a:srgbClr val="20394E"/>
                </a:solidFill>
                <a:latin typeface="PingFang SC"/>
              </a:defRPr>
            </a:pPr>
            <a:r>
              <a:t>下一步只保留得到实际支持的组件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99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200" b="0">
                <a:solidFill>
                  <a:srgbClr val="536474"/>
                </a:solidFill>
                <a:latin typeface="PingFang SC"/>
              </a:defRPr>
            </a:pPr>
            <a:r>
              <a:t>完整报告、原答、评分与费用：PR #27 · review/four-layer-20260910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3459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000" b="0">
                <a:solidFill>
                  <a:srgbClr val="536474"/>
                </a:solidFill>
                <a:latin typeface="PingFang SC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700" b="1">
                <a:solidFill>
                  <a:srgbClr val="20394E"/>
                </a:solidFill>
                <a:latin typeface="PingFang SC"/>
              </a:defRPr>
            </a:pPr>
            <a:r>
              <a:t>保留科学问题与分析协议为中心；本轮只支持明确拆题带来的覆盖收益，未证明规则选择器或当前结论检查器有稳定增量。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10607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PingFang SC"/>
              </a:defRPr>
            </a:pPr>
            <a:r>
              <a:t>保留可审阅的七条协议与文献规则库，停止扩充选择器和通用结论拦截层。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PingFang SC"/>
              </a:defRPr>
            </a:pPr>
            <a:r>
              <a:t>继续用明确科学问题、成熟计算和可复核报告交付结果；把问题拆成观测、幅度和结论边界。</a:t>
            </a:r>
          </a:p>
          <a:p>
            <a:pPr>
              <a:spcAft>
                <a:spcPts val="1500"/>
              </a:spcAft>
              <a:defRPr sz="2400" b="0">
                <a:solidFill>
                  <a:srgbClr val="20394E"/>
                </a:solidFill>
                <a:latin typeface="PingFang SC"/>
              </a:defRPr>
            </a:pPr>
            <a:r>
              <a:t>将准入结果接到建包流程本身，方法卡按具体操作适用性整理；新实现另做小型新题检验，不覆盖本轮原答。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