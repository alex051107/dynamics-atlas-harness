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original goal is to turn heterogeneous protein evidence into useful, traceable scientific answers. For this meeting, I focused on one answerable question in a published nanodisc dataset. A nanodisc is a small lipid bilayer held together by a protein belt. SAXS describes overall scattering, while NOE constraints provide local distance information. We ask whether changing ensemble weights to fit only SAXS also improves the NOE predictions. In the tested settings it does not. This gives us a concrete scientific result to discuss before deciding how much additional rule infrastructure we need.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previous Q05 version already performed a joint SAXS and NOE fit and checked its numerical evidence. We also had a separate recovery of 422 observable predictions using the deposited author weights. These are valuable foundations, but neither tests NOE predictions after fitting only SAXS. Today the new contribution is exactly that comparison, plus a minimal way to carry the result into the prototype. Author and local joint weights remain references because they already used NOE during fitting. The historical twenty questions are still a development list, not a benchmark accuracy estimate. A partial result here does not complete all of Q05.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used the already verified deposited matrices and preserved the original observation order. The optimizer receives only SAXS arrays and frame identifiers in a separate process. We fixed theta at six as the main setting and sixty as one stronger-regularization sensitivity setting, before inspecting the new NOE results. Both optimizations passed the declared gradient and primal-dual checks. NOE is then evaluated using the saved weights. The effective distance uses the deposited power-three convention. Our main metric averages one-sided squared standardized residuals over the full, fixed set in each channel. Smaller means better under this error model. Historical candidate construction and method development had access to NOE-related information, so this is a conditional cross-observable comparison, not a fully blind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theta six, the SAXS mean penalty falls from about ten to 1.17. Amide NOE rises from 0.9334 to 0.9647, and methyl NOE rises from 3.8931 to 4.4695. At theta sixty, both NOE penalties still increase, although the methyl increase becomes much smaller. Individual constraints change in both directions. For one deposited methyl constraint with a ten-angstrom upper bound, the effective distance grows from 13.22 to 14.52 angstroms. This helps explain why the number of methyl upper-bound violations can fall from eight to seven while the mean penalty rises. These are descriptive changes under two settings, without a statistical significance claim. They do not establish a physical inconsistency between experiments.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first saved the response from the existing entry point: it did not support this new numerical method. We then added one narrow adapter that reuses the existing fixed-weight scoring function. The four scenarios check whether the answer includes both channels, preserves a valid amide answer when methyl is unavailable, labels joint-fit data correctly, and keeps the NOE answer when a user also asks about shape or rates. Both the direct and Rules paths use the same numerical core and the same newly written deterministic answer formatter. Their agreement therefore establishes evidence handoff and completeness. It does not measure independent reasoning, an accuracy advantage, or human time saved. The adapter was prepared by us; the system did not discover this method from the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recommend retaining this scientific comparison and not expanding the rules library yet. First, we should ask whether the present error model, fixed scattering scale and regularization choices support a useful analysis for the intended users. Second, we should choose the next scientific uncertainty: NOE statistical interpretation, or coordinates and geometric analysis. The optional shape work was not run because the current input directory lacks trajectories and the analysis environment lacks the required trajectory libraries. Third, we should decide what value the Rules layer needs to demonstrate beyond an ordinary script. A future comparison should use a fresh source, frozen tasks, and equal tools and preparation budgets. The current author-versus-paper statistic discrepancy remains unresolved and is named in the report. Full source analyses and numerical records are linked there. We submitted this batch to Pro for one aggregate review rather than creating another approval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45B3A"/>
          </a:solidFill>
          <a:ln w="12700">
            <a:solidFill>
              <a:srgbClr val="145B3A"/>
            </a:solidFill>
            <a:prstDash val="solid"/>
          </a:ln>
        </p:spPr>
      </p:sp>
      <p:sp>
        <p:nvSpPr>
          <p:cNvPr id="3" name="Text 1"/>
          <p:cNvSpPr/>
          <p:nvPr/>
        </p:nvSpPr>
        <p:spPr>
          <a:xfrm>
            <a:off x="548640" y="365760"/>
            <a:ext cx="11064240" cy="914400"/>
          </a:xfrm>
          <a:prstGeom prst="rect">
            <a:avLst/>
          </a:prstGeom>
          <a:noFill/>
          <a:ln/>
        </p:spPr>
        <p:txBody>
          <a:bodyPr wrap="square" lIns="0" tIns="0" rIns="0" bIns="0" rtlCol="0" anchor="ctr"/>
          <a:lstStyle/>
          <a:p>
            <a:pPr indent="0" marL="0">
              <a:buNone/>
            </a:pPr>
            <a:r>
              <a:rPr lang="en-US" sz="3000" b="1" dirty="0">
                <a:solidFill>
                  <a:srgbClr val="145B3A"/>
                </a:solidFill>
                <a:latin typeface="Aptos" pitchFamily="34" charset="0"/>
                <a:ea typeface="Aptos" pitchFamily="34" charset="-122"/>
                <a:cs typeface="Aptos" pitchFamily="34" charset="-120"/>
              </a:rPr>
              <a:t>Does a better SAXS fit improve NOE predictions?</a:t>
            </a:r>
            <a:endParaRPr lang="en-US" sz="3000" dirty="0"/>
          </a:p>
        </p:txBody>
      </p:sp>
      <p:sp>
        <p:nvSpPr>
          <p:cNvPr id="4" name="Text 2"/>
          <p:cNvSpPr/>
          <p:nvPr/>
        </p:nvSpPr>
        <p:spPr>
          <a:xfrm>
            <a:off x="548640" y="6428232"/>
            <a:ext cx="10058400" cy="228600"/>
          </a:xfrm>
          <a:prstGeom prst="rect">
            <a:avLst/>
          </a:prstGeom>
          <a:noFill/>
          <a:ln/>
        </p:spPr>
        <p:txBody>
          <a:bodyPr wrap="square" lIns="0" tIns="0" rIns="0" bIns="0" rtlCol="0" anchor="ctr"/>
          <a:lstStyle/>
          <a:p>
            <a:pPr indent="0" marL="0">
              <a:buNone/>
            </a:pPr>
            <a:r>
              <a:rPr lang="en-US" sz="1100" dirty="0">
                <a:solidFill>
                  <a:srgbClr val="647470"/>
                </a:solidFill>
                <a:latin typeface="Aptos" pitchFamily="34" charset="0"/>
                <a:ea typeface="Aptos" pitchFamily="34" charset="-122"/>
                <a:cs typeface="Aptos" pitchFamily="34" charset="-120"/>
              </a:rPr>
              <a:t>DYNAMICS ATLAS | 9 SEPTEMBER 2026 | NEW ANALYSIS</a:t>
            </a:r>
            <a:endParaRPr lang="en-US" sz="1100" dirty="0"/>
          </a:p>
        </p:txBody>
      </p:sp>
      <p:sp>
        <p:nvSpPr>
          <p:cNvPr id="5" name="Text 3"/>
          <p:cNvSpPr/>
          <p:nvPr/>
        </p:nvSpPr>
        <p:spPr>
          <a:xfrm>
            <a:off x="11201400" y="6419088"/>
            <a:ext cx="365760" cy="228600"/>
          </a:xfrm>
          <a:prstGeom prst="rect">
            <a:avLst/>
          </a:prstGeom>
          <a:noFill/>
          <a:ln/>
        </p:spPr>
        <p:txBody>
          <a:bodyPr wrap="square" lIns="0" tIns="0" rIns="0" bIns="0" rtlCol="0" anchor="ctr"/>
          <a:lstStyle/>
          <a:p>
            <a:pPr indent="0" marL="0">
              <a:buNone/>
            </a:pPr>
            <a:r>
              <a:rPr lang="en-US" sz="1200" dirty="0">
                <a:solidFill>
                  <a:srgbClr val="647470"/>
                </a:solidFill>
                <a:latin typeface="Aptos" pitchFamily="34" charset="0"/>
                <a:ea typeface="Aptos" pitchFamily="34" charset="-122"/>
                <a:cs typeface="Aptos" pitchFamily="34" charset="-120"/>
              </a:rPr>
              <a:t>1</a:t>
            </a:r>
            <a:endParaRPr lang="en-US" sz="1200" dirty="0"/>
          </a:p>
        </p:txBody>
      </p:sp>
      <p:sp>
        <p:nvSpPr>
          <p:cNvPr id="7" name="Text 4"/>
          <p:cNvSpPr/>
          <p:nvPr/>
        </p:nvSpPr>
        <p:spPr>
          <a:xfrm>
            <a:off x="640080" y="1737360"/>
            <a:ext cx="10789920" cy="1371600"/>
          </a:xfrm>
          <a:prstGeom prst="rect">
            <a:avLst/>
          </a:prstGeom>
          <a:noFill/>
          <a:ln/>
        </p:spPr>
        <p:txBody>
          <a:bodyPr wrap="square" lIns="0" tIns="0" rIns="0" bIns="0" rtlCol="0" anchor="ctr"/>
          <a:lstStyle/>
          <a:p>
            <a:pPr indent="0" marL="0">
              <a:buNone/>
            </a:pPr>
            <a:r>
              <a:rPr lang="en-US" sz="3600" b="1" dirty="0">
                <a:solidFill>
                  <a:srgbClr val="233432"/>
                </a:solidFill>
                <a:latin typeface="Aptos" pitchFamily="34" charset="0"/>
                <a:ea typeface="Aptos" pitchFamily="34" charset="-122"/>
                <a:cs typeface="Aptos" pitchFamily="34" charset="-120"/>
              </a:rPr>
              <a:t>SAXS improves strongly.</a:t>
            </a:r>
            <a:endParaRPr lang="en-US" sz="3600" dirty="0"/>
          </a:p>
          <a:p>
            <a:pPr indent="0" marL="0">
              <a:buNone/>
            </a:pPr>
            <a:r>
              <a:rPr lang="en-US" sz="3600" b="1" dirty="0">
                <a:solidFill>
                  <a:srgbClr val="233432"/>
                </a:solidFill>
                <a:latin typeface="Aptos" pitchFamily="34" charset="0"/>
                <a:ea typeface="Aptos" pitchFamily="34" charset="-122"/>
                <a:cs typeface="Aptos" pitchFamily="34" charset="-120"/>
              </a:rPr>
              <a:t>Both NOE mean penalties increase.</a:t>
            </a:r>
            <a:endParaRPr lang="en-US" sz="3600" dirty="0"/>
          </a:p>
        </p:txBody>
      </p:sp>
      <p:sp>
        <p:nvSpPr>
          <p:cNvPr id="8" name="Text 5"/>
          <p:cNvSpPr/>
          <p:nvPr/>
        </p:nvSpPr>
        <p:spPr>
          <a:xfrm>
            <a:off x="640080" y="3657600"/>
            <a:ext cx="10789920" cy="1097280"/>
          </a:xfrm>
          <a:prstGeom prst="rect">
            <a:avLst/>
          </a:prstGeom>
          <a:noFill/>
          <a:ln/>
        </p:spPr>
        <p:txBody>
          <a:bodyPr wrap="square" lIns="0" tIns="0" rIns="0" bIns="0" rtlCol="0" anchor="ctr"/>
          <a:lstStyle/>
          <a:p>
            <a:pPr indent="0" marL="0">
              <a:buNone/>
            </a:pPr>
            <a:r>
              <a:rPr lang="en-US" sz="2400" dirty="0">
                <a:solidFill>
                  <a:srgbClr val="233432"/>
                </a:solidFill>
                <a:latin typeface="Aptos" pitchFamily="34" charset="0"/>
                <a:ea typeface="Aptos" pitchFamily="34" charset="-122"/>
                <a:cs typeface="Aptos" pitchFamily="34" charset="-120"/>
              </a:rPr>
              <a:t>A conditional result from one deposited nanodisc ensemble</a:t>
            </a:r>
            <a:endParaRPr lang="en-US" sz="2400" dirty="0"/>
          </a:p>
          <a:p>
            <a:pPr indent="0" marL="0">
              <a:buNone/>
            </a:pPr>
            <a:r>
              <a:rPr lang="en-US" sz="2400" dirty="0">
                <a:solidFill>
                  <a:srgbClr val="233432"/>
                </a:solidFill>
                <a:latin typeface="Aptos" pitchFamily="34" charset="0"/>
                <a:ea typeface="Aptos" pitchFamily="34" charset="-122"/>
                <a:cs typeface="Aptos" pitchFamily="34" charset="-120"/>
              </a:rPr>
              <a:t>1,195 frames · 90 SAXS points · 332 NOE constraints</a:t>
            </a:r>
            <a:endParaRPr lang="en-US" sz="2400" dirty="0"/>
          </a:p>
        </p:txBody>
      </p:sp>
      <p:sp>
        <p:nvSpPr>
          <p:cNvPr id="9" name="Text 6"/>
          <p:cNvSpPr/>
          <p:nvPr/>
        </p:nvSpPr>
        <p:spPr>
          <a:xfrm>
            <a:off x="640080" y="5166360"/>
            <a:ext cx="10789920" cy="822960"/>
          </a:xfrm>
          <a:prstGeom prst="rect">
            <a:avLst/>
          </a:prstGeom>
          <a:noFill/>
          <a:ln/>
        </p:spPr>
        <p:txBody>
          <a:bodyPr wrap="square" lIns="0" tIns="0" rIns="0" bIns="0" rtlCol="0" anchor="ctr"/>
          <a:lstStyle/>
          <a:p>
            <a:pPr indent="0" marL="0">
              <a:buNone/>
            </a:pPr>
            <a:r>
              <a:rPr lang="en-US" sz="2500" dirty="0">
                <a:solidFill>
                  <a:srgbClr val="145B3A"/>
                </a:solidFill>
                <a:latin typeface="Aptos" pitchFamily="34" charset="0"/>
                <a:ea typeface="Aptos" pitchFamily="34" charset="-122"/>
                <a:cs typeface="Aptos" pitchFamily="34" charset="-120"/>
              </a:rPr>
              <a:t>Meeting decision: what should the prototype help a scientist do next?</a:t>
            </a:r>
            <a:endParaRPr lang="en-US" sz="2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45B3A"/>
          </a:solidFill>
          <a:ln w="12700">
            <a:solidFill>
              <a:srgbClr val="145B3A"/>
            </a:solidFill>
            <a:prstDash val="solid"/>
          </a:ln>
        </p:spPr>
      </p:sp>
      <p:sp>
        <p:nvSpPr>
          <p:cNvPr id="3" name="Text 1"/>
          <p:cNvSpPr/>
          <p:nvPr/>
        </p:nvSpPr>
        <p:spPr>
          <a:xfrm>
            <a:off x="548640" y="365760"/>
            <a:ext cx="11064240" cy="914400"/>
          </a:xfrm>
          <a:prstGeom prst="rect">
            <a:avLst/>
          </a:prstGeom>
          <a:noFill/>
          <a:ln/>
        </p:spPr>
        <p:txBody>
          <a:bodyPr wrap="square" lIns="0" tIns="0" rIns="0" bIns="0" rtlCol="0" anchor="ctr"/>
          <a:lstStyle/>
          <a:p>
            <a:pPr indent="0" marL="0">
              <a:buNone/>
            </a:pPr>
            <a:r>
              <a:rPr lang="en-US" sz="3000" b="1" dirty="0">
                <a:solidFill>
                  <a:srgbClr val="145B3A"/>
                </a:solidFill>
                <a:latin typeface="Aptos" pitchFamily="34" charset="0"/>
                <a:ea typeface="Aptos" pitchFamily="34" charset="-122"/>
                <a:cs typeface="Aptos" pitchFamily="34" charset="-120"/>
              </a:rPr>
              <a:t>We now have a new scientific comparison</a:t>
            </a:r>
            <a:endParaRPr lang="en-US" sz="3000" dirty="0"/>
          </a:p>
        </p:txBody>
      </p:sp>
      <p:sp>
        <p:nvSpPr>
          <p:cNvPr id="4" name="Text 2"/>
          <p:cNvSpPr/>
          <p:nvPr/>
        </p:nvSpPr>
        <p:spPr>
          <a:xfrm>
            <a:off x="548640" y="6428232"/>
            <a:ext cx="10058400" cy="228600"/>
          </a:xfrm>
          <a:prstGeom prst="rect">
            <a:avLst/>
          </a:prstGeom>
          <a:noFill/>
          <a:ln/>
        </p:spPr>
        <p:txBody>
          <a:bodyPr wrap="square" lIns="0" tIns="0" rIns="0" bIns="0" rtlCol="0" anchor="ctr"/>
          <a:lstStyle/>
          <a:p>
            <a:pPr indent="0" marL="0">
              <a:buNone/>
            </a:pPr>
            <a:r>
              <a:rPr lang="en-US" sz="1100" dirty="0">
                <a:solidFill>
                  <a:srgbClr val="647470"/>
                </a:solidFill>
                <a:latin typeface="Aptos" pitchFamily="34" charset="0"/>
                <a:ea typeface="Aptos" pitchFamily="34" charset="-122"/>
                <a:cs typeface="Aptos" pitchFamily="34" charset="-120"/>
              </a:rPr>
              <a:t>EVIDENCE ROLES | PREVIOUS WORK IS REUSED</a:t>
            </a:r>
            <a:endParaRPr lang="en-US" sz="1100" dirty="0"/>
          </a:p>
        </p:txBody>
      </p:sp>
      <p:sp>
        <p:nvSpPr>
          <p:cNvPr id="5" name="Text 3"/>
          <p:cNvSpPr/>
          <p:nvPr/>
        </p:nvSpPr>
        <p:spPr>
          <a:xfrm>
            <a:off x="11201400" y="6419088"/>
            <a:ext cx="365760" cy="228600"/>
          </a:xfrm>
          <a:prstGeom prst="rect">
            <a:avLst/>
          </a:prstGeom>
          <a:noFill/>
          <a:ln/>
        </p:spPr>
        <p:txBody>
          <a:bodyPr wrap="square" lIns="0" tIns="0" rIns="0" bIns="0" rtlCol="0" anchor="ctr"/>
          <a:lstStyle/>
          <a:p>
            <a:pPr indent="0" marL="0">
              <a:buNone/>
            </a:pPr>
            <a:r>
              <a:rPr lang="en-US" sz="1200" dirty="0">
                <a:solidFill>
                  <a:srgbClr val="647470"/>
                </a:solidFill>
                <a:latin typeface="Aptos" pitchFamily="34" charset="0"/>
                <a:ea typeface="Aptos" pitchFamily="34" charset="-122"/>
                <a:cs typeface="Aptos" pitchFamily="34" charset="-120"/>
              </a:rPr>
              <a:t>2</a:t>
            </a:r>
            <a:endParaRPr lang="en-US" sz="1200" dirty="0"/>
          </a:p>
        </p:txBody>
      </p:sp>
      <p:sp>
        <p:nvSpPr>
          <p:cNvPr id="7" name="Text 4"/>
          <p:cNvSpPr/>
          <p:nvPr/>
        </p:nvSpPr>
        <p:spPr>
          <a:xfrm>
            <a:off x="640080" y="1508760"/>
            <a:ext cx="5029200" cy="365760"/>
          </a:xfrm>
          <a:prstGeom prst="rect">
            <a:avLst/>
          </a:prstGeom>
          <a:noFill/>
          <a:ln/>
        </p:spPr>
        <p:txBody>
          <a:bodyPr wrap="square" lIns="0" tIns="0" rIns="0" bIns="0" rtlCol="0" anchor="ctr"/>
          <a:lstStyle/>
          <a:p>
            <a:pPr indent="0" marL="0">
              <a:buNone/>
            </a:pPr>
            <a:r>
              <a:rPr lang="en-US" sz="1800" b="1" dirty="0">
                <a:solidFill>
                  <a:srgbClr val="647470"/>
                </a:solidFill>
                <a:latin typeface="Aptos" pitchFamily="34" charset="0"/>
                <a:ea typeface="Aptos" pitchFamily="34" charset="-122"/>
                <a:cs typeface="Aptos" pitchFamily="34" charset="-120"/>
              </a:rPr>
              <a:t>REUSED</a:t>
            </a:r>
            <a:endParaRPr lang="en-US" sz="1800" dirty="0"/>
          </a:p>
        </p:txBody>
      </p:sp>
      <p:sp>
        <p:nvSpPr>
          <p:cNvPr id="8" name="Text 5"/>
          <p:cNvSpPr/>
          <p:nvPr/>
        </p:nvSpPr>
        <p:spPr>
          <a:xfrm>
            <a:off x="640080" y="2057400"/>
            <a:ext cx="5120640" cy="2286000"/>
          </a:xfrm>
          <a:prstGeom prst="rect">
            <a:avLst/>
          </a:prstGeom>
          <a:noFill/>
          <a:ln/>
        </p:spPr>
        <p:txBody>
          <a:bodyPr wrap="square" lIns="0" tIns="0" rIns="0" bIns="0" rtlCol="0" anchor="ctr"/>
          <a:lstStyle/>
          <a:p>
            <a:pPr indent="0" marL="0">
              <a:buNone/>
            </a:pPr>
            <a:r>
              <a:rPr lang="en-US" sz="2500" dirty="0">
                <a:solidFill>
                  <a:srgbClr val="233432"/>
                </a:solidFill>
                <a:latin typeface="Aptos" pitchFamily="34" charset="0"/>
                <a:ea typeface="Aptos" pitchFamily="34" charset="-122"/>
                <a:cs typeface="Aptos" pitchFamily="34" charset="-120"/>
              </a:rPr>
              <a:t>Author-weight prediction recovery</a:t>
            </a:r>
            <a:endParaRPr lang="en-US" sz="2500" dirty="0"/>
          </a:p>
          <a:p>
            <a:pPr indent="0" marL="0">
              <a:buNone/>
            </a:pPr>
            <a:r>
              <a:rPr lang="en-US" sz="2500" dirty="0">
                <a:solidFill>
                  <a:srgbClr val="233432"/>
                </a:solidFill>
                <a:latin typeface="Aptos" pitchFamily="34" charset="0"/>
                <a:ea typeface="Aptos" pitchFamily="34" charset="-122"/>
                <a:cs typeface="Aptos" pitchFamily="34" charset="-120"/>
              </a:rPr>
              <a:t>Local v2 joint fit + numerical checks</a:t>
            </a:r>
            <a:endParaRPr lang="en-US" sz="2500" dirty="0"/>
          </a:p>
          <a:p>
            <a:pPr indent="0" marL="0">
              <a:buNone/>
            </a:pPr>
            <a:r>
              <a:rPr lang="en-US" sz="2500" dirty="0">
                <a:solidFill>
                  <a:srgbClr val="233432"/>
                </a:solidFill>
                <a:latin typeface="Aptos" pitchFamily="34" charset="0"/>
                <a:ea typeface="Aptos" pitchFamily="34" charset="-122"/>
                <a:cs typeface="Aptos" pitchFamily="34" charset="-120"/>
              </a:rPr>
              <a:t>Existing literature and source bindings</a:t>
            </a:r>
            <a:endParaRPr lang="en-US" sz="2500" dirty="0"/>
          </a:p>
        </p:txBody>
      </p:sp>
      <p:sp>
        <p:nvSpPr>
          <p:cNvPr id="9" name="Text 6"/>
          <p:cNvSpPr/>
          <p:nvPr/>
        </p:nvSpPr>
        <p:spPr>
          <a:xfrm>
            <a:off x="6400800" y="1508760"/>
            <a:ext cx="5029200" cy="365760"/>
          </a:xfrm>
          <a:prstGeom prst="rect">
            <a:avLst/>
          </a:prstGeom>
          <a:noFill/>
          <a:ln/>
        </p:spPr>
        <p:txBody>
          <a:bodyPr wrap="square" lIns="0" tIns="0" rIns="0" bIns="0" rtlCol="0" anchor="ctr"/>
          <a:lstStyle/>
          <a:p>
            <a:pPr indent="0" marL="0">
              <a:buNone/>
            </a:pPr>
            <a:r>
              <a:rPr lang="en-US" sz="1800" b="1" dirty="0">
                <a:solidFill>
                  <a:srgbClr val="145B3A"/>
                </a:solidFill>
                <a:latin typeface="Aptos" pitchFamily="34" charset="0"/>
                <a:ea typeface="Aptos" pitchFamily="34" charset="-122"/>
                <a:cs typeface="Aptos" pitchFamily="34" charset="-120"/>
              </a:rPr>
              <a:t>NEW TODAY</a:t>
            </a:r>
            <a:endParaRPr lang="en-US" sz="1800" dirty="0"/>
          </a:p>
        </p:txBody>
      </p:sp>
      <p:sp>
        <p:nvSpPr>
          <p:cNvPr id="10" name="Text 7"/>
          <p:cNvSpPr/>
          <p:nvPr/>
        </p:nvSpPr>
        <p:spPr>
          <a:xfrm>
            <a:off x="6400800" y="2057400"/>
            <a:ext cx="5120640" cy="2286000"/>
          </a:xfrm>
          <a:prstGeom prst="rect">
            <a:avLst/>
          </a:prstGeom>
          <a:noFill/>
          <a:ln/>
        </p:spPr>
        <p:txBody>
          <a:bodyPr wrap="square" lIns="0" tIns="0" rIns="0" bIns="0" rtlCol="0" anchor="ctr"/>
          <a:lstStyle/>
          <a:p>
            <a:pPr indent="0" marL="0">
              <a:buNone/>
            </a:pPr>
            <a:r>
              <a:rPr lang="en-US" sz="2500" dirty="0">
                <a:solidFill>
                  <a:srgbClr val="233432"/>
                </a:solidFill>
                <a:latin typeface="Aptos" pitchFamily="34" charset="0"/>
                <a:ea typeface="Aptos" pitchFamily="34" charset="-122"/>
                <a:cs typeface="Aptos" pitchFamily="34" charset="-120"/>
              </a:rPr>
              <a:t>SAXS-only fit at two fixed settings</a:t>
            </a:r>
            <a:endParaRPr lang="en-US" sz="2500" dirty="0"/>
          </a:p>
          <a:p>
            <a:pPr indent="0" marL="0">
              <a:buNone/>
            </a:pPr>
            <a:r>
              <a:rPr lang="en-US" sz="2500" dirty="0">
                <a:solidFill>
                  <a:srgbClr val="233432"/>
                </a:solidFill>
                <a:latin typeface="Aptos" pitchFamily="34" charset="0"/>
                <a:ea typeface="Aptos" pitchFamily="34" charset="-122"/>
                <a:cs typeface="Aptos" pitchFamily="34" charset="-120"/>
              </a:rPr>
              <a:t>NOE predictions on the same constraints</a:t>
            </a:r>
            <a:endParaRPr lang="en-US" sz="2500" dirty="0"/>
          </a:p>
          <a:p>
            <a:pPr indent="0" marL="0">
              <a:buNone/>
            </a:pPr>
            <a:r>
              <a:rPr lang="en-US" sz="2500" dirty="0">
                <a:solidFill>
                  <a:srgbClr val="233432"/>
                </a:solidFill>
                <a:latin typeface="Aptos" pitchFamily="34" charset="0"/>
                <a:ea typeface="Aptos" pitchFamily="34" charset="-122"/>
                <a:cs typeface="Aptos" pitchFamily="34" charset="-120"/>
              </a:rPr>
              <a:t>Four complete-answer scenarios</a:t>
            </a:r>
            <a:endParaRPr lang="en-US" sz="2500" dirty="0"/>
          </a:p>
        </p:txBody>
      </p:sp>
      <p:sp>
        <p:nvSpPr>
          <p:cNvPr id="11" name="Text 8"/>
          <p:cNvSpPr/>
          <p:nvPr/>
        </p:nvSpPr>
        <p:spPr>
          <a:xfrm>
            <a:off x="640080" y="5166360"/>
            <a:ext cx="10789920" cy="731520"/>
          </a:xfrm>
          <a:prstGeom prst="rect">
            <a:avLst/>
          </a:prstGeom>
          <a:noFill/>
          <a:ln/>
        </p:spPr>
        <p:txBody>
          <a:bodyPr wrap="square" lIns="0" tIns="0" rIns="0" bIns="0" rtlCol="0" anchor="ctr"/>
          <a:lstStyle/>
          <a:p>
            <a:pPr indent="0" marL="0">
              <a:buNone/>
            </a:pPr>
            <a:r>
              <a:rPr lang="en-US" sz="2400" b="1" dirty="0">
                <a:solidFill>
                  <a:srgbClr val="233432"/>
                </a:solidFill>
                <a:latin typeface="Aptos" pitchFamily="34" charset="0"/>
                <a:ea typeface="Aptos" pitchFamily="34" charset="-122"/>
                <a:cs typeface="Aptos" pitchFamily="34" charset="-120"/>
              </a:rPr>
              <a:t>One exposed development case; overall Rules accuracy remains unmeasured.</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45B3A"/>
          </a:solidFill>
          <a:ln w="12700">
            <a:solidFill>
              <a:srgbClr val="145B3A"/>
            </a:solidFill>
            <a:prstDash val="solid"/>
          </a:ln>
        </p:spPr>
      </p:sp>
      <p:sp>
        <p:nvSpPr>
          <p:cNvPr id="3" name="Text 1"/>
          <p:cNvSpPr/>
          <p:nvPr/>
        </p:nvSpPr>
        <p:spPr>
          <a:xfrm>
            <a:off x="548640" y="365760"/>
            <a:ext cx="11064240" cy="914400"/>
          </a:xfrm>
          <a:prstGeom prst="rect">
            <a:avLst/>
          </a:prstGeom>
          <a:noFill/>
          <a:ln/>
        </p:spPr>
        <p:txBody>
          <a:bodyPr wrap="square" lIns="0" tIns="0" rIns="0" bIns="0" rtlCol="0" anchor="ctr"/>
          <a:lstStyle/>
          <a:p>
            <a:pPr indent="0" marL="0">
              <a:buNone/>
            </a:pPr>
            <a:r>
              <a:rPr lang="en-US" sz="3000" b="1" dirty="0">
                <a:solidFill>
                  <a:srgbClr val="145B3A"/>
                </a:solidFill>
                <a:latin typeface="Aptos" pitchFamily="34" charset="0"/>
                <a:ea typeface="Aptos" pitchFamily="34" charset="-122"/>
                <a:cs typeface="Aptos" pitchFamily="34" charset="-120"/>
              </a:rPr>
              <a:t>Fit on SAXS; evaluate NOE afterwards</a:t>
            </a:r>
            <a:endParaRPr lang="en-US" sz="3000" dirty="0"/>
          </a:p>
        </p:txBody>
      </p:sp>
      <p:sp>
        <p:nvSpPr>
          <p:cNvPr id="4" name="Text 2"/>
          <p:cNvSpPr/>
          <p:nvPr/>
        </p:nvSpPr>
        <p:spPr>
          <a:xfrm>
            <a:off x="548640" y="6428232"/>
            <a:ext cx="10058400" cy="228600"/>
          </a:xfrm>
          <a:prstGeom prst="rect">
            <a:avLst/>
          </a:prstGeom>
          <a:noFill/>
          <a:ln/>
        </p:spPr>
        <p:txBody>
          <a:bodyPr wrap="square" lIns="0" tIns="0" rIns="0" bIns="0" rtlCol="0" anchor="ctr"/>
          <a:lstStyle/>
          <a:p>
            <a:pPr indent="0" marL="0">
              <a:buNone/>
            </a:pPr>
            <a:r>
              <a:rPr lang="en-US" sz="1100" dirty="0">
                <a:solidFill>
                  <a:srgbClr val="647470"/>
                </a:solidFill>
                <a:latin typeface="Aptos" pitchFamily="34" charset="0"/>
                <a:ea typeface="Aptos" pitchFamily="34" charset="-122"/>
                <a:cs typeface="Aptos" pitchFamily="34" charset="-120"/>
              </a:rPr>
              <a:t>BENGTSEN ET AL., eLife 2020, e56518 | LOCAL PROTOCOL AND RAW MATRICES</a:t>
            </a:r>
            <a:endParaRPr lang="en-US" sz="1100" dirty="0"/>
          </a:p>
        </p:txBody>
      </p:sp>
      <p:sp>
        <p:nvSpPr>
          <p:cNvPr id="5" name="Text 3"/>
          <p:cNvSpPr/>
          <p:nvPr/>
        </p:nvSpPr>
        <p:spPr>
          <a:xfrm>
            <a:off x="11201400" y="6419088"/>
            <a:ext cx="365760" cy="228600"/>
          </a:xfrm>
          <a:prstGeom prst="rect">
            <a:avLst/>
          </a:prstGeom>
          <a:noFill/>
          <a:ln/>
        </p:spPr>
        <p:txBody>
          <a:bodyPr wrap="square" lIns="0" tIns="0" rIns="0" bIns="0" rtlCol="0" anchor="ctr"/>
          <a:lstStyle/>
          <a:p>
            <a:pPr indent="0" marL="0">
              <a:buNone/>
            </a:pPr>
            <a:r>
              <a:rPr lang="en-US" sz="1200" dirty="0">
                <a:solidFill>
                  <a:srgbClr val="647470"/>
                </a:solidFill>
                <a:latin typeface="Aptos" pitchFamily="34" charset="0"/>
                <a:ea typeface="Aptos" pitchFamily="34" charset="-122"/>
                <a:cs typeface="Aptos" pitchFamily="34" charset="-120"/>
              </a:rPr>
              <a:t>3</a:t>
            </a:r>
            <a:endParaRPr lang="en-US" sz="1200" dirty="0"/>
          </a:p>
        </p:txBody>
      </p:sp>
      <p:sp>
        <p:nvSpPr>
          <p:cNvPr id="7" name="Text 4"/>
          <p:cNvSpPr/>
          <p:nvPr/>
        </p:nvSpPr>
        <p:spPr>
          <a:xfrm>
            <a:off x="640080" y="1645920"/>
            <a:ext cx="10972800" cy="914400"/>
          </a:xfrm>
          <a:prstGeom prst="rect">
            <a:avLst/>
          </a:prstGeom>
          <a:noFill/>
          <a:ln/>
        </p:spPr>
        <p:txBody>
          <a:bodyPr wrap="square" lIns="0" tIns="0" rIns="0" bIns="0" rtlCol="0" anchor="ctr"/>
          <a:lstStyle/>
          <a:p>
            <a:pPr indent="0" marL="0">
              <a:buNone/>
            </a:pPr>
            <a:r>
              <a:rPr lang="en-US" sz="2700" b="1" dirty="0">
                <a:solidFill>
                  <a:srgbClr val="145B3A"/>
                </a:solidFill>
                <a:latin typeface="Aptos" pitchFamily="34" charset="0"/>
                <a:ea typeface="Aptos" pitchFamily="34" charset="-122"/>
                <a:cs typeface="Aptos" pitchFamily="34" charset="-120"/>
              </a:rPr>
              <a:t>Uniform weights → SAXS-only BME → Saved weights → NOE predictions</a:t>
            </a:r>
            <a:endParaRPr lang="en-US" sz="2700" dirty="0"/>
          </a:p>
        </p:txBody>
      </p:sp>
      <p:sp>
        <p:nvSpPr>
          <p:cNvPr id="8" name="Text 5"/>
          <p:cNvSpPr/>
          <p:nvPr/>
        </p:nvSpPr>
        <p:spPr>
          <a:xfrm>
            <a:off x="640080" y="2743200"/>
            <a:ext cx="10972800" cy="1508760"/>
          </a:xfrm>
          <a:prstGeom prst="rect">
            <a:avLst/>
          </a:prstGeom>
          <a:noFill/>
          <a:ln/>
        </p:spPr>
        <p:txBody>
          <a:bodyPr wrap="square" lIns="0" tIns="0" rIns="0" bIns="0" rtlCol="0" anchor="ctr"/>
          <a:lstStyle/>
          <a:p>
            <a:pPr indent="0" marL="0">
              <a:buNone/>
            </a:pPr>
            <a:r>
              <a:rPr lang="en-US" sz="2500" dirty="0">
                <a:solidFill>
                  <a:srgbClr val="233432"/>
                </a:solidFill>
                <a:latin typeface="Aptos" pitchFamily="34" charset="0"/>
                <a:ea typeface="Aptos" pitchFamily="34" charset="-122"/>
                <a:cs typeface="Aptos" pitchFamily="34" charset="-120"/>
              </a:rPr>
              <a:t>Main θ = 6; predeclared sensitivity θ = 60</a:t>
            </a:r>
            <a:endParaRPr lang="en-US" sz="2500" dirty="0"/>
          </a:p>
          <a:p>
            <a:pPr indent="0" marL="0">
              <a:buNone/>
            </a:pPr>
            <a:r>
              <a:rPr lang="en-US" sz="2500" dirty="0">
                <a:solidFill>
                  <a:srgbClr val="233432"/>
                </a:solidFill>
                <a:latin typeface="Aptos" pitchFamily="34" charset="0"/>
                <a:ea typeface="Aptos" pitchFamily="34" charset="-122"/>
                <a:cs typeface="Aptos" pitchFamily="34" charset="-120"/>
              </a:rPr>
              <a:t>No NOE arrays enter the optimizer</a:t>
            </a:r>
            <a:endParaRPr lang="en-US" sz="2500" dirty="0"/>
          </a:p>
          <a:p>
            <a:pPr indent="0" marL="0">
              <a:buNone/>
            </a:pPr>
            <a:r>
              <a:rPr lang="en-US" sz="2500" dirty="0">
                <a:solidFill>
                  <a:srgbClr val="233432"/>
                </a:solidFill>
                <a:latin typeface="Aptos" pitchFamily="34" charset="0"/>
                <a:ea typeface="Aptos" pitchFamily="34" charset="-122"/>
                <a:cs typeface="Aptos" pitchFamily="34" charset="-120"/>
              </a:rPr>
              <a:t>Same 292 amide + 40 methyl constraints in every comparison</a:t>
            </a:r>
            <a:endParaRPr lang="en-US" sz="2500" dirty="0"/>
          </a:p>
        </p:txBody>
      </p:sp>
      <p:sp>
        <p:nvSpPr>
          <p:cNvPr id="9" name="Text 6"/>
          <p:cNvSpPr/>
          <p:nvPr/>
        </p:nvSpPr>
        <p:spPr>
          <a:xfrm>
            <a:off x="640080" y="4663440"/>
            <a:ext cx="10972800" cy="1005840"/>
          </a:xfrm>
          <a:prstGeom prst="rect">
            <a:avLst/>
          </a:prstGeom>
          <a:noFill/>
          <a:ln/>
        </p:spPr>
        <p:txBody>
          <a:bodyPr wrap="square" lIns="0" tIns="0" rIns="0" bIns="0" rtlCol="0" anchor="ctr"/>
          <a:lstStyle/>
          <a:p>
            <a:pPr indent="0" marL="0">
              <a:buNone/>
            </a:pPr>
            <a:r>
              <a:rPr lang="en-US" sz="2100" dirty="0">
                <a:solidFill>
                  <a:srgbClr val="233432"/>
                </a:solidFill>
                <a:latin typeface="Aptos" pitchFamily="34" charset="0"/>
                <a:ea typeface="Aptos" pitchFamily="34" charset="-122"/>
                <a:cs typeface="Aptos" pitchFamily="34" charset="-120"/>
              </a:rPr>
              <a:t>NOE score: one-sided squared standardized residual, averaged over all constraints.</a:t>
            </a:r>
            <a:endParaRPr lang="en-US" sz="2100" dirty="0"/>
          </a:p>
          <a:p>
            <a:pPr indent="0" marL="0">
              <a:buNone/>
            </a:pPr>
            <a:r>
              <a:rPr lang="en-US" sz="2100" dirty="0">
                <a:solidFill>
                  <a:srgbClr val="233432"/>
                </a:solidFill>
                <a:latin typeface="Aptos" pitchFamily="34" charset="0"/>
                <a:ea typeface="Aptos" pitchFamily="34" charset="-122"/>
                <a:cs typeface="Aptos" pitchFamily="34" charset="-120"/>
              </a:rPr>
              <a:t>Candidate construction and prior method choices limit independence.</a:t>
            </a: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45B3A"/>
          </a:solidFill>
          <a:ln w="12700">
            <a:solidFill>
              <a:srgbClr val="145B3A"/>
            </a:solidFill>
            <a:prstDash val="solid"/>
          </a:ln>
        </p:spPr>
      </p:sp>
      <p:sp>
        <p:nvSpPr>
          <p:cNvPr id="3" name="Text 1"/>
          <p:cNvSpPr/>
          <p:nvPr/>
        </p:nvSpPr>
        <p:spPr>
          <a:xfrm>
            <a:off x="548640" y="365760"/>
            <a:ext cx="11064240" cy="914400"/>
          </a:xfrm>
          <a:prstGeom prst="rect">
            <a:avLst/>
          </a:prstGeom>
          <a:noFill/>
          <a:ln/>
        </p:spPr>
        <p:txBody>
          <a:bodyPr wrap="square" lIns="0" tIns="0" rIns="0" bIns="0" rtlCol="0" anchor="ctr"/>
          <a:lstStyle/>
          <a:p>
            <a:pPr indent="0" marL="0">
              <a:buNone/>
            </a:pPr>
            <a:r>
              <a:rPr lang="en-US" sz="3000" b="1" dirty="0">
                <a:solidFill>
                  <a:srgbClr val="145B3A"/>
                </a:solidFill>
                <a:latin typeface="Aptos" pitchFamily="34" charset="0"/>
                <a:ea typeface="Aptos" pitchFamily="34" charset="-122"/>
                <a:cs typeface="Aptos" pitchFamily="34" charset="-120"/>
              </a:rPr>
              <a:t>A better training fit did not transfer to NOE</a:t>
            </a:r>
            <a:endParaRPr lang="en-US" sz="3000" dirty="0"/>
          </a:p>
        </p:txBody>
      </p:sp>
      <p:sp>
        <p:nvSpPr>
          <p:cNvPr id="4" name="Text 2"/>
          <p:cNvSpPr/>
          <p:nvPr/>
        </p:nvSpPr>
        <p:spPr>
          <a:xfrm>
            <a:off x="548640" y="6428232"/>
            <a:ext cx="10058400" cy="228600"/>
          </a:xfrm>
          <a:prstGeom prst="rect">
            <a:avLst/>
          </a:prstGeom>
          <a:noFill/>
          <a:ln/>
        </p:spPr>
        <p:txBody>
          <a:bodyPr wrap="square" lIns="0" tIns="0" rIns="0" bIns="0" rtlCol="0" anchor="ctr"/>
          <a:lstStyle/>
          <a:p>
            <a:pPr indent="0" marL="0">
              <a:buNone/>
            </a:pPr>
            <a:r>
              <a:rPr lang="en-US" sz="1100" dirty="0">
                <a:solidFill>
                  <a:srgbClr val="647470"/>
                </a:solidFill>
                <a:latin typeface="Aptos" pitchFamily="34" charset="0"/>
                <a:ea typeface="Aptos" pitchFamily="34" charset="-122"/>
                <a:cs typeface="Aptos" pitchFamily="34" charset="-120"/>
              </a:rPr>
              <a:t>NEW RESULTS | FIXED-DENOMINATOR RESPONSE PENALTIES; LOWER IS BETTER</a:t>
            </a:r>
            <a:endParaRPr lang="en-US" sz="1100" dirty="0"/>
          </a:p>
        </p:txBody>
      </p:sp>
      <p:sp>
        <p:nvSpPr>
          <p:cNvPr id="5" name="Text 3"/>
          <p:cNvSpPr/>
          <p:nvPr/>
        </p:nvSpPr>
        <p:spPr>
          <a:xfrm>
            <a:off x="11201400" y="6419088"/>
            <a:ext cx="365760" cy="228600"/>
          </a:xfrm>
          <a:prstGeom prst="rect">
            <a:avLst/>
          </a:prstGeom>
          <a:noFill/>
          <a:ln/>
        </p:spPr>
        <p:txBody>
          <a:bodyPr wrap="square" lIns="0" tIns="0" rIns="0" bIns="0" rtlCol="0" anchor="ctr"/>
          <a:lstStyle/>
          <a:p>
            <a:pPr indent="0" marL="0">
              <a:buNone/>
            </a:pPr>
            <a:r>
              <a:rPr lang="en-US" sz="1200" dirty="0">
                <a:solidFill>
                  <a:srgbClr val="647470"/>
                </a:solidFill>
                <a:latin typeface="Aptos" pitchFamily="34" charset="0"/>
                <a:ea typeface="Aptos" pitchFamily="34" charset="-122"/>
                <a:cs typeface="Aptos" pitchFamily="34" charset="-120"/>
              </a:rPr>
              <a:t>4</a:t>
            </a:r>
            <a:endParaRPr lang="en-US" sz="1200" dirty="0"/>
          </a:p>
        </p:txBody>
      </p:sp>
      <p:sp>
        <p:nvSpPr>
          <p:cNvPr id="7" name="Text 4"/>
          <p:cNvSpPr/>
          <p:nvPr/>
        </p:nvSpPr>
        <p:spPr>
          <a:xfrm>
            <a:off x="640080" y="1325880"/>
            <a:ext cx="10972800" cy="365760"/>
          </a:xfrm>
          <a:prstGeom prst="rect">
            <a:avLst/>
          </a:prstGeom>
          <a:noFill/>
          <a:ln/>
        </p:spPr>
        <p:txBody>
          <a:bodyPr wrap="square" lIns="0" tIns="0" rIns="0" bIns="0" rtlCol="0" anchor="ctr"/>
          <a:lstStyle/>
          <a:p>
            <a:pPr indent="0" marL="0">
              <a:buNone/>
            </a:pPr>
            <a:r>
              <a:rPr lang="en-US" sz="2100" dirty="0">
                <a:solidFill>
                  <a:srgbClr val="233432"/>
                </a:solidFill>
                <a:latin typeface="Aptos" pitchFamily="34" charset="0"/>
                <a:ea typeface="Aptos" pitchFamily="34" charset="-122"/>
                <a:cs typeface="Aptos" pitchFamily="34" charset="-120"/>
              </a:rPr>
              <a:t>SAXS penalty: 10.0188 → 1.1707 (θ = 6); 2.1178 (θ = 60)</a:t>
            </a:r>
            <a:endParaRPr lang="en-US" sz="2100" dirty="0"/>
          </a:p>
        </p:txBody>
      </p:sp>
      <p:pic>
        <p:nvPicPr>
          <p:cNvPr id="8" name="Image 0" descr="/Users/liuzhenpeng/Desktop/UNC/Soojung-Dynamic data/autoresearch/tasks/dynamics_atlas_q05_cross_observable_meeting_20260909/outputs/figures/04_meeting_noe.png">    </p:cNvPr>
          <p:cNvPicPr>
            <a:picLocks noChangeAspect="1"/>
          </p:cNvPicPr>
          <p:nvPr/>
        </p:nvPicPr>
        <p:blipFill>
          <a:blip r:embed="rId1"/>
          <a:stretch>
            <a:fillRect/>
          </a:stretch>
        </p:blipFill>
        <p:spPr>
          <a:xfrm>
            <a:off x="594360" y="1847088"/>
            <a:ext cx="10972800" cy="2331720"/>
          </a:xfrm>
          <a:prstGeom prst="rect">
            <a:avLst/>
          </a:prstGeom>
        </p:spPr>
      </p:pic>
      <p:sp>
        <p:nvSpPr>
          <p:cNvPr id="9" name="Text 5"/>
          <p:cNvSpPr/>
          <p:nvPr/>
        </p:nvSpPr>
        <p:spPr>
          <a:xfrm>
            <a:off x="640080" y="4434840"/>
            <a:ext cx="10972800" cy="868680"/>
          </a:xfrm>
          <a:prstGeom prst="rect">
            <a:avLst/>
          </a:prstGeom>
          <a:noFill/>
          <a:ln/>
        </p:spPr>
        <p:txBody>
          <a:bodyPr wrap="square" lIns="0" tIns="0" rIns="0" bIns="0" rtlCol="0" anchor="ctr"/>
          <a:lstStyle/>
          <a:p>
            <a:pPr indent="0" marL="0">
              <a:buNone/>
            </a:pPr>
            <a:r>
              <a:rPr lang="en-US" sz="2300" dirty="0">
                <a:solidFill>
                  <a:srgbClr val="233432"/>
                </a:solidFill>
                <a:latin typeface="Aptos" pitchFamily="34" charset="0"/>
                <a:ea typeface="Aptos" pitchFamily="34" charset="-122"/>
                <a:cs typeface="Aptos" pitchFamily="34" charset="-120"/>
              </a:rPr>
              <a:t>Example: a 10 Å methyl upper bound</a:t>
            </a:r>
            <a:endParaRPr lang="en-US" sz="2300" dirty="0"/>
          </a:p>
          <a:p>
            <a:pPr indent="0" marL="0">
              <a:buNone/>
            </a:pPr>
            <a:r>
              <a:rPr lang="en-US" sz="2300" dirty="0">
                <a:solidFill>
                  <a:srgbClr val="233432"/>
                </a:solidFill>
                <a:latin typeface="Aptos" pitchFamily="34" charset="0"/>
                <a:ea typeface="Aptos" pitchFamily="34" charset="-122"/>
                <a:cs typeface="Aptos" pitchFamily="34" charset="-120"/>
              </a:rPr>
              <a:t>Effective distance 13.22 → 14.52 Å; penalty 39.75 → 55.98</a:t>
            </a:r>
            <a:endParaRPr lang="en-US" sz="2300" dirty="0"/>
          </a:p>
        </p:txBody>
      </p:sp>
      <p:sp>
        <p:nvSpPr>
          <p:cNvPr id="10" name="Text 6"/>
          <p:cNvSpPr/>
          <p:nvPr/>
        </p:nvSpPr>
        <p:spPr>
          <a:xfrm>
            <a:off x="640080" y="5486400"/>
            <a:ext cx="10972800" cy="594360"/>
          </a:xfrm>
          <a:prstGeom prst="rect">
            <a:avLst/>
          </a:prstGeom>
          <a:noFill/>
          <a:ln/>
        </p:spPr>
        <p:txBody>
          <a:bodyPr wrap="square" lIns="0" tIns="0" rIns="0" bIns="0" rtlCol="0" anchor="ctr"/>
          <a:lstStyle/>
          <a:p>
            <a:pPr indent="0" marL="0">
              <a:buNone/>
            </a:pPr>
            <a:r>
              <a:rPr lang="en-US" sz="2200" b="1" dirty="0">
                <a:solidFill>
                  <a:srgbClr val="145B3A"/>
                </a:solidFill>
                <a:latin typeface="Aptos" pitchFamily="34" charset="0"/>
                <a:ea typeface="Aptos" pitchFamily="34" charset="-122"/>
                <a:cs typeface="Aptos" pitchFamily="34" charset="-120"/>
              </a:rPr>
              <a:t>Direction is shared by two settings; magnitude depends on regularization.</a:t>
            </a:r>
            <a:endParaRPr lang="en-US"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45B3A"/>
          </a:solidFill>
          <a:ln w="12700">
            <a:solidFill>
              <a:srgbClr val="145B3A"/>
            </a:solidFill>
            <a:prstDash val="solid"/>
          </a:ln>
        </p:spPr>
      </p:sp>
      <p:sp>
        <p:nvSpPr>
          <p:cNvPr id="3" name="Text 1"/>
          <p:cNvSpPr/>
          <p:nvPr/>
        </p:nvSpPr>
        <p:spPr>
          <a:xfrm>
            <a:off x="548640" y="365760"/>
            <a:ext cx="11064240" cy="914400"/>
          </a:xfrm>
          <a:prstGeom prst="rect">
            <a:avLst/>
          </a:prstGeom>
          <a:noFill/>
          <a:ln/>
        </p:spPr>
        <p:txBody>
          <a:bodyPr wrap="square" lIns="0" tIns="0" rIns="0" bIns="0" rtlCol="0" anchor="ctr"/>
          <a:lstStyle/>
          <a:p>
            <a:pPr indent="0" marL="0">
              <a:buNone/>
            </a:pPr>
            <a:r>
              <a:rPr lang="en-US" sz="3000" b="1" dirty="0">
                <a:solidFill>
                  <a:srgbClr val="145B3A"/>
                </a:solidFill>
                <a:latin typeface="Aptos" pitchFamily="34" charset="0"/>
                <a:ea typeface="Aptos" pitchFamily="34" charset="-122"/>
                <a:cs typeface="Aptos" pitchFamily="34" charset="-120"/>
              </a:rPr>
              <a:t>The prototype carries a complete, bounded answer</a:t>
            </a:r>
            <a:endParaRPr lang="en-US" sz="3000" dirty="0"/>
          </a:p>
        </p:txBody>
      </p:sp>
      <p:sp>
        <p:nvSpPr>
          <p:cNvPr id="4" name="Text 2"/>
          <p:cNvSpPr/>
          <p:nvPr/>
        </p:nvSpPr>
        <p:spPr>
          <a:xfrm>
            <a:off x="548640" y="6428232"/>
            <a:ext cx="10058400" cy="228600"/>
          </a:xfrm>
          <a:prstGeom prst="rect">
            <a:avLst/>
          </a:prstGeom>
          <a:noFill/>
          <a:ln/>
        </p:spPr>
        <p:txBody>
          <a:bodyPr wrap="square" lIns="0" tIns="0" rIns="0" bIns="0" rtlCol="0" anchor="ctr"/>
          <a:lstStyle/>
          <a:p>
            <a:pPr indent="0" marL="0">
              <a:buNone/>
            </a:pPr>
            <a:r>
              <a:rPr lang="en-US" sz="1100" dirty="0">
                <a:solidFill>
                  <a:srgbClr val="647470"/>
                </a:solidFill>
                <a:latin typeface="Aptos" pitchFamily="34" charset="0"/>
                <a:ea typeface="Aptos" pitchFamily="34" charset="-122"/>
                <a:cs typeface="Aptos" pitchFamily="34" charset="-120"/>
              </a:rPr>
              <a:t>FOUR DEVELOPMENT SCENARIOS | ONE SCIENTIFIC CASE</a:t>
            </a:r>
            <a:endParaRPr lang="en-US" sz="1100" dirty="0"/>
          </a:p>
        </p:txBody>
      </p:sp>
      <p:sp>
        <p:nvSpPr>
          <p:cNvPr id="5" name="Text 3"/>
          <p:cNvSpPr/>
          <p:nvPr/>
        </p:nvSpPr>
        <p:spPr>
          <a:xfrm>
            <a:off x="11201400" y="6419088"/>
            <a:ext cx="365760" cy="228600"/>
          </a:xfrm>
          <a:prstGeom prst="rect">
            <a:avLst/>
          </a:prstGeom>
          <a:noFill/>
          <a:ln/>
        </p:spPr>
        <p:txBody>
          <a:bodyPr wrap="square" lIns="0" tIns="0" rIns="0" bIns="0" rtlCol="0" anchor="ctr"/>
          <a:lstStyle/>
          <a:p>
            <a:pPr indent="0" marL="0">
              <a:buNone/>
            </a:pPr>
            <a:r>
              <a:rPr lang="en-US" sz="1200" dirty="0">
                <a:solidFill>
                  <a:srgbClr val="647470"/>
                </a:solidFill>
                <a:latin typeface="Aptos" pitchFamily="34" charset="0"/>
                <a:ea typeface="Aptos" pitchFamily="34" charset="-122"/>
                <a:cs typeface="Aptos" pitchFamily="34" charset="-120"/>
              </a:rPr>
              <a:t>5</a:t>
            </a:r>
            <a:endParaRPr lang="en-US" sz="1200" dirty="0"/>
          </a:p>
        </p:txBody>
      </p:sp>
      <p:sp>
        <p:nvSpPr>
          <p:cNvPr id="7" name="Text 4"/>
          <p:cNvSpPr/>
          <p:nvPr/>
        </p:nvSpPr>
        <p:spPr>
          <a:xfrm>
            <a:off x="640080" y="1645920"/>
            <a:ext cx="10972800" cy="2560320"/>
          </a:xfrm>
          <a:prstGeom prst="rect">
            <a:avLst/>
          </a:prstGeom>
          <a:noFill/>
          <a:ln/>
        </p:spPr>
        <p:txBody>
          <a:bodyPr wrap="square" lIns="0" tIns="0" rIns="0" bIns="0" rtlCol="0" anchor="ctr"/>
          <a:lstStyle/>
          <a:p>
            <a:pPr indent="0" marL="0">
              <a:buNone/>
            </a:pPr>
            <a:r>
              <a:rPr lang="en-US" sz="2500" dirty="0">
                <a:solidFill>
                  <a:srgbClr val="233432"/>
                </a:solidFill>
                <a:latin typeface="Aptos" pitchFamily="34" charset="0"/>
                <a:ea typeface="Aptos" pitchFamily="34" charset="-122"/>
                <a:cs typeface="Aptos" pitchFamily="34" charset="-120"/>
              </a:rPr>
              <a:t>Complete data → report both channels</a:t>
            </a:r>
            <a:endParaRPr lang="en-US" sz="2500" dirty="0"/>
          </a:p>
          <a:p>
            <a:pPr indent="0" marL="0">
              <a:buNone/>
            </a:pPr>
            <a:r>
              <a:rPr lang="en-US" sz="2500" dirty="0">
                <a:solidFill>
                  <a:srgbClr val="233432"/>
                </a:solidFill>
                <a:latin typeface="Aptos" pitchFamily="34" charset="0"/>
                <a:ea typeface="Aptos" pitchFamily="34" charset="-122"/>
                <a:cs typeface="Aptos" pitchFamily="34" charset="-120"/>
              </a:rPr>
              <a:t>Missing methyl → retain the amide answer</a:t>
            </a:r>
            <a:endParaRPr lang="en-US" sz="2500" dirty="0"/>
          </a:p>
          <a:p>
            <a:pPr indent="0" marL="0">
              <a:buNone/>
            </a:pPr>
            <a:r>
              <a:rPr lang="en-US" sz="2500" dirty="0">
                <a:solidFill>
                  <a:srgbClr val="233432"/>
                </a:solidFill>
                <a:latin typeface="Aptos" pitchFamily="34" charset="0"/>
                <a:ea typeface="Aptos" pitchFamily="34" charset="-122"/>
                <a:cs typeface="Aptos" pitchFamily="34" charset="-120"/>
              </a:rPr>
              <a:t>Joint-fit weights → identify fitted-data evaluation</a:t>
            </a:r>
            <a:endParaRPr lang="en-US" sz="2500" dirty="0"/>
          </a:p>
          <a:p>
            <a:pPr indent="0" marL="0">
              <a:buNone/>
            </a:pPr>
            <a:r>
              <a:rPr lang="en-US" sz="2500" dirty="0">
                <a:solidFill>
                  <a:srgbClr val="233432"/>
                </a:solidFill>
                <a:latin typeface="Aptos" pitchFamily="34" charset="0"/>
                <a:ea typeface="Aptos" pitchFamily="34" charset="-122"/>
                <a:cs typeface="Aptos" pitchFamily="34" charset="-120"/>
              </a:rPr>
              <a:t>Shape / rate request → retain NOE; identify missing evidence</a:t>
            </a:r>
            <a:endParaRPr lang="en-US" sz="2500" dirty="0"/>
          </a:p>
        </p:txBody>
      </p:sp>
      <p:sp>
        <p:nvSpPr>
          <p:cNvPr id="8" name="Text 5"/>
          <p:cNvSpPr/>
          <p:nvPr/>
        </p:nvSpPr>
        <p:spPr>
          <a:xfrm>
            <a:off x="640080" y="4709160"/>
            <a:ext cx="10972800" cy="548640"/>
          </a:xfrm>
          <a:prstGeom prst="rect">
            <a:avLst/>
          </a:prstGeom>
          <a:noFill/>
          <a:ln/>
        </p:spPr>
        <p:txBody>
          <a:bodyPr wrap="square" lIns="0" tIns="0" rIns="0" bIns="0" rtlCol="0" anchor="ctr"/>
          <a:lstStyle/>
          <a:p>
            <a:pPr indent="0" marL="0">
              <a:buNone/>
            </a:pPr>
            <a:r>
              <a:rPr lang="en-US" sz="2600" b="1" dirty="0">
                <a:solidFill>
                  <a:srgbClr val="145B3A"/>
                </a:solidFill>
                <a:latin typeface="Aptos" pitchFamily="34" charset="0"/>
                <a:ea typeface="Aptos" pitchFamily="34" charset="-122"/>
                <a:cs typeface="Aptos" pitchFamily="34" charset="-120"/>
              </a:rPr>
              <a:t>Same numerical core + same answer formatter in both paths</a:t>
            </a:r>
            <a:endParaRPr lang="en-US" sz="2600" dirty="0"/>
          </a:p>
        </p:txBody>
      </p:sp>
      <p:sp>
        <p:nvSpPr>
          <p:cNvPr id="9" name="Text 6"/>
          <p:cNvSpPr/>
          <p:nvPr/>
        </p:nvSpPr>
        <p:spPr>
          <a:xfrm>
            <a:off x="640080" y="5486400"/>
            <a:ext cx="10972800" cy="548640"/>
          </a:xfrm>
          <a:prstGeom prst="rect">
            <a:avLst/>
          </a:prstGeom>
          <a:noFill/>
          <a:ln/>
        </p:spPr>
        <p:txBody>
          <a:bodyPr wrap="square" lIns="0" tIns="0" rIns="0" bIns="0" rtlCol="0" anchor="ctr"/>
          <a:lstStyle/>
          <a:p>
            <a:pPr indent="0" marL="0">
              <a:buNone/>
            </a:pPr>
            <a:r>
              <a:rPr lang="en-US" sz="2200" dirty="0">
                <a:solidFill>
                  <a:srgbClr val="233432"/>
                </a:solidFill>
                <a:latin typeface="Aptos" pitchFamily="34" charset="0"/>
                <a:ea typeface="Aptos" pitchFamily="34" charset="-122"/>
                <a:cs typeface="Aptos" pitchFamily="34" charset="-120"/>
              </a:rPr>
              <a:t>Verified handoff; Rules-specific accuracy or efficiency gain is not measured.</a:t>
            </a:r>
            <a:endParaRPr lang="en-US" sz="2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45B3A"/>
          </a:solidFill>
          <a:ln w="12700">
            <a:solidFill>
              <a:srgbClr val="145B3A"/>
            </a:solidFill>
            <a:prstDash val="solid"/>
          </a:ln>
        </p:spPr>
      </p:sp>
      <p:sp>
        <p:nvSpPr>
          <p:cNvPr id="3" name="Text 1"/>
          <p:cNvSpPr/>
          <p:nvPr/>
        </p:nvSpPr>
        <p:spPr>
          <a:xfrm>
            <a:off x="548640" y="365760"/>
            <a:ext cx="11064240" cy="914400"/>
          </a:xfrm>
          <a:prstGeom prst="rect">
            <a:avLst/>
          </a:prstGeom>
          <a:noFill/>
          <a:ln/>
        </p:spPr>
        <p:txBody>
          <a:bodyPr wrap="square" lIns="0" tIns="0" rIns="0" bIns="0" rtlCol="0" anchor="ctr"/>
          <a:lstStyle/>
          <a:p>
            <a:pPr indent="0" marL="0">
              <a:buNone/>
            </a:pPr>
            <a:r>
              <a:rPr lang="en-US" sz="3000" b="1" dirty="0">
                <a:solidFill>
                  <a:srgbClr val="145B3A"/>
                </a:solidFill>
                <a:latin typeface="Aptos" pitchFamily="34" charset="0"/>
                <a:ea typeface="Aptos" pitchFamily="34" charset="-122"/>
                <a:cs typeface="Aptos" pitchFamily="34" charset="-120"/>
              </a:rPr>
              <a:t>Keep the scientific question in charge</a:t>
            </a:r>
            <a:endParaRPr lang="en-US" sz="3000" dirty="0"/>
          </a:p>
        </p:txBody>
      </p:sp>
      <p:sp>
        <p:nvSpPr>
          <p:cNvPr id="4" name="Text 2"/>
          <p:cNvSpPr/>
          <p:nvPr/>
        </p:nvSpPr>
        <p:spPr>
          <a:xfrm>
            <a:off x="548640" y="6428232"/>
            <a:ext cx="10058400" cy="228600"/>
          </a:xfrm>
          <a:prstGeom prst="rect">
            <a:avLst/>
          </a:prstGeom>
          <a:noFill/>
          <a:ln/>
        </p:spPr>
        <p:txBody>
          <a:bodyPr wrap="square" lIns="0" tIns="0" rIns="0" bIns="0" rtlCol="0" anchor="ctr"/>
          <a:lstStyle/>
          <a:p>
            <a:pPr indent="0" marL="0">
              <a:buNone/>
            </a:pPr>
            <a:r>
              <a:rPr lang="en-US" sz="1100" dirty="0">
                <a:solidFill>
                  <a:srgbClr val="647470"/>
                </a:solidFill>
                <a:latin typeface="Aptos" pitchFamily="34" charset="0"/>
                <a:ea typeface="Aptos" pitchFamily="34" charset="-122"/>
                <a:cs typeface="Aptos" pitchFamily="34" charset="-120"/>
              </a:rPr>
              <a:t>DISCUSSION | PRO REVIEW SUBMITTED; NO NEW SHAPE OR KINETIC CLAIM</a:t>
            </a:r>
            <a:endParaRPr lang="en-US" sz="1100" dirty="0"/>
          </a:p>
        </p:txBody>
      </p:sp>
      <p:sp>
        <p:nvSpPr>
          <p:cNvPr id="5" name="Text 3"/>
          <p:cNvSpPr/>
          <p:nvPr/>
        </p:nvSpPr>
        <p:spPr>
          <a:xfrm>
            <a:off x="11201400" y="6419088"/>
            <a:ext cx="365760" cy="228600"/>
          </a:xfrm>
          <a:prstGeom prst="rect">
            <a:avLst/>
          </a:prstGeom>
          <a:noFill/>
          <a:ln/>
        </p:spPr>
        <p:txBody>
          <a:bodyPr wrap="square" lIns="0" tIns="0" rIns="0" bIns="0" rtlCol="0" anchor="ctr"/>
          <a:lstStyle/>
          <a:p>
            <a:pPr indent="0" marL="0">
              <a:buNone/>
            </a:pPr>
            <a:r>
              <a:rPr lang="en-US" sz="1200" dirty="0">
                <a:solidFill>
                  <a:srgbClr val="647470"/>
                </a:solidFill>
                <a:latin typeface="Aptos" pitchFamily="34" charset="0"/>
                <a:ea typeface="Aptos" pitchFamily="34" charset="-122"/>
                <a:cs typeface="Aptos" pitchFamily="34" charset="-120"/>
              </a:rPr>
              <a:t>6</a:t>
            </a:r>
            <a:endParaRPr lang="en-US" sz="1200" dirty="0"/>
          </a:p>
        </p:txBody>
      </p:sp>
      <p:sp>
        <p:nvSpPr>
          <p:cNvPr id="7" name="Text 4"/>
          <p:cNvSpPr/>
          <p:nvPr/>
        </p:nvSpPr>
        <p:spPr>
          <a:xfrm>
            <a:off x="640080" y="1645920"/>
            <a:ext cx="10972800" cy="1005840"/>
          </a:xfrm>
          <a:prstGeom prst="rect">
            <a:avLst/>
          </a:prstGeom>
          <a:noFill/>
          <a:ln/>
        </p:spPr>
        <p:txBody>
          <a:bodyPr wrap="square" lIns="0" tIns="0" rIns="0" bIns="0" rtlCol="0" anchor="ctr"/>
          <a:lstStyle/>
          <a:p>
            <a:pPr indent="0" marL="0">
              <a:buNone/>
            </a:pPr>
            <a:r>
              <a:rPr lang="en-US" sz="2500" dirty="0">
                <a:solidFill>
                  <a:srgbClr val="233432"/>
                </a:solidFill>
                <a:latin typeface="Aptos" pitchFamily="34" charset="0"/>
                <a:ea typeface="Aptos" pitchFamily="34" charset="-122"/>
                <a:cs typeface="Aptos" pitchFamily="34" charset="-120"/>
              </a:rPr>
              <a:t>1  Confirm the scientific interpretation</a:t>
            </a:r>
            <a:endParaRPr lang="en-US" sz="2500" dirty="0"/>
          </a:p>
          <a:p>
            <a:pPr indent="0" marL="0">
              <a:buNone/>
            </a:pPr>
            <a:r>
              <a:rPr lang="en-US" sz="2500" dirty="0">
                <a:solidFill>
                  <a:srgbClr val="233432"/>
                </a:solidFill>
                <a:latin typeface="Aptos" pitchFamily="34" charset="0"/>
                <a:ea typeface="Aptos" pitchFamily="34" charset="-122"/>
                <a:cs typeface="Aptos" pitchFamily="34" charset="-120"/>
              </a:rPr>
              <a:t>    Error model, SAXS scale, and regularization assumptions</a:t>
            </a:r>
            <a:endParaRPr lang="en-US" sz="2500" dirty="0"/>
          </a:p>
        </p:txBody>
      </p:sp>
      <p:sp>
        <p:nvSpPr>
          <p:cNvPr id="8" name="Text 5"/>
          <p:cNvSpPr/>
          <p:nvPr/>
        </p:nvSpPr>
        <p:spPr>
          <a:xfrm>
            <a:off x="640080" y="3063240"/>
            <a:ext cx="10972800" cy="1005840"/>
          </a:xfrm>
          <a:prstGeom prst="rect">
            <a:avLst/>
          </a:prstGeom>
          <a:noFill/>
          <a:ln/>
        </p:spPr>
        <p:txBody>
          <a:bodyPr wrap="square" lIns="0" tIns="0" rIns="0" bIns="0" rtlCol="0" anchor="ctr"/>
          <a:lstStyle/>
          <a:p>
            <a:pPr indent="0" marL="0">
              <a:buNone/>
            </a:pPr>
            <a:r>
              <a:rPr lang="en-US" sz="2500" dirty="0">
                <a:solidFill>
                  <a:srgbClr val="233432"/>
                </a:solidFill>
                <a:latin typeface="Aptos" pitchFamily="34" charset="0"/>
                <a:ea typeface="Aptos" pitchFamily="34" charset="-122"/>
                <a:cs typeface="Aptos" pitchFamily="34" charset="-120"/>
              </a:rPr>
              <a:t>2  Choose the next evidence gap</a:t>
            </a:r>
            <a:endParaRPr lang="en-US" sz="2500" dirty="0"/>
          </a:p>
          <a:p>
            <a:pPr indent="0" marL="0">
              <a:buNone/>
            </a:pPr>
            <a:r>
              <a:rPr lang="en-US" sz="2500" dirty="0">
                <a:solidFill>
                  <a:srgbClr val="233432"/>
                </a:solidFill>
                <a:latin typeface="Aptos" pitchFamily="34" charset="0"/>
                <a:ea typeface="Aptos" pitchFamily="34" charset="-122"/>
                <a:cs typeface="Aptos" pitchFamily="34" charset="-120"/>
              </a:rPr>
              <a:t>    NOE statistics or coordinate-based shape analysis</a:t>
            </a:r>
            <a:endParaRPr lang="en-US" sz="2500" dirty="0"/>
          </a:p>
        </p:txBody>
      </p:sp>
      <p:sp>
        <p:nvSpPr>
          <p:cNvPr id="9" name="Text 6"/>
          <p:cNvSpPr/>
          <p:nvPr/>
        </p:nvSpPr>
        <p:spPr>
          <a:xfrm>
            <a:off x="640080" y="4480560"/>
            <a:ext cx="10972800" cy="1005840"/>
          </a:xfrm>
          <a:prstGeom prst="rect">
            <a:avLst/>
          </a:prstGeom>
          <a:noFill/>
          <a:ln/>
        </p:spPr>
        <p:txBody>
          <a:bodyPr wrap="square" lIns="0" tIns="0" rIns="0" bIns="0" rtlCol="0" anchor="ctr"/>
          <a:lstStyle/>
          <a:p>
            <a:pPr indent="0" marL="0">
              <a:buNone/>
            </a:pPr>
            <a:r>
              <a:rPr lang="en-US" sz="2500" dirty="0">
                <a:solidFill>
                  <a:srgbClr val="233432"/>
                </a:solidFill>
                <a:latin typeface="Aptos" pitchFamily="34" charset="0"/>
                <a:ea typeface="Aptos" pitchFamily="34" charset="-122"/>
                <a:cs typeface="Aptos" pitchFamily="34" charset="-120"/>
              </a:rPr>
              <a:t>3  Define a fair test of Rules value</a:t>
            </a:r>
            <a:endParaRPr lang="en-US" sz="2500" dirty="0"/>
          </a:p>
          <a:p>
            <a:pPr indent="0" marL="0">
              <a:buNone/>
            </a:pPr>
            <a:r>
              <a:rPr lang="en-US" sz="2500" dirty="0">
                <a:solidFill>
                  <a:srgbClr val="233432"/>
                </a:solidFill>
                <a:latin typeface="Aptos" pitchFamily="34" charset="0"/>
                <a:ea typeface="Aptos" pitchFamily="34" charset="-122"/>
                <a:cs typeface="Aptos" pitchFamily="34" charset="-120"/>
              </a:rPr>
              <a:t>    Fresh source; equal tools and preparation budget</a:t>
            </a:r>
            <a:endParaRPr lang="en-US" sz="2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Does a better SAXS fit improve NOE predictions?</dc:title>
  <dc:subject>Conditional cross-observable analysis</dc:subject>
  <dc:creator>Dynamics Atlas</dc:creator>
  <cp:lastModifiedBy>Dynamics Atlas</cp:lastModifiedBy>
  <cp:revision>1</cp:revision>
  <dcterms:created xsi:type="dcterms:W3CDTF">2026-09-09T11:40:31Z</dcterms:created>
  <dcterms:modified xsi:type="dcterms:W3CDTF">2026-09-09T11:40:31Z</dcterms:modified>
</cp:coreProperties>
</file>