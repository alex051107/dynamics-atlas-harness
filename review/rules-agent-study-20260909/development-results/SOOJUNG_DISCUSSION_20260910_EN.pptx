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time you knew I was building a Rules Table prototype. Today I want to discuss how the whole system should be built. I'll show the original idea, the workflow a new system goes through, what happened when three real systems went through it, what each layer of the table measured, and three design options for the table. Headline first: putting rules into the AI's prompt did not help. The errors we made were at data entry and at the numbers going out. The one layer that met its criterion was framing the question explicitly, and that part is done by a person.
GOAL: (1) is the workflow reasonable; (2) are the three systems right; (3) which form of the table to build toward.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was the idea from July. A question and a data package come in. The AI analyst, I'll call it the Agent, consults a table of rules distilled from methods papers. The rules tell it which operations to run, which extra analyses to add, and where it must stop and abstain. The table has 33 rules from 11 papers, three per paper. Each rule stores what the paper showed, what we must check before using that kind of data, what the check needs, and where to stop. Bottom right is one rule verbatim, from Shevchuk's Bayesian SAXS paper.
GRILL "who wrote them": I did, in August, from deep reads. An external review on 17 August asked to keep the table as a reviewable ledger, not an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Left to right. Intake: download the authors' deposited data and write a source card, a one-page record of paper, SI, README, frame counts, units. Package: derived tables such as per-frame distances, field definitions, physical checks, then freeze. Freezing means hashing question, grading key and code before the first model call so nothing is tuned afterwards. Frame: a person decides which difference the question must distinguish and writes the grading key, the list of what a correct answer must contain. Run: the Agent works in a sealed container. Check: automatic checks on what it submitted. Report: every number linked to source, the claim limit in words. The bottom row shows where the table can act: data checks at step 2, question framing at step 3, method guidance at step 4, conclusion checks at step 5. Version one, July to early September, used the table only at step 4, as text pasted into the prompt. The three systems went through that version.
GRILL "where is the person": steps 1, 3, 6. Step 3 cannot be delegated: the competing explanations.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the systems, the vocabulary. Four cases appear in this talk. HSP90, DHFR and ADK are the systems you named; the nanodisc is a development case from Bengtsen's paper that we used in September to check that the Agent can compute at all, and it reappears in the later tests. The criterion I propose for a system: it needs MD plus an experiment that constrains the very difference the question is about; by that criterion only HSP90 fully qualifies, and I will come back to that on slide 17. The comparison design is always the same: same question, two or three conditions, four fresh runs per condition. A condition, or arm, differs in exactly one thing, for example rules in the prompt or not. Answers are scored against a grading key written from the public question, the data and the paper, frozen before the first run, never from the rules. Each question has five core units, the pieces a correct answer must contain, and we count units correct, errors, overclaims and omissions. Scoring is done on de-labelled answers and compared as medians of four.
GRILL "why four": enough for an investment decision, not for a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the paper is. Henot and colleagues combine NMR with forty one-microsecond MD trajectories, twenty from the open crystal structure and twenty from a closed model, to argue that the closed state of the N-terminal domain is transiently populated. They classify the twenty closed-start runs as seven near-closed, about nine toward open, four neither, using NOE violations and clustering. They report millisecond exchange from CPMG and do not claim populations from MD. What we asked: does a trajectory show a sustained open direction, defined as the sign of two difference readouts staying open for five consecutive saved points, and does it ever reverse. The figure: of twenty closed-start runs, ten show a sustained open direction, five from the start and five later; ten never do; five later reverse. Open-start: none reverse. Same data, different question, so our ten need not match their nine.
GRILL "why 5 points": pre-registered 5, 20, 50; the reversal count 5/4/1 falls with the threshold because the threshold also changes which segment counts as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"Open direction" is the sign of a difference and says nothing about reaching the open state. So we compared every trajectory's last hundred points with the authors' deposited NOE violation series for both references. The scatter: x is violation of the closed references, y of the open references; near the left edge means near closed, near the bottom means near open. Open-start controls, the squares, sit at the bottom: eighteen of twenty within 1 Å of the open references, which is what validates the tolerance. The dark circles, our ten open-direction runs, have left the closed side but only one is partially within the open tolerance and none fully; nine are far from both. Leaving closed and arriving at open are two different questions. This agrees with the paper's phrase that these runs almost satisfy the open NOEs. What the system-level result is: the Agent reproduced direction counts; nothing in the rules made it ask "did it arrive". A person added that question. That is the framing use of the table.
GRILL "why 1 Å": pre-registered 0.5, 1, 2. At 0.5 the controls drop to 7 of 20; at 2 Å three candidates become consistent. All three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was the first real use of the table, version one. Same question, four answers: two with only the data, two with the selected rules rendered into the prompt, seven rules, eight obligations, about 7,600 characters. Three of four got the main counts right; one mixed the five-point and fifty-point thresholds and did no calculation. The two rule answers were not more accurate, and both added requirements that belong to single-molecule FRET: an RMP restraint, a prior ensemble, a fit objective. Those came from a FRET calibration rule and a FRET-assisted modeling rule. The selector matched them because it works by method family, so a generic "MD uncertainty" check got mapped onto FRET-specific text. That is a concrete harm of the prompt form, not a vague one. Two runs per arm is not a verdict on rules; it was enough to stop expanding this form and to ask where the errors actually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the paper is. Trimethoprim loses potency against the L28R mutant of DHFR; the analog 4′-DTMP recovers it. Their Table 1 inhibition constants: wild type 4.2 versus 5.1 nanomolar, L28R 65 versus 34. Their MD explanation: 4′-DTMP sits closer to atoms of the M20 loop and arginine 28. What we asked: the specified protein–ligand atom distances, one trajectory per condition, 990 frames. The figure: left is the frozen table, built from stored coordinates; a whole cluster of frames sits at fifty to ninety ångström. That is not a conformation; the ligand copy in a neighbouring periodic image was measured. Both Agent answers used these numbers; one called the tail conformational switching. Right is the corrected table, nearest periodic ligand image, cross-checked with VMD to ten to the minus five. M20 nitrogen to ligand O3P goes from 8.7 to 4.6 in wild type and 10.4 to 4.8 in L28R when TMP becomes 4′-DTMP; all six specified pairs move the same way as the paper's Figure 4. Gap: the paper frames hydrogen bonds; we have mean distances, no angles, one run each. Lesson: no rule text catches an input artifact. The check must sit at step 2, in code, before freezing. This was a preparation defect on my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the paper is. Photorelease of ATP, time-resolved X-ray solution scattering, a transient of about 4.3 milliseconds, interpreted with MD-derived candidate structures. The deposited MD: two trajectories, open-start 450 nanoseconds and closed-start 335, and no ATP or AMP in the coordinates. What we asked, the one thing computable: mean C-alpha distances between the LID or NMP domain and the CORE, comparing the first and last ten percent of frames, the shaded windows. All four changes are positive, the distributions overlap, and neither run shows both domains closing together. Gap: no ligand, no scattering recomputed, nanoseconds against milliseconds; this does not test the paper's mechanism. The system lesson concerns my own rule. After DHFR I wrote a data check: any distance above half the box length fails. Open ADK spans 56 ångström along one axis in a 98 to 100 ångström box, so C-alpha distances of 62 and 70 ångström are real, and GROMACS reproduces them. The rule was replaced by a physical criterion. Framing also helped here: the split version of the ADK question scored five of five.
GRILL "why keep ADK": only system the rules and the selector had never seen; and the one you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testing the four uses we audited every answer we had: eight answers, thirteen observations, seven underlying causes, so correlated observations rather than thirteen independent cases. Grouped by the workflow step where each lives: input representation, numbers read from the wrong column or threshold, the sign of a difference read as arrival, imported conditions. Reminder text prevents none. Code before freezing or after submission could plausibly prevent most; two need the question asked better. That was a candidate attribution; the tests on the next slides check it. One detail for later: three of the thirteen were caught when we replayed the DHFR input checks; the conclusion checker on slide 15 caught zero of the seven numeric ones. Different subsets, both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the tests, what one run is. A fresh container: no network, data read-only, five tools, and a submit call that ends the answer; ordinary text afterwards never overwrites it. The model is gpt-5.6-luna at medium reasoning. A typical run is twelve to twenty tool calls, about a minute, under two cents. It genuinely computes: it matched all ninety SAXS points in the nanodisc case and reproduced the four ADK window changes to four decimals. So the cost of an experiment is scoring time, not money. Why the Agent stays: goal four asks whether an agent can lower curation cost without adding unsafe claims; it is the last goal and allowed to fail on its own. The open question is not "can it analyse". It is what information given to it produces a measurable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current design and a direct answer to the original question of how the Agent should use the table. Framing: six rules become sub-questions and the grading key, never shown to the Agent. Data checks: ten rules become code before freezing, reaching the Agent only as a card of results. Method cards: eleven rules become short cards retrieved by method family, the only rule text the Agent reads. Conclusion checks: six rules become an automatic check after submission with one feedback message. Each use changes exactly one thing about what the Agent receives, so each can be tested on its own. The order follows the ensemble blog by Li, Thomasen and Cossio: decide which difference to distinguish, confirm it survives measurement and processing, then choose the method.
GRILL "is the split arbitrary": it follows the rule_class field in the table; the assignment is in the appendix and can be argued rule by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reasoning behind the three questions we measured. Framing: from HSP90 we knew the Agent answered the direction question but never the arrival question; if framing helps, splitting the question raises supported coverage without adding overclaims. Data checks: from DHFR we knew a bad table passed; the checker was tried on six planted defects and three clean packages, and the Agent was given or not given the card on the defective table; if the card helps, it downgrades its conclusions. Method cards: from HSP90 we knew full rules imported conditions; if cards help, they keep accuracy and stop the imports, judged against a seven-line protocol and the full rules. Conclusion checks: from the threshold mix-up and the nanodisc bound array we knew numbers went out wrong; if the check helps, one automated pass reduces core errors without more omissions. Same model, four runs per condition, frozen, de-labelled scoring, medians of four.
GRILL "who scored": the same agent that prepared the cases, with labels masked, one scorer. Biggest limitation, stated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rows. Framing: coverage HSP90 2 to 2.5 of 3, ADK 2 to 3 of 3, no new overclaims; keep. Two caveats: HSP90's total errors across four runs went 1 to 2, so the gain is completeness, not uniformly accuracy; and the sub-questions were written by a person, so this is a gain of the person-plus-Agent workflow, not of the Agent alone. Data checks: the checker caught all six planted defects, but the Agent detected the DHFR defect zero of four times with the card and zero of four without. Method cards: on HSP90 the plain protocol scored 4.5 of 5, full rules 2, cards 2.5; on the nanodisc question 4.5, 5, 4.5. Cards failed. The exception to keep on record: full rules were best on the nanodisc question, all four answers covered all five units. Feedback: only ADK improved, and that difference already existed in the initial drafts; no revision reduced its own error count; three lost content.
GRILL "so rules are useless": the prompt form is not supported. The library is still the raw material for checks and cards, and Q05 is one case where the full text helped. What cannot be claimed is a stable 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mechanisms, each pointing at a specific repair. The card was available but never opened: a file is not a channel. Retrieval by method family gave HSP90 one card, a BME reweighting card, for a task that compares deposited violations and fits nothing; BME, Bayesian maximum entropy, adjusts the weights of existing conformations to match experiment, and reading deposited NOE violations creates no such obligation; DHFR and ADK retrieved zero cards, because the eleven papers do not cover pure-MD questions. The conclusion checker asks whether a number appears in the tool output; in the nanodisc case the wrong bound array was written to the log first, so the wrong 4.35 ångström passed; on eight historical answers it caught zero of seven known numeric errors and raised one false alarm on the minus one in inverse ångström.
GRILL "why not a stronger model": the worst errors are in inputs the model cannot see, and number errors need recomputation from raw quantities; both are pipeline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Back to the original idea: an Agent that enters the table and follows rules to choose operations and extra analyses. Three forms of that. Form one: keep the four uses and repair each with the mechanism from the previous slide, then retest on new questions; it assumes the failures were implementation, not concept. Form two: the rules serve the people who write the protocol and the grading key; the Agent gets a seven-line protocol only. This has the strongest evidence today, the protocol arm was never worse, but it gives up the original idea. Form three: each rule becomes the configuration of a deterministic operator, a data check, a computation, a claim-limit test; the Agent proposes which operator to call, code executes it and bounds the claim, and the Agent never reads rule text. The bridge from evidence to this form is the mechanisms: the checks that actually mattered, DHFR and ADK, were physical and executable, and the failures were all about text, delivery, applicability, string matching. It is closest to the original idea and to that lesson, but none of it has been built or tested. My lean: build toward three, keep two as the baseline every version must beat on new questions. Your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Back to the criterion: MD plus an experiment that constrains the difference the question is about. HSP90 has two NOE references and CPMG; it fully qualifies and gave the one real cross-source result. DHFR has kinetics only; it tested the workflow, not the science, and exposed the missing data check. ADK has time-resolved scattering, but the deposited MD is ligand-free and nanoseconds against milliseconds; it broke my data check, framing helped on it, and it is the only system the rules had never seen. Question for you: is this the right criterion, and is there a fourth system with MD plus NMR, SAXS or single-molecule FRET data that constrains populations, ideally from the group's own work?
GRILL "drop DHFR": as a science system yes; as a workflow regression test it earned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sentences. The three systems produced bounded, checkable results; HSP90 is the strongest and a real cross-source comparison. The table as prompt text did not earn its place; its content is still the raw material for executable checks and operation-indexed guidance, and framing the question explicitly, by a person, is the one use that measurably helped. The next build should put physical data checks inside preparation, make rules executable where they can be, and be tested against the seven-line protocol on new questions with independent scoring. Three decisions from you: is the workflow on slide 3 reasonable; which form of the table should we build toward; are these the right three systems, and is there a fourth.
Leave this slide up for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p:nvPr/>
        </p:nvSpPr>
        <p:spPr>
          <a:xfrm>
            <a:off x="640080" y="1005840"/>
            <a:ext cx="7863840" cy="1188720"/>
          </a:xfrm>
          <a:prstGeom prst="rect">
            <a:avLst/>
          </a:prstGeom>
          <a:noFill/>
          <a:ln/>
        </p:spPr>
        <p:txBody>
          <a:bodyPr wrap="square" rtlCol="0" anchor="t"/>
          <a:lstStyle/>
          <a:p>
            <a:pPr indent="0" marL="0">
              <a:buNone/>
            </a:pPr>
            <a:r>
              <a:rPr lang="en-US" sz="3000" b="1" dirty="0">
                <a:solidFill>
                  <a:srgbClr val="FFFFFF"/>
                </a:solidFill>
                <a:latin typeface="Arial" pitchFamily="34" charset="0"/>
                <a:ea typeface="Arial" pitchFamily="34" charset="-122"/>
                <a:cs typeface="Arial" pitchFamily="34" charset="-120"/>
              </a:rPr>
              <a:t>Dynamics Atlas: the Rules Table, tested on three systems</a:t>
            </a:r>
            <a:endParaRPr lang="en-US" sz="3000" dirty="0"/>
          </a:p>
        </p:txBody>
      </p:sp>
      <p:sp>
        <p:nvSpPr>
          <p:cNvPr id="3" name="Text 1"/>
          <p:cNvSpPr/>
          <p:nvPr/>
        </p:nvSpPr>
        <p:spPr>
          <a:xfrm>
            <a:off x="640080" y="2194560"/>
            <a:ext cx="7863840" cy="822960"/>
          </a:xfrm>
          <a:prstGeom prst="rect">
            <a:avLst/>
          </a:prstGeom>
          <a:noFill/>
          <a:ln/>
        </p:spPr>
        <p:txBody>
          <a:bodyPr wrap="square" rtlCol="0" anchor="ctr"/>
          <a:lstStyle/>
          <a:p>
            <a:pPr indent="0" marL="0">
              <a:buNone/>
            </a:pPr>
            <a:r>
              <a:rPr lang="en-US" sz="1500" dirty="0">
                <a:solidFill>
                  <a:srgbClr val="A0BBDD"/>
                </a:solidFill>
                <a:latin typeface="Arial" pitchFamily="34" charset="0"/>
                <a:ea typeface="Arial" pitchFamily="34" charset="-122"/>
                <a:cs typeface="Arial" pitchFamily="34" charset="-120"/>
              </a:rPr>
              <a:t>What the table was meant to do, how three real systems went through the workflow,</a:t>
            </a:r>
            <a:endParaRPr lang="en-US" sz="1500" dirty="0"/>
          </a:p>
          <a:p>
            <a:pPr indent="0" marL="0">
              <a:buNone/>
            </a:pPr>
            <a:r>
              <a:rPr lang="en-US" sz="1500" dirty="0">
                <a:solidFill>
                  <a:srgbClr val="A0BBDD"/>
                </a:solidFill>
                <a:latin typeface="Arial" pitchFamily="34" charset="0"/>
                <a:ea typeface="Arial" pitchFamily="34" charset="-122"/>
                <a:cs typeface="Arial" pitchFamily="34" charset="-120"/>
              </a:rPr>
              <a:t>what each layer measured, and how the system should be built from here</a:t>
            </a:r>
            <a:endParaRPr lang="en-US" sz="1500" dirty="0"/>
          </a:p>
        </p:txBody>
      </p:sp>
      <p:sp>
        <p:nvSpPr>
          <p:cNvPr id="4" name="Text 2"/>
          <p:cNvSpPr/>
          <p:nvPr/>
        </p:nvSpPr>
        <p:spPr>
          <a:xfrm>
            <a:off x="640080" y="3200400"/>
            <a:ext cx="7863840" cy="365760"/>
          </a:xfrm>
          <a:prstGeom prst="rect">
            <a:avLst/>
          </a:prstGeom>
          <a:noFill/>
          <a:ln/>
        </p:spPr>
        <p:txBody>
          <a:bodyPr wrap="square" rtlCol="0" anchor="ctr"/>
          <a:lstStyle/>
          <a:p>
            <a:pPr indent="0" marL="0">
              <a:buNone/>
            </a:pPr>
            <a:r>
              <a:rPr lang="en-US" sz="1500" dirty="0">
                <a:solidFill>
                  <a:srgbClr val="FFFFFF"/>
                </a:solidFill>
                <a:latin typeface="Arial" pitchFamily="34" charset="0"/>
                <a:ea typeface="Arial" pitchFamily="34" charset="-122"/>
                <a:cs typeface="Arial" pitchFamily="34" charset="-120"/>
              </a:rPr>
              <a:t>Zhenpeng Liu · discussion with Soojung · 10 September 2026</a:t>
            </a:r>
            <a:endParaRPr lang="en-US" sz="1500" dirty="0"/>
          </a:p>
        </p:txBody>
      </p:sp>
      <p:sp>
        <p:nvSpPr>
          <p:cNvPr id="5" name="Text 3"/>
          <p:cNvSpPr/>
          <p:nvPr/>
        </p:nvSpPr>
        <p:spPr>
          <a:xfrm>
            <a:off x="640080" y="4023360"/>
            <a:ext cx="7863840" cy="548640"/>
          </a:xfrm>
          <a:prstGeom prst="rect">
            <a:avLst/>
          </a:prstGeom>
          <a:noFill/>
          <a:ln/>
        </p:spPr>
        <p:txBody>
          <a:bodyPr wrap="square" rtlCol="0" anchor="ctr"/>
          <a:lstStyle/>
          <a:p>
            <a:pPr indent="0" marL="0">
              <a:buNone/>
            </a:pPr>
            <a:r>
              <a:rPr lang="en-US" sz="1250" dirty="0">
                <a:solidFill>
                  <a:srgbClr val="A0BBDD"/>
                </a:solidFill>
                <a:latin typeface="Arial" pitchFamily="34" charset="0"/>
                <a:ea typeface="Arial" pitchFamily="34" charset="-122"/>
                <a:cs typeface="Arial" pitchFamily="34" charset="-120"/>
              </a:rPr>
              <a:t>The idea and the workflow (6 min) · three systems through it (10) · what each layer measured (7) · how to build it: discussion (7)</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The original idea: an AI analyst enters the Rules Table and follows the rules to choose operations and extra analyses</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rule_registry.tsv v0.1; 11 papers (Hellenkamp 2018 … Wankowicz &amp; Bonomi 2026); external review 17 Aug 2026</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a:t>
            </a:r>
            <a:endParaRPr lang="en-US" sz="1000" dirty="0"/>
          </a:p>
        </p:txBody>
      </p:sp>
      <p:sp>
        <p:nvSpPr>
          <p:cNvPr id="6" name="Shape 3"/>
          <p:cNvSpPr/>
          <p:nvPr/>
        </p:nvSpPr>
        <p:spPr>
          <a:xfrm>
            <a:off x="457200" y="1234440"/>
            <a:ext cx="1417320" cy="777240"/>
          </a:xfrm>
          <a:prstGeom prst="rect">
            <a:avLst/>
          </a:prstGeom>
          <a:solidFill>
            <a:srgbClr val="E8EEF5"/>
          </a:solidFill>
          <a:ln w="12700">
            <a:solidFill>
              <a:srgbClr val="E8EEF5"/>
            </a:solidFill>
            <a:prstDash val="solid"/>
          </a:ln>
        </p:spPr>
      </p:sp>
      <p:sp>
        <p:nvSpPr>
          <p:cNvPr id="7" name="Text 4"/>
          <p:cNvSpPr/>
          <p:nvPr/>
        </p:nvSpPr>
        <p:spPr>
          <a:xfrm>
            <a:off x="457200" y="1234440"/>
            <a:ext cx="1417320" cy="777240"/>
          </a:xfrm>
          <a:prstGeom prst="rect">
            <a:avLst/>
          </a:prstGeom>
          <a:noFill/>
          <a:ln/>
        </p:spPr>
        <p:txBody>
          <a:bodyPr wrap="square" lIns="38100" tIns="38100" rIns="38100" bIns="38100" rtlCol="0" anchor="ctr"/>
          <a:lstStyle/>
          <a:p>
            <a:pPr algn="ctr" indent="0" marL="0">
              <a:buNone/>
            </a:pPr>
            <a:r>
              <a:rPr lang="en-US" sz="1150" dirty="0">
                <a:solidFill>
                  <a:srgbClr val="1F4E79"/>
                </a:solidFill>
                <a:latin typeface="Arial" pitchFamily="34" charset="0"/>
                <a:ea typeface="Arial" pitchFamily="34" charset="-122"/>
                <a:cs typeface="Arial" pitchFamily="34" charset="-120"/>
              </a:rPr>
              <a:t>New system:</a:t>
            </a:r>
            <a:endParaRPr lang="en-US" sz="1150" dirty="0"/>
          </a:p>
          <a:p>
            <a:pPr algn="ctr" indent="0" marL="0">
              <a:buNone/>
            </a:pPr>
            <a:r>
              <a:rPr lang="en-US" sz="1150" dirty="0">
                <a:solidFill>
                  <a:srgbClr val="1F4E79"/>
                </a:solidFill>
                <a:latin typeface="Arial" pitchFamily="34" charset="0"/>
                <a:ea typeface="Arial" pitchFamily="34" charset="-122"/>
                <a:cs typeface="Arial" pitchFamily="34" charset="-120"/>
              </a:rPr>
              <a:t>question + data</a:t>
            </a:r>
            <a:endParaRPr lang="en-US" sz="1150" dirty="0"/>
          </a:p>
        </p:txBody>
      </p:sp>
      <p:sp>
        <p:nvSpPr>
          <p:cNvPr id="8" name="Shape 5"/>
          <p:cNvSpPr/>
          <p:nvPr/>
        </p:nvSpPr>
        <p:spPr>
          <a:xfrm>
            <a:off x="1920240" y="1508760"/>
            <a:ext cx="274320" cy="237744"/>
          </a:xfrm>
          <a:prstGeom prst="rightArrow">
            <a:avLst/>
          </a:prstGeom>
          <a:solidFill>
            <a:srgbClr val="CCCCCC"/>
          </a:solidFill>
          <a:ln w="12700">
            <a:solidFill>
              <a:srgbClr val="CCCCCC"/>
            </a:solidFill>
            <a:prstDash val="solid"/>
          </a:ln>
        </p:spPr>
      </p:sp>
      <p:sp>
        <p:nvSpPr>
          <p:cNvPr id="9" name="Shape 6"/>
          <p:cNvSpPr/>
          <p:nvPr/>
        </p:nvSpPr>
        <p:spPr>
          <a:xfrm>
            <a:off x="2240280" y="1234440"/>
            <a:ext cx="1554480" cy="777240"/>
          </a:xfrm>
          <a:prstGeom prst="rect">
            <a:avLst/>
          </a:prstGeom>
          <a:solidFill>
            <a:srgbClr val="FFF2CC"/>
          </a:solidFill>
          <a:ln w="12700">
            <a:solidFill>
              <a:srgbClr val="E6D48A"/>
            </a:solidFill>
            <a:prstDash val="solid"/>
          </a:ln>
        </p:spPr>
      </p:sp>
      <p:sp>
        <p:nvSpPr>
          <p:cNvPr id="10" name="Text 7"/>
          <p:cNvSpPr/>
          <p:nvPr/>
        </p:nvSpPr>
        <p:spPr>
          <a:xfrm>
            <a:off x="2240280" y="1234440"/>
            <a:ext cx="1554480" cy="777240"/>
          </a:xfrm>
          <a:prstGeom prst="rect">
            <a:avLst/>
          </a:prstGeom>
          <a:noFill/>
          <a:ln/>
        </p:spPr>
        <p:txBody>
          <a:bodyPr wrap="square" lIns="38100" tIns="38100" rIns="38100" bIns="38100" rtlCol="0" anchor="ctr"/>
          <a:lstStyle/>
          <a:p>
            <a:pPr algn="ctr" indent="0" marL="0">
              <a:buNone/>
            </a:pPr>
            <a:r>
              <a:rPr lang="en-US" sz="1150" b="1" dirty="0">
                <a:solidFill>
                  <a:srgbClr val="2D2D2D"/>
                </a:solidFill>
                <a:latin typeface="Arial" pitchFamily="34" charset="0"/>
                <a:ea typeface="Arial" pitchFamily="34" charset="-122"/>
                <a:cs typeface="Arial" pitchFamily="34" charset="-120"/>
              </a:rPr>
              <a:t>Rules Table</a:t>
            </a:r>
            <a:endParaRPr lang="en-US" sz="1150" dirty="0"/>
          </a:p>
          <a:p>
            <a:pPr algn="ctr" indent="0" marL="0">
              <a:buNone/>
            </a:pPr>
            <a:r>
              <a:rPr lang="en-US" sz="1150" b="1" dirty="0">
                <a:solidFill>
                  <a:srgbClr val="2D2D2D"/>
                </a:solidFill>
                <a:latin typeface="Arial" pitchFamily="34" charset="0"/>
                <a:ea typeface="Arial" pitchFamily="34" charset="-122"/>
                <a:cs typeface="Arial" pitchFamily="34" charset="-120"/>
              </a:rPr>
              <a:t>33 rules / 11 papers</a:t>
            </a:r>
            <a:endParaRPr lang="en-US" sz="1150" dirty="0"/>
          </a:p>
        </p:txBody>
      </p:sp>
      <p:sp>
        <p:nvSpPr>
          <p:cNvPr id="11" name="Shape 8"/>
          <p:cNvSpPr/>
          <p:nvPr/>
        </p:nvSpPr>
        <p:spPr>
          <a:xfrm>
            <a:off x="3840480" y="1508760"/>
            <a:ext cx="274320" cy="237744"/>
          </a:xfrm>
          <a:prstGeom prst="rightArrow">
            <a:avLst/>
          </a:prstGeom>
          <a:solidFill>
            <a:srgbClr val="CCCCCC"/>
          </a:solidFill>
          <a:ln w="12700">
            <a:solidFill>
              <a:srgbClr val="CCCCCC"/>
            </a:solidFill>
            <a:prstDash val="solid"/>
          </a:ln>
        </p:spPr>
      </p:sp>
      <p:sp>
        <p:nvSpPr>
          <p:cNvPr id="12" name="Shape 9"/>
          <p:cNvSpPr/>
          <p:nvPr/>
        </p:nvSpPr>
        <p:spPr>
          <a:xfrm>
            <a:off x="4160520" y="1234440"/>
            <a:ext cx="1737360" cy="777240"/>
          </a:xfrm>
          <a:prstGeom prst="rect">
            <a:avLst/>
          </a:prstGeom>
          <a:solidFill>
            <a:srgbClr val="E8EEF5"/>
          </a:solidFill>
          <a:ln w="12700">
            <a:solidFill>
              <a:srgbClr val="E8EEF5"/>
            </a:solidFill>
            <a:prstDash val="solid"/>
          </a:ln>
        </p:spPr>
      </p:sp>
      <p:sp>
        <p:nvSpPr>
          <p:cNvPr id="13" name="Text 10"/>
          <p:cNvSpPr/>
          <p:nvPr/>
        </p:nvSpPr>
        <p:spPr>
          <a:xfrm>
            <a:off x="4160520" y="1234440"/>
            <a:ext cx="1737360" cy="777240"/>
          </a:xfrm>
          <a:prstGeom prst="rect">
            <a:avLst/>
          </a:prstGeom>
          <a:noFill/>
          <a:ln/>
        </p:spPr>
        <p:txBody>
          <a:bodyPr wrap="square" lIns="38100" tIns="38100" rIns="38100" bIns="38100" rtlCol="0" anchor="ctr"/>
          <a:lstStyle/>
          <a:p>
            <a:pPr algn="ctr" indent="0" marL="0">
              <a:buNone/>
            </a:pPr>
            <a:r>
              <a:rPr lang="en-US" sz="1050" dirty="0">
                <a:solidFill>
                  <a:srgbClr val="1F4E79"/>
                </a:solidFill>
                <a:latin typeface="Arial" pitchFamily="34" charset="0"/>
                <a:ea typeface="Arial" pitchFamily="34" charset="-122"/>
                <a:cs typeface="Arial" pitchFamily="34" charset="-120"/>
              </a:rPr>
              <a:t>Agent follows rules:</a:t>
            </a:r>
            <a:endParaRPr lang="en-US" sz="1050" dirty="0"/>
          </a:p>
          <a:p>
            <a:pPr algn="ctr" indent="0" marL="0">
              <a:buNone/>
            </a:pPr>
            <a:r>
              <a:rPr lang="en-US" sz="1050" dirty="0">
                <a:solidFill>
                  <a:srgbClr val="1F4E79"/>
                </a:solidFill>
                <a:latin typeface="Arial" pitchFamily="34" charset="0"/>
                <a:ea typeface="Arial" pitchFamily="34" charset="-122"/>
                <a:cs typeface="Arial" pitchFamily="34" charset="-120"/>
              </a:rPr>
              <a:t>which operation, what</a:t>
            </a:r>
            <a:endParaRPr lang="en-US" sz="1050" dirty="0"/>
          </a:p>
          <a:p>
            <a:pPr algn="ctr" indent="0" marL="0">
              <a:buNone/>
            </a:pPr>
            <a:r>
              <a:rPr lang="en-US" sz="1050" dirty="0">
                <a:solidFill>
                  <a:srgbClr val="1F4E79"/>
                </a:solidFill>
                <a:latin typeface="Arial" pitchFamily="34" charset="0"/>
                <a:ea typeface="Arial" pitchFamily="34" charset="-122"/>
                <a:cs typeface="Arial" pitchFamily="34" charset="-120"/>
              </a:rPr>
              <a:t>extra analysis, when to stop</a:t>
            </a:r>
            <a:endParaRPr lang="en-US" sz="1050" dirty="0"/>
          </a:p>
        </p:txBody>
      </p:sp>
      <p:sp>
        <p:nvSpPr>
          <p:cNvPr id="14" name="Shape 11"/>
          <p:cNvSpPr/>
          <p:nvPr/>
        </p:nvSpPr>
        <p:spPr>
          <a:xfrm>
            <a:off x="5943600" y="1508760"/>
            <a:ext cx="274320" cy="237744"/>
          </a:xfrm>
          <a:prstGeom prst="rightArrow">
            <a:avLst/>
          </a:prstGeom>
          <a:solidFill>
            <a:srgbClr val="CCCCCC"/>
          </a:solidFill>
          <a:ln w="12700">
            <a:solidFill>
              <a:srgbClr val="CCCCCC"/>
            </a:solidFill>
            <a:prstDash val="solid"/>
          </a:ln>
        </p:spPr>
      </p:sp>
      <p:sp>
        <p:nvSpPr>
          <p:cNvPr id="15" name="Shape 12"/>
          <p:cNvSpPr/>
          <p:nvPr/>
        </p:nvSpPr>
        <p:spPr>
          <a:xfrm>
            <a:off x="6263640" y="1234440"/>
            <a:ext cx="1280160" cy="777240"/>
          </a:xfrm>
          <a:prstGeom prst="rect">
            <a:avLst/>
          </a:prstGeom>
          <a:solidFill>
            <a:srgbClr val="E8EEF5"/>
          </a:solidFill>
          <a:ln w="12700">
            <a:solidFill>
              <a:srgbClr val="E8EEF5"/>
            </a:solidFill>
            <a:prstDash val="solid"/>
          </a:ln>
        </p:spPr>
      </p:sp>
      <p:sp>
        <p:nvSpPr>
          <p:cNvPr id="16" name="Text 13"/>
          <p:cNvSpPr/>
          <p:nvPr/>
        </p:nvSpPr>
        <p:spPr>
          <a:xfrm>
            <a:off x="6263640" y="1234440"/>
            <a:ext cx="1280160" cy="777240"/>
          </a:xfrm>
          <a:prstGeom prst="rect">
            <a:avLst/>
          </a:prstGeom>
          <a:noFill/>
          <a:ln/>
        </p:spPr>
        <p:txBody>
          <a:bodyPr wrap="square" lIns="38100" tIns="38100" rIns="38100" bIns="38100" rtlCol="0" anchor="ctr"/>
          <a:lstStyle/>
          <a:p>
            <a:pPr algn="ctr" indent="0" marL="0">
              <a:buNone/>
            </a:pPr>
            <a:r>
              <a:rPr lang="en-US" sz="1150" dirty="0">
                <a:solidFill>
                  <a:srgbClr val="1F4E79"/>
                </a:solidFill>
                <a:latin typeface="Arial" pitchFamily="34" charset="0"/>
                <a:ea typeface="Arial" pitchFamily="34" charset="-122"/>
                <a:cs typeface="Arial" pitchFamily="34" charset="-120"/>
              </a:rPr>
              <a:t>Analysis +</a:t>
            </a:r>
            <a:endParaRPr lang="en-US" sz="1150" dirty="0"/>
          </a:p>
          <a:p>
            <a:pPr algn="ctr" indent="0" marL="0">
              <a:buNone/>
            </a:pPr>
            <a:r>
              <a:rPr lang="en-US" sz="1150" dirty="0">
                <a:solidFill>
                  <a:srgbClr val="1F4E79"/>
                </a:solidFill>
                <a:latin typeface="Arial" pitchFamily="34" charset="0"/>
                <a:ea typeface="Arial" pitchFamily="34" charset="-122"/>
                <a:cs typeface="Arial" pitchFamily="34" charset="-120"/>
              </a:rPr>
              <a:t>numbers</a:t>
            </a:r>
            <a:endParaRPr lang="en-US" sz="1150" dirty="0"/>
          </a:p>
        </p:txBody>
      </p:sp>
      <p:sp>
        <p:nvSpPr>
          <p:cNvPr id="17" name="Shape 14"/>
          <p:cNvSpPr/>
          <p:nvPr/>
        </p:nvSpPr>
        <p:spPr>
          <a:xfrm>
            <a:off x="7589520" y="1508760"/>
            <a:ext cx="274320" cy="237744"/>
          </a:xfrm>
          <a:prstGeom prst="rightArrow">
            <a:avLst/>
          </a:prstGeom>
          <a:solidFill>
            <a:srgbClr val="CCCCCC"/>
          </a:solidFill>
          <a:ln w="12700">
            <a:solidFill>
              <a:srgbClr val="CCCCCC"/>
            </a:solidFill>
            <a:prstDash val="solid"/>
          </a:ln>
        </p:spPr>
      </p:sp>
      <p:sp>
        <p:nvSpPr>
          <p:cNvPr id="18" name="Shape 15"/>
          <p:cNvSpPr/>
          <p:nvPr/>
        </p:nvSpPr>
        <p:spPr>
          <a:xfrm>
            <a:off x="7909560" y="1234440"/>
            <a:ext cx="777240" cy="777240"/>
          </a:xfrm>
          <a:prstGeom prst="rect">
            <a:avLst/>
          </a:prstGeom>
          <a:solidFill>
            <a:srgbClr val="F2F2F2"/>
          </a:solidFill>
          <a:ln w="12700">
            <a:solidFill>
              <a:srgbClr val="F2F2F2"/>
            </a:solidFill>
            <a:prstDash val="solid"/>
          </a:ln>
        </p:spPr>
      </p:sp>
      <p:sp>
        <p:nvSpPr>
          <p:cNvPr id="19" name="Text 16"/>
          <p:cNvSpPr/>
          <p:nvPr/>
        </p:nvSpPr>
        <p:spPr>
          <a:xfrm>
            <a:off x="7909560" y="1234440"/>
            <a:ext cx="777240" cy="777240"/>
          </a:xfrm>
          <a:prstGeom prst="rect">
            <a:avLst/>
          </a:prstGeom>
          <a:noFill/>
          <a:ln/>
        </p:spPr>
        <p:txBody>
          <a:bodyPr wrap="square" lIns="38100" tIns="38100" rIns="38100" bIns="38100" rtlCol="0" anchor="ctr"/>
          <a:lstStyle/>
          <a:p>
            <a:pPr algn="ctr" indent="0" marL="0">
              <a:buNone/>
            </a:pPr>
            <a:r>
              <a:rPr lang="en-US" sz="1100" dirty="0">
                <a:solidFill>
                  <a:srgbClr val="2D2D2D"/>
                </a:solidFill>
                <a:latin typeface="Arial" pitchFamily="34" charset="0"/>
                <a:ea typeface="Arial" pitchFamily="34" charset="-122"/>
                <a:cs typeface="Arial" pitchFamily="34" charset="-120"/>
              </a:rPr>
              <a:t>Bounded</a:t>
            </a:r>
            <a:endParaRPr lang="en-US" sz="1100" dirty="0"/>
          </a:p>
          <a:p>
            <a:pPr algn="ctr" indent="0" marL="0">
              <a:buNone/>
            </a:pPr>
            <a:r>
              <a:rPr lang="en-US" sz="1100" dirty="0">
                <a:solidFill>
                  <a:srgbClr val="2D2D2D"/>
                </a:solidFill>
                <a:latin typeface="Arial" pitchFamily="34" charset="0"/>
                <a:ea typeface="Arial" pitchFamily="34" charset="-122"/>
                <a:cs typeface="Arial" pitchFamily="34" charset="-120"/>
              </a:rPr>
              <a:t>answer</a:t>
            </a:r>
            <a:endParaRPr lang="en-US" sz="1100" dirty="0"/>
          </a:p>
        </p:txBody>
      </p:sp>
      <p:sp>
        <p:nvSpPr>
          <p:cNvPr id="20" name="Text 17"/>
          <p:cNvSpPr/>
          <p:nvPr/>
        </p:nvSpPr>
        <p:spPr>
          <a:xfrm>
            <a:off x="457200" y="2194560"/>
            <a:ext cx="365760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What one rule stores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487168"/>
          <a:ext cx="3931920" cy="914400"/>
        </p:xfrm>
        <a:graphic>
          <a:graphicData uri="http://schemas.openxmlformats.org/drawingml/2006/table">
            <a:tbl>
              <a:tblPr/>
              <a:tblGrid>
                <a:gridCol w="1371600"/>
                <a:gridCol w="2560320"/>
              </a:tblGrid>
              <a:tr h="274320">
                <a:tc>
                  <a:txBody>
                    <a:bodyPr/>
                    <a:lstStyle/>
                    <a:p>
                      <a:pPr indent="0" marL="0">
                        <a:buNone/>
                      </a:pPr>
                      <a:r>
                        <a:rPr lang="en-US" sz="1100" b="1" dirty="0">
                          <a:solidFill>
                            <a:srgbClr val="FFFFFF"/>
                          </a:solidFill>
                          <a:latin typeface="Arial" pitchFamily="34" charset="0"/>
                          <a:ea typeface="Arial" pitchFamily="34" charset="-122"/>
                          <a:cs typeface="Arial" pitchFamily="34" charset="-120"/>
                        </a:rPr>
                        <a:t>Field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Meaning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paper finding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what the paper actually showed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project rule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what we must check before using this kind of data</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required items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the pieces of information the check needs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stop route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where to stop if the check cannot be done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74320">
                <a:tc>
                  <a:txBody>
                    <a:bodyPr/>
                    <a:lstStyle/>
                    <a:p>
                      <a:pPr indent="0" marL="0">
                        <a:buNone/>
                      </a:pPr>
                      <a:r>
                        <a:rPr lang="en-US" sz="1100" dirty="0">
                          <a:solidFill>
                            <a:srgbClr val="2D2D2D"/>
                          </a:solidFill>
                          <a:latin typeface="Arial" pitchFamily="34" charset="0"/>
                          <a:ea typeface="Arial" pitchFamily="34" charset="-122"/>
                          <a:cs typeface="Arial" pitchFamily="34" charset="-120"/>
                        </a:rPr>
                        <a:t>transfer scope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how far the lesson carries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22" name="Text 18"/>
          <p:cNvSpPr/>
          <p:nvPr/>
        </p:nvSpPr>
        <p:spPr>
          <a:xfrm>
            <a:off x="4663440" y="2194560"/>
            <a:ext cx="402336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One rule verbatim (C006-RULE-003, Shevchuk 2017)</a:t>
            </a:r>
            <a:endParaRPr lang="en-US" sz="1200" dirty="0"/>
          </a:p>
        </p:txBody>
      </p:sp>
      <p:sp>
        <p:nvSpPr>
          <p:cNvPr id="23" name="Text 19"/>
          <p:cNvSpPr/>
          <p:nvPr/>
        </p:nvSpPr>
        <p:spPr>
          <a:xfrm>
            <a:off x="4663440" y="2487168"/>
            <a:ext cx="4023360" cy="2103120"/>
          </a:xfrm>
          <a:prstGeom prst="rect">
            <a:avLst/>
          </a:prstGeom>
          <a:noFill/>
          <a:ln/>
        </p:spPr>
        <p:txBody>
          <a:bodyPr wrap="square" rtlCol="0" anchor="t"/>
          <a:lstStyle/>
          <a:p>
            <a:pPr indent="0" marL="0">
              <a:spcAft>
                <a:spcPts val="500"/>
              </a:spcAft>
              <a:buNone/>
            </a:pPr>
            <a:r>
              <a:rPr lang="en-US" sz="1100" b="1" dirty="0">
                <a:solidFill>
                  <a:srgbClr val="2D2D2D"/>
                </a:solidFill>
                <a:latin typeface="Arial" pitchFamily="34" charset="0"/>
                <a:ea typeface="Arial" pitchFamily="34" charset="-122"/>
                <a:cs typeface="Arial" pitchFamily="34" charset="-120"/>
              </a:rPr>
              <a:t>Finding: </a:t>
            </a:r>
            <a:pPr indent="0" marL="0">
              <a:spcAft>
                <a:spcPts val="500"/>
              </a:spcAft>
              <a:buNone/>
            </a:pPr>
            <a:r>
              <a:rPr lang="en-US" sz="1100" dirty="0">
                <a:solidFill>
                  <a:srgbClr val="2D2D2D"/>
                </a:solidFill>
                <a:latin typeface="Arial" pitchFamily="34" charset="0"/>
                <a:ea typeface="Arial" pitchFamily="34" charset="-122"/>
                <a:cs typeface="Arial" pitchFamily="34" charset="-120"/>
              </a:rPr>
              <a:t>if the candidate structures omit a state, Bayesian SAXS refinement can express uncertainty within the wrong set but cannot create the missing state.</a:t>
            </a:r>
            <a:endParaRPr lang="en-US" sz="1100" dirty="0"/>
          </a:p>
          <a:p>
            <a:pPr indent="0" marL="0">
              <a:spcAft>
                <a:spcPts val="500"/>
              </a:spcAft>
              <a:buNone/>
            </a:pPr>
            <a:r>
              <a:rPr lang="en-US" sz="1100" b="1" dirty="0">
                <a:solidFill>
                  <a:srgbClr val="2D2D2D"/>
                </a:solidFill>
                <a:latin typeface="Arial" pitchFamily="34" charset="0"/>
                <a:ea typeface="Arial" pitchFamily="34" charset="-122"/>
                <a:cs typeface="Arial" pitchFamily="34" charset="-120"/>
              </a:rPr>
              <a:t>Check: </a:t>
            </a:r>
            <a:pPr indent="0" marL="0">
              <a:spcAft>
                <a:spcPts val="500"/>
              </a:spcAft>
              <a:buNone/>
            </a:pPr>
            <a:r>
              <a:rPr lang="en-US" sz="1100" dirty="0">
                <a:solidFill>
                  <a:srgbClr val="2D2D2D"/>
                </a:solidFill>
                <a:latin typeface="Arial" pitchFamily="34" charset="0"/>
                <a:ea typeface="Arial" pitchFamily="34" charset="-122"/>
                <a:cs typeface="Arial" pitchFamily="34" charset="-120"/>
              </a:rPr>
              <a:t>coverage of the candidate set · number of states · missing-state audit.</a:t>
            </a:r>
            <a:endParaRPr lang="en-US" sz="1100" dirty="0"/>
          </a:p>
          <a:p>
            <a:pPr indent="0" marL="0">
              <a:spcAft>
                <a:spcPts val="500"/>
              </a:spcAft>
              <a:buNone/>
            </a:pPr>
            <a:r>
              <a:rPr lang="en-US" sz="1100" b="1" dirty="0">
                <a:solidFill>
                  <a:srgbClr val="2D2D2D"/>
                </a:solidFill>
                <a:latin typeface="Arial" pitchFamily="34" charset="0"/>
                <a:ea typeface="Arial" pitchFamily="34" charset="-122"/>
                <a:cs typeface="Arial" pitchFamily="34" charset="-120"/>
              </a:rPr>
              <a:t>Stop route: </a:t>
            </a:r>
            <a:pPr indent="0" marL="0">
              <a:spcAft>
                <a:spcPts val="500"/>
              </a:spcAft>
              <a:buNone/>
            </a:pPr>
            <a:r>
              <a:rPr lang="en-US" sz="1100" dirty="0">
                <a:solidFill>
                  <a:srgbClr val="2D2D2D"/>
                </a:solidFill>
                <a:latin typeface="Arial" pitchFamily="34" charset="0"/>
                <a:ea typeface="Arial" pitchFamily="34" charset="-122"/>
                <a:cs typeface="Arial" pitchFamily="34" charset="-120"/>
              </a:rPr>
              <a:t>MISSING_STATE_SUPPORT.</a:t>
            </a:r>
            <a:endParaRPr lang="en-US" sz="1100" dirty="0"/>
          </a:p>
          <a:p>
            <a:pPr indent="0" marL="0">
              <a:spcAft>
                <a:spcPts val="500"/>
              </a:spcAft>
              <a:buNone/>
            </a:pPr>
            <a:r>
              <a:rPr lang="en-US" sz="1100" b="1" dirty="0">
                <a:solidFill>
                  <a:srgbClr val="2D2D2D"/>
                </a:solidFill>
                <a:latin typeface="Arial" pitchFamily="34" charset="0"/>
                <a:ea typeface="Arial" pitchFamily="34" charset="-122"/>
                <a:cs typeface="Arial" pitchFamily="34" charset="-120"/>
              </a:rPr>
              <a:t>Scope: </a:t>
            </a:r>
            <a:pPr indent="0" marL="0">
              <a:spcAft>
                <a:spcPts val="500"/>
              </a:spcAft>
              <a:buNone/>
            </a:pPr>
            <a:r>
              <a:rPr lang="en-US" sz="1100" dirty="0">
                <a:solidFill>
                  <a:srgbClr val="2D2D2D"/>
                </a:solidFill>
                <a:latin typeface="Arial" pitchFamily="34" charset="0"/>
                <a:ea typeface="Arial" pitchFamily="34" charset="-122"/>
                <a:cs typeface="Arial" pitchFamily="34" charset="-120"/>
              </a:rPr>
              <a:t>a posterior cannot create a state absent from the candidates.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What a new system goes through today: six steps, and the table can act at four of them</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Terms: source card = one-page data record; freeze = hash everything before the first model call; grading key = what a correct answer must contain</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3</a:t>
            </a:r>
            <a:endParaRPr lang="en-US" sz="1000" dirty="0"/>
          </a:p>
        </p:txBody>
      </p:sp>
      <p:sp>
        <p:nvSpPr>
          <p:cNvPr id="6" name="Shape 3"/>
          <p:cNvSpPr/>
          <p:nvPr/>
        </p:nvSpPr>
        <p:spPr>
          <a:xfrm>
            <a:off x="457200" y="1234440"/>
            <a:ext cx="1261872" cy="310896"/>
          </a:xfrm>
          <a:prstGeom prst="rect">
            <a:avLst/>
          </a:prstGeom>
          <a:solidFill>
            <a:srgbClr val="1F4E79"/>
          </a:solidFill>
          <a:ln w="12700">
            <a:solidFill>
              <a:srgbClr val="1F4E79"/>
            </a:solidFill>
            <a:prstDash val="solid"/>
          </a:ln>
        </p:spPr>
      </p:sp>
      <p:sp>
        <p:nvSpPr>
          <p:cNvPr id="7" name="Text 4"/>
          <p:cNvSpPr/>
          <p:nvPr/>
        </p:nvSpPr>
        <p:spPr>
          <a:xfrm>
            <a:off x="457200"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 Intake</a:t>
            </a:r>
            <a:endParaRPr lang="en-US" sz="1150" dirty="0"/>
          </a:p>
        </p:txBody>
      </p:sp>
      <p:sp>
        <p:nvSpPr>
          <p:cNvPr id="8" name="Shape 5"/>
          <p:cNvSpPr/>
          <p:nvPr/>
        </p:nvSpPr>
        <p:spPr>
          <a:xfrm>
            <a:off x="457200" y="1545336"/>
            <a:ext cx="1261872" cy="914400"/>
          </a:xfrm>
          <a:prstGeom prst="rect">
            <a:avLst/>
          </a:prstGeom>
          <a:solidFill>
            <a:srgbClr val="E8EEF5"/>
          </a:solidFill>
          <a:ln w="12700">
            <a:solidFill>
              <a:srgbClr val="E8EEF5"/>
            </a:solidFill>
            <a:prstDash val="solid"/>
          </a:ln>
        </p:spPr>
      </p:sp>
      <p:sp>
        <p:nvSpPr>
          <p:cNvPr id="9" name="Text 6"/>
          <p:cNvSpPr/>
          <p:nvPr/>
        </p:nvSpPr>
        <p:spPr>
          <a:xfrm>
            <a:off x="457200"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authors' deposition</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 source card</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(paper, SI, README)</a:t>
            </a:r>
            <a:endParaRPr lang="en-US" sz="950" dirty="0"/>
          </a:p>
        </p:txBody>
      </p:sp>
      <p:sp>
        <p:nvSpPr>
          <p:cNvPr id="10" name="Shape 7"/>
          <p:cNvSpPr/>
          <p:nvPr/>
        </p:nvSpPr>
        <p:spPr>
          <a:xfrm>
            <a:off x="1700784" y="1691640"/>
            <a:ext cx="164592" cy="237744"/>
          </a:xfrm>
          <a:prstGeom prst="rightArrow">
            <a:avLst/>
          </a:prstGeom>
          <a:solidFill>
            <a:srgbClr val="CCCCCC"/>
          </a:solidFill>
          <a:ln w="12700">
            <a:solidFill>
              <a:srgbClr val="CCCCCC"/>
            </a:solidFill>
            <a:prstDash val="solid"/>
          </a:ln>
        </p:spPr>
      </p:sp>
      <p:sp>
        <p:nvSpPr>
          <p:cNvPr id="11" name="Shape 8"/>
          <p:cNvSpPr/>
          <p:nvPr/>
        </p:nvSpPr>
        <p:spPr>
          <a:xfrm>
            <a:off x="1847088" y="1234440"/>
            <a:ext cx="1261872" cy="310896"/>
          </a:xfrm>
          <a:prstGeom prst="rect">
            <a:avLst/>
          </a:prstGeom>
          <a:solidFill>
            <a:srgbClr val="1F4E79"/>
          </a:solidFill>
          <a:ln w="12700">
            <a:solidFill>
              <a:srgbClr val="1F4E79"/>
            </a:solidFill>
            <a:prstDash val="solid"/>
          </a:ln>
        </p:spPr>
      </p:sp>
      <p:sp>
        <p:nvSpPr>
          <p:cNvPr id="12" name="Text 9"/>
          <p:cNvSpPr/>
          <p:nvPr/>
        </p:nvSpPr>
        <p:spPr>
          <a:xfrm>
            <a:off x="1847088"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 Package</a:t>
            </a:r>
            <a:endParaRPr lang="en-US" sz="1150" dirty="0"/>
          </a:p>
        </p:txBody>
      </p:sp>
      <p:sp>
        <p:nvSpPr>
          <p:cNvPr id="13" name="Shape 10"/>
          <p:cNvSpPr/>
          <p:nvPr/>
        </p:nvSpPr>
        <p:spPr>
          <a:xfrm>
            <a:off x="1847088" y="1545336"/>
            <a:ext cx="1261872" cy="914400"/>
          </a:xfrm>
          <a:prstGeom prst="rect">
            <a:avLst/>
          </a:prstGeom>
          <a:solidFill>
            <a:srgbClr val="E8EEF5"/>
          </a:solidFill>
          <a:ln w="12700">
            <a:solidFill>
              <a:srgbClr val="E8EEF5"/>
            </a:solidFill>
            <a:prstDash val="solid"/>
          </a:ln>
        </p:spPr>
      </p:sp>
      <p:sp>
        <p:nvSpPr>
          <p:cNvPr id="14" name="Text 11"/>
          <p:cNvSpPr/>
          <p:nvPr/>
        </p:nvSpPr>
        <p:spPr>
          <a:xfrm>
            <a:off x="1847088"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derived tables,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field definitions,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physical checks, freeze</a:t>
            </a:r>
            <a:endParaRPr lang="en-US" sz="950" dirty="0"/>
          </a:p>
        </p:txBody>
      </p:sp>
      <p:sp>
        <p:nvSpPr>
          <p:cNvPr id="15" name="Shape 12"/>
          <p:cNvSpPr/>
          <p:nvPr/>
        </p:nvSpPr>
        <p:spPr>
          <a:xfrm>
            <a:off x="3090672" y="1691640"/>
            <a:ext cx="164592" cy="237744"/>
          </a:xfrm>
          <a:prstGeom prst="rightArrow">
            <a:avLst/>
          </a:prstGeom>
          <a:solidFill>
            <a:srgbClr val="CCCCCC"/>
          </a:solidFill>
          <a:ln w="12700">
            <a:solidFill>
              <a:srgbClr val="CCCCCC"/>
            </a:solidFill>
            <a:prstDash val="solid"/>
          </a:ln>
        </p:spPr>
      </p:sp>
      <p:sp>
        <p:nvSpPr>
          <p:cNvPr id="16" name="Shape 13"/>
          <p:cNvSpPr/>
          <p:nvPr/>
        </p:nvSpPr>
        <p:spPr>
          <a:xfrm>
            <a:off x="3236976" y="1234440"/>
            <a:ext cx="1261872" cy="310896"/>
          </a:xfrm>
          <a:prstGeom prst="rect">
            <a:avLst/>
          </a:prstGeom>
          <a:solidFill>
            <a:srgbClr val="1F4E79"/>
          </a:solidFill>
          <a:ln w="12700">
            <a:solidFill>
              <a:srgbClr val="1F4E79"/>
            </a:solidFill>
            <a:prstDash val="solid"/>
          </a:ln>
        </p:spPr>
      </p:sp>
      <p:sp>
        <p:nvSpPr>
          <p:cNvPr id="17" name="Text 14"/>
          <p:cNvSpPr/>
          <p:nvPr/>
        </p:nvSpPr>
        <p:spPr>
          <a:xfrm>
            <a:off x="3236976"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3 Frame</a:t>
            </a:r>
            <a:endParaRPr lang="en-US" sz="1150" dirty="0"/>
          </a:p>
        </p:txBody>
      </p:sp>
      <p:sp>
        <p:nvSpPr>
          <p:cNvPr id="18" name="Shape 15"/>
          <p:cNvSpPr/>
          <p:nvPr/>
        </p:nvSpPr>
        <p:spPr>
          <a:xfrm>
            <a:off x="3236976" y="1545336"/>
            <a:ext cx="1261872" cy="914400"/>
          </a:xfrm>
          <a:prstGeom prst="rect">
            <a:avLst/>
          </a:prstGeom>
          <a:solidFill>
            <a:srgbClr val="E8EEF5"/>
          </a:solidFill>
          <a:ln w="12700">
            <a:solidFill>
              <a:srgbClr val="E8EEF5"/>
            </a:solidFill>
            <a:prstDash val="solid"/>
          </a:ln>
        </p:spPr>
      </p:sp>
      <p:sp>
        <p:nvSpPr>
          <p:cNvPr id="19" name="Text 16"/>
          <p:cNvSpPr/>
          <p:nvPr/>
        </p:nvSpPr>
        <p:spPr>
          <a:xfrm>
            <a:off x="3236976"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sub-questions,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competing explanations,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grading key (hidden)</a:t>
            </a:r>
            <a:endParaRPr lang="en-US" sz="950" dirty="0"/>
          </a:p>
        </p:txBody>
      </p:sp>
      <p:sp>
        <p:nvSpPr>
          <p:cNvPr id="20" name="Shape 17"/>
          <p:cNvSpPr/>
          <p:nvPr/>
        </p:nvSpPr>
        <p:spPr>
          <a:xfrm>
            <a:off x="4480560" y="1691640"/>
            <a:ext cx="164592" cy="237744"/>
          </a:xfrm>
          <a:prstGeom prst="rightArrow">
            <a:avLst/>
          </a:prstGeom>
          <a:solidFill>
            <a:srgbClr val="CCCCCC"/>
          </a:solidFill>
          <a:ln w="12700">
            <a:solidFill>
              <a:srgbClr val="CCCCCC"/>
            </a:solidFill>
            <a:prstDash val="solid"/>
          </a:ln>
        </p:spPr>
      </p:sp>
      <p:sp>
        <p:nvSpPr>
          <p:cNvPr id="21" name="Shape 18"/>
          <p:cNvSpPr/>
          <p:nvPr/>
        </p:nvSpPr>
        <p:spPr>
          <a:xfrm>
            <a:off x="4626864" y="1234440"/>
            <a:ext cx="1261872" cy="310896"/>
          </a:xfrm>
          <a:prstGeom prst="rect">
            <a:avLst/>
          </a:prstGeom>
          <a:solidFill>
            <a:srgbClr val="1F4E79"/>
          </a:solidFill>
          <a:ln w="12700">
            <a:solidFill>
              <a:srgbClr val="1F4E79"/>
            </a:solidFill>
            <a:prstDash val="solid"/>
          </a:ln>
        </p:spPr>
      </p:sp>
      <p:sp>
        <p:nvSpPr>
          <p:cNvPr id="22" name="Text 19"/>
          <p:cNvSpPr/>
          <p:nvPr/>
        </p:nvSpPr>
        <p:spPr>
          <a:xfrm>
            <a:off x="4626864"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 Run</a:t>
            </a:r>
            <a:endParaRPr lang="en-US" sz="1150" dirty="0"/>
          </a:p>
        </p:txBody>
      </p:sp>
      <p:sp>
        <p:nvSpPr>
          <p:cNvPr id="23" name="Shape 20"/>
          <p:cNvSpPr/>
          <p:nvPr/>
        </p:nvSpPr>
        <p:spPr>
          <a:xfrm>
            <a:off x="4626864" y="1545336"/>
            <a:ext cx="1261872" cy="914400"/>
          </a:xfrm>
          <a:prstGeom prst="rect">
            <a:avLst/>
          </a:prstGeom>
          <a:solidFill>
            <a:srgbClr val="E8EEF5"/>
          </a:solidFill>
          <a:ln w="12700">
            <a:solidFill>
              <a:srgbClr val="E8EEF5"/>
            </a:solidFill>
            <a:prstDash val="solid"/>
          </a:ln>
        </p:spPr>
      </p:sp>
      <p:sp>
        <p:nvSpPr>
          <p:cNvPr id="24" name="Text 21"/>
          <p:cNvSpPr/>
          <p:nvPr/>
        </p:nvSpPr>
        <p:spPr>
          <a:xfrm>
            <a:off x="4626864"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Agent in sealed</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container: reads,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computes, submits</a:t>
            </a:r>
            <a:endParaRPr lang="en-US" sz="950" dirty="0"/>
          </a:p>
        </p:txBody>
      </p:sp>
      <p:sp>
        <p:nvSpPr>
          <p:cNvPr id="25" name="Shape 22"/>
          <p:cNvSpPr/>
          <p:nvPr/>
        </p:nvSpPr>
        <p:spPr>
          <a:xfrm>
            <a:off x="5870448" y="1691640"/>
            <a:ext cx="164592" cy="237744"/>
          </a:xfrm>
          <a:prstGeom prst="rightArrow">
            <a:avLst/>
          </a:prstGeom>
          <a:solidFill>
            <a:srgbClr val="CCCCCC"/>
          </a:solidFill>
          <a:ln w="12700">
            <a:solidFill>
              <a:srgbClr val="CCCCCC"/>
            </a:solidFill>
            <a:prstDash val="solid"/>
          </a:ln>
        </p:spPr>
      </p:sp>
      <p:sp>
        <p:nvSpPr>
          <p:cNvPr id="26" name="Shape 23"/>
          <p:cNvSpPr/>
          <p:nvPr/>
        </p:nvSpPr>
        <p:spPr>
          <a:xfrm>
            <a:off x="6016752" y="1234440"/>
            <a:ext cx="1261872" cy="310896"/>
          </a:xfrm>
          <a:prstGeom prst="rect">
            <a:avLst/>
          </a:prstGeom>
          <a:solidFill>
            <a:srgbClr val="1F4E79"/>
          </a:solidFill>
          <a:ln w="12700">
            <a:solidFill>
              <a:srgbClr val="1F4E79"/>
            </a:solidFill>
            <a:prstDash val="solid"/>
          </a:ln>
        </p:spPr>
      </p:sp>
      <p:sp>
        <p:nvSpPr>
          <p:cNvPr id="27" name="Text 24"/>
          <p:cNvSpPr/>
          <p:nvPr/>
        </p:nvSpPr>
        <p:spPr>
          <a:xfrm>
            <a:off x="6016752"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5 Check</a:t>
            </a:r>
            <a:endParaRPr lang="en-US" sz="1150" dirty="0"/>
          </a:p>
        </p:txBody>
      </p:sp>
      <p:sp>
        <p:nvSpPr>
          <p:cNvPr id="28" name="Shape 25"/>
          <p:cNvSpPr/>
          <p:nvPr/>
        </p:nvSpPr>
        <p:spPr>
          <a:xfrm>
            <a:off x="6016752" y="1545336"/>
            <a:ext cx="1261872" cy="914400"/>
          </a:xfrm>
          <a:prstGeom prst="rect">
            <a:avLst/>
          </a:prstGeom>
          <a:solidFill>
            <a:srgbClr val="E8EEF5"/>
          </a:solidFill>
          <a:ln w="12700">
            <a:solidFill>
              <a:srgbClr val="E8EEF5"/>
            </a:solidFill>
            <a:prstDash val="solid"/>
          </a:ln>
        </p:spPr>
      </p:sp>
      <p:sp>
        <p:nvSpPr>
          <p:cNvPr id="29" name="Text 26"/>
          <p:cNvSpPr/>
          <p:nvPr/>
        </p:nvSpPr>
        <p:spPr>
          <a:xfrm>
            <a:off x="6016752"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automatic checks</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on the submission,</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one feedback</a:t>
            </a:r>
            <a:endParaRPr lang="en-US" sz="950" dirty="0"/>
          </a:p>
        </p:txBody>
      </p:sp>
      <p:sp>
        <p:nvSpPr>
          <p:cNvPr id="30" name="Shape 27"/>
          <p:cNvSpPr/>
          <p:nvPr/>
        </p:nvSpPr>
        <p:spPr>
          <a:xfrm>
            <a:off x="7260336" y="1691640"/>
            <a:ext cx="164592" cy="237744"/>
          </a:xfrm>
          <a:prstGeom prst="rightArrow">
            <a:avLst/>
          </a:prstGeom>
          <a:solidFill>
            <a:srgbClr val="CCCCCC"/>
          </a:solidFill>
          <a:ln w="12700">
            <a:solidFill>
              <a:srgbClr val="CCCCCC"/>
            </a:solidFill>
            <a:prstDash val="solid"/>
          </a:ln>
        </p:spPr>
      </p:sp>
      <p:sp>
        <p:nvSpPr>
          <p:cNvPr id="31" name="Shape 28"/>
          <p:cNvSpPr/>
          <p:nvPr/>
        </p:nvSpPr>
        <p:spPr>
          <a:xfrm>
            <a:off x="7406640" y="1234440"/>
            <a:ext cx="1261872" cy="310896"/>
          </a:xfrm>
          <a:prstGeom prst="rect">
            <a:avLst/>
          </a:prstGeom>
          <a:solidFill>
            <a:srgbClr val="1F4E79"/>
          </a:solidFill>
          <a:ln w="12700">
            <a:solidFill>
              <a:srgbClr val="1F4E79"/>
            </a:solidFill>
            <a:prstDash val="solid"/>
          </a:ln>
        </p:spPr>
      </p:sp>
      <p:sp>
        <p:nvSpPr>
          <p:cNvPr id="32" name="Text 29"/>
          <p:cNvSpPr/>
          <p:nvPr/>
        </p:nvSpPr>
        <p:spPr>
          <a:xfrm>
            <a:off x="7406640" y="1234440"/>
            <a:ext cx="1261872" cy="310896"/>
          </a:xfrm>
          <a:prstGeom prst="rect">
            <a:avLst/>
          </a:prstGeom>
          <a:noFill/>
          <a:ln/>
        </p:spPr>
        <p:txBody>
          <a:bodyPr wrap="square" lIns="38100" tIns="38100" rIns="38100" bIns="3810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6 Report</a:t>
            </a:r>
            <a:endParaRPr lang="en-US" sz="1150" dirty="0"/>
          </a:p>
        </p:txBody>
      </p:sp>
      <p:sp>
        <p:nvSpPr>
          <p:cNvPr id="33" name="Shape 30"/>
          <p:cNvSpPr/>
          <p:nvPr/>
        </p:nvSpPr>
        <p:spPr>
          <a:xfrm>
            <a:off x="7406640" y="1545336"/>
            <a:ext cx="1261872" cy="914400"/>
          </a:xfrm>
          <a:prstGeom prst="rect">
            <a:avLst/>
          </a:prstGeom>
          <a:solidFill>
            <a:srgbClr val="E8EEF5"/>
          </a:solidFill>
          <a:ln w="12700">
            <a:solidFill>
              <a:srgbClr val="E8EEF5"/>
            </a:solidFill>
            <a:prstDash val="solid"/>
          </a:ln>
        </p:spPr>
      </p:sp>
      <p:sp>
        <p:nvSpPr>
          <p:cNvPr id="34" name="Text 31"/>
          <p:cNvSpPr/>
          <p:nvPr/>
        </p:nvSpPr>
        <p:spPr>
          <a:xfrm>
            <a:off x="7406640" y="1545336"/>
            <a:ext cx="1261872" cy="914400"/>
          </a:xfrm>
          <a:prstGeom prst="rect">
            <a:avLst/>
          </a:prstGeom>
          <a:noFill/>
          <a:ln/>
        </p:spPr>
        <p:txBody>
          <a:bodyPr wrap="square" lIns="38100" tIns="38100" rIns="38100" bIns="38100" rtlCol="0" anchor="ctr"/>
          <a:lstStyle/>
          <a:p>
            <a:pPr algn="ctr" indent="0" marL="0">
              <a:buNone/>
            </a:pPr>
            <a:r>
              <a:rPr lang="en-US" sz="950" dirty="0">
                <a:solidFill>
                  <a:srgbClr val="2D2D2D"/>
                </a:solidFill>
                <a:latin typeface="Arial" pitchFamily="34" charset="0"/>
                <a:ea typeface="Arial" pitchFamily="34" charset="-122"/>
                <a:cs typeface="Arial" pitchFamily="34" charset="-120"/>
              </a:rPr>
              <a:t>numbers linked to</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source; claim limit</a:t>
            </a:r>
            <a:endParaRPr lang="en-US" sz="950" dirty="0"/>
          </a:p>
          <a:p>
            <a:pPr algn="ctr" indent="0" marL="0">
              <a:buNone/>
            </a:pPr>
            <a:r>
              <a:rPr lang="en-US" sz="950" dirty="0">
                <a:solidFill>
                  <a:srgbClr val="2D2D2D"/>
                </a:solidFill>
                <a:latin typeface="Arial" pitchFamily="34" charset="0"/>
                <a:ea typeface="Arial" pitchFamily="34" charset="-122"/>
                <a:cs typeface="Arial" pitchFamily="34" charset="-120"/>
              </a:rPr>
              <a:t>in words</a:t>
            </a:r>
            <a:endParaRPr lang="en-US" sz="950" dirty="0"/>
          </a:p>
        </p:txBody>
      </p:sp>
      <p:sp>
        <p:nvSpPr>
          <p:cNvPr id="35" name="Shape 32"/>
          <p:cNvSpPr/>
          <p:nvPr/>
        </p:nvSpPr>
        <p:spPr>
          <a:xfrm>
            <a:off x="457200" y="2532888"/>
            <a:ext cx="1261872" cy="274320"/>
          </a:xfrm>
          <a:prstGeom prst="rect">
            <a:avLst/>
          </a:prstGeom>
          <a:solidFill>
            <a:srgbClr val="F2F2F2"/>
          </a:solidFill>
          <a:ln w="12700">
            <a:solidFill>
              <a:srgbClr val="F2F2F2"/>
            </a:solidFill>
            <a:prstDash val="solid"/>
          </a:ln>
        </p:spPr>
      </p:sp>
      <p:sp>
        <p:nvSpPr>
          <p:cNvPr id="36" name="Text 33"/>
          <p:cNvSpPr/>
          <p:nvPr/>
        </p:nvSpPr>
        <p:spPr>
          <a:xfrm>
            <a:off x="457200"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person + script</a:t>
            </a:r>
            <a:endParaRPr lang="en-US" sz="950" dirty="0"/>
          </a:p>
        </p:txBody>
      </p:sp>
      <p:sp>
        <p:nvSpPr>
          <p:cNvPr id="37" name="Shape 34"/>
          <p:cNvSpPr/>
          <p:nvPr/>
        </p:nvSpPr>
        <p:spPr>
          <a:xfrm>
            <a:off x="1847088" y="2532888"/>
            <a:ext cx="1261872" cy="274320"/>
          </a:xfrm>
          <a:prstGeom prst="rect">
            <a:avLst/>
          </a:prstGeom>
          <a:solidFill>
            <a:srgbClr val="F2F2F2"/>
          </a:solidFill>
          <a:ln w="12700">
            <a:solidFill>
              <a:srgbClr val="F2F2F2"/>
            </a:solidFill>
            <a:prstDash val="solid"/>
          </a:ln>
        </p:spPr>
      </p:sp>
      <p:sp>
        <p:nvSpPr>
          <p:cNvPr id="38" name="Text 35"/>
          <p:cNvSpPr/>
          <p:nvPr/>
        </p:nvSpPr>
        <p:spPr>
          <a:xfrm>
            <a:off x="1847088"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script + checks</a:t>
            </a:r>
            <a:endParaRPr lang="en-US" sz="950" dirty="0"/>
          </a:p>
        </p:txBody>
      </p:sp>
      <p:sp>
        <p:nvSpPr>
          <p:cNvPr id="39" name="Shape 36"/>
          <p:cNvSpPr/>
          <p:nvPr/>
        </p:nvSpPr>
        <p:spPr>
          <a:xfrm>
            <a:off x="3236976" y="2532888"/>
            <a:ext cx="1261872" cy="274320"/>
          </a:xfrm>
          <a:prstGeom prst="rect">
            <a:avLst/>
          </a:prstGeom>
          <a:solidFill>
            <a:srgbClr val="F2F2F2"/>
          </a:solidFill>
          <a:ln w="12700">
            <a:solidFill>
              <a:srgbClr val="F2F2F2"/>
            </a:solidFill>
            <a:prstDash val="solid"/>
          </a:ln>
        </p:spPr>
      </p:sp>
      <p:sp>
        <p:nvSpPr>
          <p:cNvPr id="40" name="Text 37"/>
          <p:cNvSpPr/>
          <p:nvPr/>
        </p:nvSpPr>
        <p:spPr>
          <a:xfrm>
            <a:off x="3236976"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person + template</a:t>
            </a:r>
            <a:endParaRPr lang="en-US" sz="950" dirty="0"/>
          </a:p>
        </p:txBody>
      </p:sp>
      <p:sp>
        <p:nvSpPr>
          <p:cNvPr id="41" name="Shape 38"/>
          <p:cNvSpPr/>
          <p:nvPr/>
        </p:nvSpPr>
        <p:spPr>
          <a:xfrm>
            <a:off x="4626864" y="2532888"/>
            <a:ext cx="1261872" cy="274320"/>
          </a:xfrm>
          <a:prstGeom prst="rect">
            <a:avLst/>
          </a:prstGeom>
          <a:solidFill>
            <a:srgbClr val="F2F2F2"/>
          </a:solidFill>
          <a:ln w="12700">
            <a:solidFill>
              <a:srgbClr val="F2F2F2"/>
            </a:solidFill>
            <a:prstDash val="solid"/>
          </a:ln>
        </p:spPr>
      </p:sp>
      <p:sp>
        <p:nvSpPr>
          <p:cNvPr id="42" name="Text 39"/>
          <p:cNvSpPr/>
          <p:nvPr/>
        </p:nvSpPr>
        <p:spPr>
          <a:xfrm>
            <a:off x="4626864"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Agent</a:t>
            </a:r>
            <a:endParaRPr lang="en-US" sz="950" dirty="0"/>
          </a:p>
        </p:txBody>
      </p:sp>
      <p:sp>
        <p:nvSpPr>
          <p:cNvPr id="43" name="Shape 40"/>
          <p:cNvSpPr/>
          <p:nvPr/>
        </p:nvSpPr>
        <p:spPr>
          <a:xfrm>
            <a:off x="6016752" y="2532888"/>
            <a:ext cx="1261872" cy="274320"/>
          </a:xfrm>
          <a:prstGeom prst="rect">
            <a:avLst/>
          </a:prstGeom>
          <a:solidFill>
            <a:srgbClr val="F2F2F2"/>
          </a:solidFill>
          <a:ln w="12700">
            <a:solidFill>
              <a:srgbClr val="F2F2F2"/>
            </a:solidFill>
            <a:prstDash val="solid"/>
          </a:ln>
        </p:spPr>
      </p:sp>
      <p:sp>
        <p:nvSpPr>
          <p:cNvPr id="44" name="Text 41"/>
          <p:cNvSpPr/>
          <p:nvPr/>
        </p:nvSpPr>
        <p:spPr>
          <a:xfrm>
            <a:off x="6016752"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code</a:t>
            </a:r>
            <a:endParaRPr lang="en-US" sz="950" dirty="0"/>
          </a:p>
        </p:txBody>
      </p:sp>
      <p:sp>
        <p:nvSpPr>
          <p:cNvPr id="45" name="Shape 42"/>
          <p:cNvSpPr/>
          <p:nvPr/>
        </p:nvSpPr>
        <p:spPr>
          <a:xfrm>
            <a:off x="7406640" y="2532888"/>
            <a:ext cx="1261872" cy="274320"/>
          </a:xfrm>
          <a:prstGeom prst="rect">
            <a:avLst/>
          </a:prstGeom>
          <a:solidFill>
            <a:srgbClr val="F2F2F2"/>
          </a:solidFill>
          <a:ln w="12700">
            <a:solidFill>
              <a:srgbClr val="F2F2F2"/>
            </a:solidFill>
            <a:prstDash val="solid"/>
          </a:ln>
        </p:spPr>
      </p:sp>
      <p:sp>
        <p:nvSpPr>
          <p:cNvPr id="46" name="Text 43"/>
          <p:cNvSpPr/>
          <p:nvPr/>
        </p:nvSpPr>
        <p:spPr>
          <a:xfrm>
            <a:off x="7406640" y="2532888"/>
            <a:ext cx="1261872" cy="274320"/>
          </a:xfrm>
          <a:prstGeom prst="rect">
            <a:avLst/>
          </a:prstGeom>
          <a:noFill/>
          <a:ln/>
        </p:spPr>
        <p:txBody>
          <a:bodyPr wrap="square" lIns="38100" tIns="38100" rIns="38100" bIns="38100" rtlCol="0" anchor="ctr"/>
          <a:lstStyle/>
          <a:p>
            <a:pPr algn="ctr" indent="0" marL="0">
              <a:buNone/>
            </a:pPr>
            <a:r>
              <a:rPr lang="en-US" sz="950" dirty="0">
                <a:solidFill>
                  <a:srgbClr val="777777"/>
                </a:solidFill>
                <a:latin typeface="Arial" pitchFamily="34" charset="0"/>
                <a:ea typeface="Arial" pitchFamily="34" charset="-122"/>
                <a:cs typeface="Arial" pitchFamily="34" charset="-120"/>
              </a:rPr>
              <a:t>script + person</a:t>
            </a:r>
            <a:endParaRPr lang="en-US" sz="950" dirty="0"/>
          </a:p>
        </p:txBody>
      </p:sp>
      <p:sp>
        <p:nvSpPr>
          <p:cNvPr id="47" name="Text 44"/>
          <p:cNvSpPr/>
          <p:nvPr/>
        </p:nvSpPr>
        <p:spPr>
          <a:xfrm>
            <a:off x="457200" y="2926080"/>
            <a:ext cx="457200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Where the Rules Table can act (four uses of the 33 rules; defined on slide 12)</a:t>
            </a:r>
            <a:endParaRPr lang="en-US" sz="1200" dirty="0"/>
          </a:p>
        </p:txBody>
      </p:sp>
      <p:sp>
        <p:nvSpPr>
          <p:cNvPr id="48" name="Shape 45"/>
          <p:cNvSpPr/>
          <p:nvPr/>
        </p:nvSpPr>
        <p:spPr>
          <a:xfrm>
            <a:off x="457200" y="3246120"/>
            <a:ext cx="1261872" cy="548640"/>
          </a:xfrm>
          <a:prstGeom prst="rect">
            <a:avLst/>
          </a:prstGeom>
          <a:solidFill>
            <a:srgbClr val="FFFFFF"/>
          </a:solidFill>
          <a:ln w="12700">
            <a:solidFill>
              <a:srgbClr val="FFFFFF"/>
            </a:solidFill>
            <a:prstDash val="solid"/>
          </a:ln>
        </p:spPr>
      </p:sp>
      <p:sp>
        <p:nvSpPr>
          <p:cNvPr id="49" name="Text 46"/>
          <p:cNvSpPr/>
          <p:nvPr/>
        </p:nvSpPr>
        <p:spPr>
          <a:xfrm>
            <a:off x="457200" y="3246120"/>
            <a:ext cx="1261872" cy="548640"/>
          </a:xfrm>
          <a:prstGeom prst="rect">
            <a:avLst/>
          </a:prstGeom>
          <a:noFill/>
          <a:ln/>
        </p:spPr>
        <p:txBody>
          <a:bodyPr wrap="square" lIns="38100" tIns="38100" rIns="38100" bIns="38100" rtlCol="0" anchor="ctr"/>
          <a:lstStyle/>
          <a:p>
            <a:pPr algn="ctr" indent="0" marL="0">
              <a:buNone/>
            </a:pPr>
            <a:r>
              <a:rPr lang="en-US" sz="1050" dirty="0">
                <a:solidFill>
                  <a:srgbClr val="777777"/>
                </a:solidFill>
                <a:latin typeface="Arial" pitchFamily="34" charset="0"/>
                <a:ea typeface="Arial" pitchFamily="34" charset="-122"/>
                <a:cs typeface="Arial" pitchFamily="34" charset="-120"/>
              </a:rPr>
              <a:t>—</a:t>
            </a:r>
            <a:endParaRPr lang="en-US" sz="1050" dirty="0"/>
          </a:p>
        </p:txBody>
      </p:sp>
      <p:sp>
        <p:nvSpPr>
          <p:cNvPr id="50" name="Shape 47"/>
          <p:cNvSpPr/>
          <p:nvPr/>
        </p:nvSpPr>
        <p:spPr>
          <a:xfrm>
            <a:off x="1847088" y="3246120"/>
            <a:ext cx="1261872" cy="548640"/>
          </a:xfrm>
          <a:prstGeom prst="rect">
            <a:avLst/>
          </a:prstGeom>
          <a:solidFill>
            <a:srgbClr val="FFF2CC"/>
          </a:solidFill>
          <a:ln w="12700">
            <a:solidFill>
              <a:srgbClr val="E6D48A"/>
            </a:solidFill>
            <a:prstDash val="solid"/>
          </a:ln>
        </p:spPr>
      </p:sp>
      <p:sp>
        <p:nvSpPr>
          <p:cNvPr id="51" name="Text 48"/>
          <p:cNvSpPr/>
          <p:nvPr/>
        </p:nvSpPr>
        <p:spPr>
          <a:xfrm>
            <a:off x="1847088" y="324612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data checks</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(10 rules)</a:t>
            </a:r>
            <a:endParaRPr lang="en-US" sz="1050" dirty="0"/>
          </a:p>
        </p:txBody>
      </p:sp>
      <p:sp>
        <p:nvSpPr>
          <p:cNvPr id="52" name="Shape 49"/>
          <p:cNvSpPr/>
          <p:nvPr/>
        </p:nvSpPr>
        <p:spPr>
          <a:xfrm>
            <a:off x="3236976" y="3246120"/>
            <a:ext cx="1261872" cy="548640"/>
          </a:xfrm>
          <a:prstGeom prst="rect">
            <a:avLst/>
          </a:prstGeom>
          <a:solidFill>
            <a:srgbClr val="FFF2CC"/>
          </a:solidFill>
          <a:ln w="12700">
            <a:solidFill>
              <a:srgbClr val="E6D48A"/>
            </a:solidFill>
            <a:prstDash val="solid"/>
          </a:ln>
        </p:spPr>
      </p:sp>
      <p:sp>
        <p:nvSpPr>
          <p:cNvPr id="53" name="Text 50"/>
          <p:cNvSpPr/>
          <p:nvPr/>
        </p:nvSpPr>
        <p:spPr>
          <a:xfrm>
            <a:off x="3236976" y="324612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question framing</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(6 rules)</a:t>
            </a:r>
            <a:endParaRPr lang="en-US" sz="1050" dirty="0"/>
          </a:p>
        </p:txBody>
      </p:sp>
      <p:sp>
        <p:nvSpPr>
          <p:cNvPr id="54" name="Shape 51"/>
          <p:cNvSpPr/>
          <p:nvPr/>
        </p:nvSpPr>
        <p:spPr>
          <a:xfrm>
            <a:off x="4626864" y="3246120"/>
            <a:ext cx="1261872" cy="548640"/>
          </a:xfrm>
          <a:prstGeom prst="rect">
            <a:avLst/>
          </a:prstGeom>
          <a:solidFill>
            <a:srgbClr val="FFF2CC"/>
          </a:solidFill>
          <a:ln w="12700">
            <a:solidFill>
              <a:srgbClr val="E6D48A"/>
            </a:solidFill>
            <a:prstDash val="solid"/>
          </a:ln>
        </p:spPr>
      </p:sp>
      <p:sp>
        <p:nvSpPr>
          <p:cNvPr id="55" name="Text 52"/>
          <p:cNvSpPr/>
          <p:nvPr/>
        </p:nvSpPr>
        <p:spPr>
          <a:xfrm>
            <a:off x="4626864" y="324612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method guidance</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(11 rules)</a:t>
            </a:r>
            <a:endParaRPr lang="en-US" sz="1050" dirty="0"/>
          </a:p>
        </p:txBody>
      </p:sp>
      <p:sp>
        <p:nvSpPr>
          <p:cNvPr id="56" name="Shape 53"/>
          <p:cNvSpPr/>
          <p:nvPr/>
        </p:nvSpPr>
        <p:spPr>
          <a:xfrm>
            <a:off x="6016752" y="3246120"/>
            <a:ext cx="1261872" cy="548640"/>
          </a:xfrm>
          <a:prstGeom prst="rect">
            <a:avLst/>
          </a:prstGeom>
          <a:solidFill>
            <a:srgbClr val="FFF2CC"/>
          </a:solidFill>
          <a:ln w="12700">
            <a:solidFill>
              <a:srgbClr val="E6D48A"/>
            </a:solidFill>
            <a:prstDash val="solid"/>
          </a:ln>
        </p:spPr>
      </p:sp>
      <p:sp>
        <p:nvSpPr>
          <p:cNvPr id="57" name="Text 54"/>
          <p:cNvSpPr/>
          <p:nvPr/>
        </p:nvSpPr>
        <p:spPr>
          <a:xfrm>
            <a:off x="6016752" y="3246120"/>
            <a:ext cx="1261872" cy="548640"/>
          </a:xfrm>
          <a:prstGeom prst="rect">
            <a:avLst/>
          </a:prstGeom>
          <a:noFill/>
          <a:ln/>
        </p:spPr>
        <p:txBody>
          <a:bodyPr wrap="square" lIns="38100" tIns="38100" rIns="38100" bIns="38100" rtlCol="0" anchor="ctr"/>
          <a:lstStyle/>
          <a:p>
            <a:pPr algn="ctr" indent="0" marL="0">
              <a:buNone/>
            </a:pPr>
            <a:r>
              <a:rPr lang="en-US" sz="1050" b="1" dirty="0">
                <a:solidFill>
                  <a:srgbClr val="2D2D2D"/>
                </a:solidFill>
                <a:latin typeface="Arial" pitchFamily="34" charset="0"/>
                <a:ea typeface="Arial" pitchFamily="34" charset="-122"/>
                <a:cs typeface="Arial" pitchFamily="34" charset="-120"/>
              </a:rPr>
              <a:t>conclusion checks</a:t>
            </a:r>
            <a:endParaRPr lang="en-US" sz="1050" dirty="0"/>
          </a:p>
          <a:p>
            <a:pPr algn="ctr" indent="0" marL="0">
              <a:buNone/>
            </a:pPr>
            <a:r>
              <a:rPr lang="en-US" sz="1050" b="1" dirty="0">
                <a:solidFill>
                  <a:srgbClr val="2D2D2D"/>
                </a:solidFill>
                <a:latin typeface="Arial" pitchFamily="34" charset="0"/>
                <a:ea typeface="Arial" pitchFamily="34" charset="-122"/>
                <a:cs typeface="Arial" pitchFamily="34" charset="-120"/>
              </a:rPr>
              <a:t>(6 rules)</a:t>
            </a:r>
            <a:endParaRPr lang="en-US" sz="1050" dirty="0"/>
          </a:p>
        </p:txBody>
      </p:sp>
      <p:sp>
        <p:nvSpPr>
          <p:cNvPr id="58" name="Shape 55"/>
          <p:cNvSpPr/>
          <p:nvPr/>
        </p:nvSpPr>
        <p:spPr>
          <a:xfrm>
            <a:off x="7406640" y="3246120"/>
            <a:ext cx="1261872" cy="548640"/>
          </a:xfrm>
          <a:prstGeom prst="rect">
            <a:avLst/>
          </a:prstGeom>
          <a:solidFill>
            <a:srgbClr val="FFFFFF"/>
          </a:solidFill>
          <a:ln w="12700">
            <a:solidFill>
              <a:srgbClr val="FFFFFF"/>
            </a:solidFill>
            <a:prstDash val="solid"/>
          </a:ln>
        </p:spPr>
      </p:sp>
      <p:sp>
        <p:nvSpPr>
          <p:cNvPr id="59" name="Text 56"/>
          <p:cNvSpPr/>
          <p:nvPr/>
        </p:nvSpPr>
        <p:spPr>
          <a:xfrm>
            <a:off x="7406640" y="3246120"/>
            <a:ext cx="1261872" cy="548640"/>
          </a:xfrm>
          <a:prstGeom prst="rect">
            <a:avLst/>
          </a:prstGeom>
          <a:noFill/>
          <a:ln/>
        </p:spPr>
        <p:txBody>
          <a:bodyPr wrap="square" lIns="38100" tIns="38100" rIns="38100" bIns="38100" rtlCol="0" anchor="ctr"/>
          <a:lstStyle/>
          <a:p>
            <a:pPr algn="ctr" indent="0" marL="0">
              <a:buNone/>
            </a:pPr>
            <a:r>
              <a:rPr lang="en-US" sz="1050" dirty="0">
                <a:solidFill>
                  <a:srgbClr val="777777"/>
                </a:solidFill>
                <a:latin typeface="Arial" pitchFamily="34" charset="0"/>
                <a:ea typeface="Arial" pitchFamily="34" charset="-122"/>
                <a:cs typeface="Arial" pitchFamily="34" charset="-120"/>
              </a:rPr>
              <a:t>—</a:t>
            </a:r>
            <a:endParaRPr lang="en-US" sz="1050" dirty="0"/>
          </a:p>
        </p:txBody>
      </p:sp>
      <p:sp>
        <p:nvSpPr>
          <p:cNvPr id="60" name="Text 57"/>
          <p:cNvSpPr/>
          <p:nvPr/>
        </p:nvSpPr>
        <p:spPr>
          <a:xfrm>
            <a:off x="457200" y="3931920"/>
            <a:ext cx="8229600" cy="640080"/>
          </a:xfrm>
          <a:prstGeom prst="rect">
            <a:avLst/>
          </a:prstGeom>
          <a:noFill/>
          <a:ln/>
        </p:spPr>
        <p:txBody>
          <a:bodyPr wrap="square" rtlCol="0" anchor="ctr"/>
          <a:lstStyle/>
          <a:p>
            <a:pPr indent="0" marL="0">
              <a:buNone/>
            </a:pPr>
            <a:r>
              <a:rPr lang="en-US" sz="1250" dirty="0">
                <a:solidFill>
                  <a:srgbClr val="2D2D2D"/>
                </a:solidFill>
                <a:latin typeface="Arial" pitchFamily="34" charset="0"/>
                <a:ea typeface="Arial" pitchFamily="34" charset="-122"/>
                <a:cs typeface="Arial" pitchFamily="34" charset="-120"/>
              </a:rPr>
              <a:t>Version one (July–early September) used the table only at step 4, as text pasted into the Agent's prompt. The three systems on the next slides went through that version; the four uses were then tested one by one.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How anything here was tested: four cases, a criterion for choosing them, and the same comparison design throughout</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Nanodisc: Bengtsen et al. 2020 eLife, NMR + SAXS + SANS + MD; Q05 = one question on it, exposed during development</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1920240"/>
                <a:gridCol w="2743200"/>
                <a:gridCol w="1737360"/>
              </a:tblGrid>
              <a:tr h="329184">
                <a:tc>
                  <a:txBody>
                    <a:bodyPr/>
                    <a:lstStyle/>
                    <a:p>
                      <a:pPr indent="0" marL="0">
                        <a:buNone/>
                      </a:pPr>
                      <a:r>
                        <a:rPr lang="en-US" sz="1050" b="1" dirty="0">
                          <a:solidFill>
                            <a:srgbClr val="FFFFFF"/>
                          </a:solidFill>
                          <a:latin typeface="Arial" pitchFamily="34" charset="0"/>
                          <a:ea typeface="Arial" pitchFamily="34" charset="-122"/>
                          <a:cs typeface="Arial" pitchFamily="34" charset="-120"/>
                        </a:rPr>
                        <a:t>Case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Data we have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Experiment that constrains the question?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Role in this talk</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(Henot 2022)</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40 × 1 µs MD, two starts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yes: two sets of NMR NOE references, CPMG</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science + all tests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DHFR (Cetin 2023)</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4 MD runs, 1 per ligand/variant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 inhibition constants only</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workflow test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ADK (Orädd 2021)</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2 MD runs, no ligand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partly: time-resolved scattering, but different conditions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only system the rules never saw</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050" dirty="0">
                          <a:solidFill>
                            <a:srgbClr val="2D2D2D"/>
                          </a:solidFill>
                          <a:latin typeface="Arial" pitchFamily="34" charset="0"/>
                          <a:ea typeface="Arial" pitchFamily="34" charset="-122"/>
                          <a:cs typeface="Arial" pitchFamily="34" charset="-120"/>
                        </a:rPr>
                        <a:t>Nanodisc Q05 (Bengtsen 2020)</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MD + SAXS + NOE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yes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development case; used in method-guidance test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Text 3"/>
          <p:cNvSpPr/>
          <p:nvPr/>
        </p:nvSpPr>
        <p:spPr>
          <a:xfrm>
            <a:off x="457200" y="2926080"/>
            <a:ext cx="8229600" cy="384048"/>
          </a:xfrm>
          <a:prstGeom prst="rect">
            <a:avLst/>
          </a:prstGeom>
          <a:noFill/>
          <a:ln/>
        </p:spPr>
        <p:txBody>
          <a:bodyPr wrap="square" rtlCol="0" anchor="t"/>
          <a:lstStyle/>
          <a:p>
            <a:pPr indent="0" marL="0">
              <a:buNone/>
            </a:pPr>
            <a:r>
              <a:rPr lang="en-US" sz="1200" b="1" dirty="0">
                <a:solidFill>
                  <a:srgbClr val="2E75B6"/>
                </a:solidFill>
                <a:latin typeface="Arial" pitchFamily="34" charset="0"/>
                <a:ea typeface="Arial" pitchFamily="34" charset="-122"/>
                <a:cs typeface="Arial" pitchFamily="34" charset="-120"/>
              </a:rPr>
              <a:t>The comparison design, used in every test</a:t>
            </a:r>
            <a:endParaRPr lang="en-US" sz="12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57200" y="3246120"/>
          <a:ext cx="8229600" cy="914400"/>
        </p:xfrm>
        <a:graphic>
          <a:graphicData uri="http://schemas.openxmlformats.org/drawingml/2006/table">
            <a:tbl>
              <a:tblPr/>
              <a:tblGrid>
                <a:gridCol w="1280160"/>
                <a:gridCol w="6949440"/>
              </a:tblGrid>
              <a:tr h="256032">
                <a:tc>
                  <a:txBody>
                    <a:bodyPr/>
                    <a:lstStyle/>
                    <a:p>
                      <a:pPr indent="0" marL="0">
                        <a:buNone/>
                      </a:pPr>
                      <a:r>
                        <a:rPr lang="en-US" sz="950" b="1" dirty="0">
                          <a:solidFill>
                            <a:srgbClr val="FFFFFF"/>
                          </a:solidFill>
                          <a:latin typeface="Arial" pitchFamily="34" charset="0"/>
                          <a:ea typeface="Arial" pitchFamily="34" charset="-122"/>
                          <a:cs typeface="Arial" pitchFamily="34" charset="-120"/>
                        </a:rPr>
                        <a:t>Term</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Meaning</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256032">
                <a:tc>
                  <a:txBody>
                    <a:bodyPr/>
                    <a:lstStyle/>
                    <a:p>
                      <a:pPr indent="0" marL="0">
                        <a:buNone/>
                      </a:pPr>
                      <a:r>
                        <a:rPr lang="en-US" sz="950" dirty="0">
                          <a:solidFill>
                            <a:srgbClr val="2D2D2D"/>
                          </a:solidFill>
                          <a:latin typeface="Arial" pitchFamily="34" charset="0"/>
                          <a:ea typeface="Arial" pitchFamily="34" charset="-122"/>
                          <a:cs typeface="Arial" pitchFamily="34" charset="-120"/>
                        </a:rPr>
                        <a:t>condition (arm)</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same question, one thing changed, e.g. rules in the prompt or not; 4 fresh runs each; compared as medians of 4</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56032">
                <a:tc>
                  <a:txBody>
                    <a:bodyPr/>
                    <a:lstStyle/>
                    <a:p>
                      <a:pPr indent="0" marL="0">
                        <a:buNone/>
                      </a:pPr>
                      <a:r>
                        <a:rPr lang="en-US" sz="950" dirty="0">
                          <a:solidFill>
                            <a:srgbClr val="2D2D2D"/>
                          </a:solidFill>
                          <a:latin typeface="Arial" pitchFamily="34" charset="0"/>
                          <a:ea typeface="Arial" pitchFamily="34" charset="-122"/>
                          <a:cs typeface="Arial" pitchFamily="34" charset="-120"/>
                        </a:rPr>
                        <a:t>grading key</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what a correct answer must contain; written from question, data and paper, frozen before the first run, not from the rules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256032">
                <a:tc>
                  <a:txBody>
                    <a:bodyPr/>
                    <a:lstStyle/>
                    <a:p>
                      <a:pPr indent="0" marL="0">
                        <a:buNone/>
                      </a:pPr>
                      <a:r>
                        <a:rPr lang="en-US" sz="950" dirty="0">
                          <a:solidFill>
                            <a:srgbClr val="2D2D2D"/>
                          </a:solidFill>
                          <a:latin typeface="Arial" pitchFamily="34" charset="0"/>
                          <a:ea typeface="Arial" pitchFamily="34" charset="-122"/>
                          <a:cs typeface="Arial" pitchFamily="34" charset="-120"/>
                        </a:rPr>
                        <a:t>core unit</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one of 5 required pieces of content per question; we count correct units, errors, overclaims (too strong) and omissions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HSP90 (Henot 2022): the paper shows a transiently populated closed state; on the same 40 trajectories we asked one narrower question, direction persistence</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Henot et al. 2022 Nat Commun 13:7601 (doi:10.1038/s41467-022-35399-8); figure: first-round audited counts, 20–1020 ns window</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5</a:t>
            </a:r>
            <a:endParaRPr lang="en-US" sz="1000" dirty="0"/>
          </a:p>
        </p:txBody>
      </p:sp>
      <p:pic>
        <p:nvPicPr>
          <p:cNvPr id="6" name="Image 0" descr="/Users/liuzhenpeng/Desktop/UNC/Soojung-Dynamic data/autoresearch/tasks/dynamics_atlas_rules_incremental_value_protocol_20260909/outputs/deck_figures/hsp90_events_10_20.png">    </p:cNvPr>
          <p:cNvPicPr>
            <a:picLocks noChangeAspect="1"/>
          </p:cNvPicPr>
          <p:nvPr/>
        </p:nvPicPr>
        <p:blipFill>
          <a:blip r:embed="rId1"/>
          <a:srcRect l="0" r="0" t="0" b="0"/>
          <a:stretch/>
        </p:blipFill>
        <p:spPr>
          <a:xfrm>
            <a:off x="457200" y="1188720"/>
            <a:ext cx="5120640" cy="2011680"/>
          </a:xfrm>
          <a:prstGeom prst="rect">
            <a:avLst/>
          </a:prstGeom>
        </p:spPr>
      </p:pic>
      <p:sp>
        <p:nvSpPr>
          <p:cNvPr id="7" name="Text 3"/>
          <p:cNvSpPr/>
          <p:nvPr/>
        </p:nvSpPr>
        <p:spPr>
          <a:xfrm>
            <a:off x="457200" y="3218688"/>
            <a:ext cx="5120640" cy="384048"/>
          </a:xfrm>
          <a:prstGeom prst="rect">
            <a:avLst/>
          </a:prstGeom>
          <a:noFill/>
          <a:ln/>
        </p:spPr>
        <p:txBody>
          <a:bodyPr wrap="square" rtlCol="0" anchor="ctr"/>
          <a:lstStyle/>
          <a:p>
            <a:pPr indent="0" marL="0">
              <a:buNone/>
            </a:pPr>
            <a:r>
              <a:rPr lang="en-US" sz="900" dirty="0">
                <a:solidFill>
                  <a:srgbClr val="777777"/>
                </a:solidFill>
                <a:latin typeface="Arial" pitchFamily="34" charset="0"/>
                <a:ea typeface="Arial" pitchFamily="34" charset="-122"/>
                <a:cs typeface="Arial" pitchFamily="34" charset="-120"/>
              </a:rPr>
              <a:t>Closed-start trajectories: any sustained open-direction segment 10/20; later reversal 5/20. Counts are not transition rates.</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760720" y="1188720"/>
          <a:ext cx="2926080" cy="914400"/>
        </p:xfrm>
        <a:graphic>
          <a:graphicData uri="http://schemas.openxmlformats.org/drawingml/2006/table">
            <a:tbl>
              <a:tblPr/>
              <a:tblGrid>
                <a:gridCol w="731520"/>
                <a:gridCol w="1097280"/>
                <a:gridCol w="1097280"/>
              </a:tblGrid>
              <a:tr h="384048">
                <a:tc>
                  <a:txBody>
                    <a:bodyPr/>
                    <a:lstStyle/>
                    <a:p>
                      <a:pPr indent="0" marL="0">
                        <a:buNone/>
                      </a:pP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Paper</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Ours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84048">
                <a:tc>
                  <a:txBody>
                    <a:bodyPr/>
                    <a:lstStyle/>
                    <a:p>
                      <a:pPr indent="0" marL="0">
                        <a:buNone/>
                      </a:pPr>
                      <a:r>
                        <a:rPr lang="en-US" sz="950" dirty="0">
                          <a:solidFill>
                            <a:srgbClr val="2D2D2D"/>
                          </a:solidFill>
                          <a:latin typeface="Arial" pitchFamily="34" charset="0"/>
                          <a:ea typeface="Arial" pitchFamily="34" charset="-122"/>
                          <a:cs typeface="Arial" pitchFamily="34" charset="-120"/>
                        </a:rPr>
                        <a:t>method</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NMR (NOE, CPMG) + MD</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same MD, direction readouts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950" dirty="0">
                          <a:solidFill>
                            <a:srgbClr val="2D2D2D"/>
                          </a:solidFill>
                          <a:latin typeface="Arial" pitchFamily="34" charset="0"/>
                          <a:ea typeface="Arial" pitchFamily="34" charset="-122"/>
                          <a:cs typeface="Arial" pitchFamily="34" charset="-120"/>
                        </a:rPr>
                        <a:t>closed-start 20</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7 near-closed / ~9 toward open / 4 neither</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10 open-direction (5 at start + 5 later) / 10 never</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950" dirty="0">
                          <a:solidFill>
                            <a:srgbClr val="2D2D2D"/>
                          </a:solidFill>
                          <a:latin typeface="Arial" pitchFamily="34" charset="0"/>
                          <a:ea typeface="Arial" pitchFamily="34" charset="-122"/>
                          <a:cs typeface="Arial" pitchFamily="34" charset="-120"/>
                        </a:rPr>
                        <a:t>reversals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not asked</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5 / 4 / 1 at 5 / 20 / 50 points; open-start 0</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84048">
                <a:tc>
                  <a:txBody>
                    <a:bodyPr/>
                    <a:lstStyle/>
                    <a:p>
                      <a:pPr indent="0" marL="0">
                        <a:buNone/>
                      </a:pPr>
                      <a:r>
                        <a:rPr lang="en-US" sz="950" dirty="0">
                          <a:solidFill>
                            <a:srgbClr val="2D2D2D"/>
                          </a:solidFill>
                          <a:latin typeface="Arial" pitchFamily="34" charset="0"/>
                          <a:ea typeface="Arial" pitchFamily="34" charset="-122"/>
                          <a:cs typeface="Arial" pitchFamily="34" charset="-120"/>
                        </a:rPr>
                        <a:t>populations, rates</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not from MD (non-ergodic)</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50" dirty="0">
                          <a:solidFill>
                            <a:srgbClr val="2D2D2D"/>
                          </a:solidFill>
                          <a:latin typeface="Arial" pitchFamily="34" charset="0"/>
                          <a:ea typeface="Arial" pitchFamily="34" charset="-122"/>
                          <a:cs typeface="Arial" pitchFamily="34" charset="-120"/>
                        </a:rPr>
                        <a:t>not claimed</a:t>
                      </a:r>
                      <a:endParaRPr lang="en-US" sz="9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9" name="Shape 4"/>
          <p:cNvSpPr/>
          <p:nvPr/>
        </p:nvSpPr>
        <p:spPr>
          <a:xfrm>
            <a:off x="457200" y="3611880"/>
            <a:ext cx="8229600" cy="868680"/>
          </a:xfrm>
          <a:prstGeom prst="rect">
            <a:avLst/>
          </a:prstGeom>
          <a:solidFill>
            <a:srgbClr val="FFF2CC"/>
          </a:solidFill>
          <a:ln w="12700">
            <a:solidFill>
              <a:srgbClr val="E6D48A"/>
            </a:solidFill>
            <a:prstDash val="solid"/>
          </a:ln>
        </p:spPr>
      </p:sp>
      <p:sp>
        <p:nvSpPr>
          <p:cNvPr id="10" name="Text 5"/>
          <p:cNvSpPr/>
          <p:nvPr/>
        </p:nvSpPr>
        <p:spPr>
          <a:xfrm>
            <a:off x="457200" y="3611880"/>
            <a:ext cx="8229600" cy="868680"/>
          </a:xfrm>
          <a:prstGeom prst="rect">
            <a:avLst/>
          </a:prstGeom>
          <a:noFill/>
          <a:ln/>
        </p:spPr>
        <p:txBody>
          <a:bodyPr wrap="square" lIns="101600" tIns="101600" rIns="101600" bIns="101600" rtlCol="0" anchor="ctr"/>
          <a:lstStyle/>
          <a:p>
            <a:pPr indent="0" marL="0">
              <a:buNone/>
            </a:pPr>
            <a:r>
              <a:rPr lang="en-US" sz="1200" dirty="0">
                <a:solidFill>
                  <a:srgbClr val="2D2D2D"/>
                </a:solidFill>
                <a:latin typeface="Arial" pitchFamily="34" charset="0"/>
                <a:ea typeface="Arial" pitchFamily="34" charset="-122"/>
                <a:cs typeface="Arial" pitchFamily="34" charset="-120"/>
              </a:rPr>
              <a:t>Two different partitions of the same twenty runs. Ours asks about persistence and reversal of a direction; the paper asks which reference each run ends near. The next slide connects them.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HSP90, the measurement that mattered: at 1 Å tolerance, 9 of the 10 open-direction trajectories end far from both NOE references</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Author-deposited NOE violation series (column 2); last 100 saved points per trajectory; tolerance lines 0.5 / 1 / 2 Å; controls 18/20 at 1 Å</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6</a:t>
            </a:r>
            <a:endParaRPr lang="en-US" sz="1000" dirty="0"/>
          </a:p>
        </p:txBody>
      </p:sp>
      <p:pic>
        <p:nvPicPr>
          <p:cNvPr id="6" name="Image 0" descr="/Users/liuzhenpeng/Desktop/UNC/Soojung-Dynamic data/autoresearch/tasks/dynamics_atlas_rules_incremental_value_protocol_20260909/outputs/deck_figures/hsp90_noe_endpoint_scatter.png">    </p:cNvPr>
          <p:cNvPicPr>
            <a:picLocks noChangeAspect="1"/>
          </p:cNvPicPr>
          <p:nvPr/>
        </p:nvPicPr>
        <p:blipFill>
          <a:blip r:embed="rId1"/>
          <a:srcRect l="0" r="0" t="0" b="0"/>
          <a:stretch/>
        </p:blipFill>
        <p:spPr>
          <a:xfrm>
            <a:off x="457200" y="1188720"/>
            <a:ext cx="4206240" cy="3154680"/>
          </a:xfrm>
          <a:prstGeom prst="rect">
            <a:avLst/>
          </a:prstGeom>
        </p:spPr>
      </p:pic>
      <p:sp>
        <p:nvSpPr>
          <p:cNvPr id="7" name="Text 3"/>
          <p:cNvSpPr/>
          <p:nvPr/>
        </p:nvSpPr>
        <p:spPr>
          <a:xfrm>
            <a:off x="457200" y="4361688"/>
            <a:ext cx="4206240" cy="384048"/>
          </a:xfrm>
          <a:prstGeom prst="rect">
            <a:avLst/>
          </a:prstGeom>
          <a:noFill/>
          <a:ln/>
        </p:spPr>
        <p:txBody>
          <a:bodyPr wrap="square" rtlCol="0" anchor="ctr"/>
          <a:lstStyle/>
          <a:p>
            <a:pPr indent="0" marL="0">
              <a:buNone/>
            </a:pPr>
            <a:r>
              <a:rPr lang="en-US" sz="900" dirty="0">
                <a:solidFill>
                  <a:srgbClr val="777777"/>
                </a:solidFill>
                <a:latin typeface="Arial" pitchFamily="34" charset="0"/>
                <a:ea typeface="Arial" pitchFamily="34" charset="-122"/>
                <a:cs typeface="Arial" pitchFamily="34" charset="-120"/>
              </a:rPr>
              <a:t>End-window mean NOE violation against closed (x) and open (y) references, all 40 trajectories.</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846320" y="1188720"/>
          <a:ext cx="3840480" cy="914400"/>
        </p:xfrm>
        <a:graphic>
          <a:graphicData uri="http://schemas.openxmlformats.org/drawingml/2006/table">
            <a:tbl>
              <a:tblPr/>
              <a:tblGrid>
                <a:gridCol w="1463040"/>
                <a:gridCol w="1188720"/>
                <a:gridCol w="1188720"/>
              </a:tblGrid>
              <a:tr h="310896">
                <a:tc>
                  <a:txBody>
                    <a:bodyPr/>
                    <a:lstStyle/>
                    <a:p>
                      <a:pPr indent="0" marL="0">
                        <a:buNone/>
                      </a:pPr>
                      <a:r>
                        <a:rPr lang="en-US" sz="1050" b="1" dirty="0">
                          <a:solidFill>
                            <a:srgbClr val="FFFFFF"/>
                          </a:solidFill>
                          <a:latin typeface="Arial" pitchFamily="34" charset="0"/>
                          <a:ea typeface="Arial" pitchFamily="34" charset="-122"/>
                          <a:cs typeface="Arial" pitchFamily="34" charset="-120"/>
                        </a:rPr>
                        <a:t>at 1 Å</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open-direction (10)</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open-start controls (20)</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10896">
                <a:tc>
                  <a:txBody>
                    <a:bodyPr/>
                    <a:lstStyle/>
                    <a:p>
                      <a:pPr indent="0" marL="0">
                        <a:buNone/>
                      </a:pPr>
                      <a:r>
                        <a:rPr lang="en-US" sz="1050" dirty="0">
                          <a:solidFill>
                            <a:srgbClr val="2D2D2D"/>
                          </a:solidFill>
                          <a:latin typeface="Arial" pitchFamily="34" charset="0"/>
                          <a:ea typeface="Arial" pitchFamily="34" charset="-122"/>
                          <a:cs typeface="Arial" pitchFamily="34" charset="-120"/>
                        </a:rPr>
                        <a:t>far from both</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10896">
                <a:tc>
                  <a:txBody>
                    <a:bodyPr/>
                    <a:lstStyle/>
                    <a:p>
                      <a:pPr indent="0" marL="0">
                        <a:buNone/>
                      </a:pPr>
                      <a:r>
                        <a:rPr lang="en-US" sz="1050" dirty="0">
                          <a:solidFill>
                            <a:srgbClr val="2D2D2D"/>
                          </a:solidFill>
                          <a:latin typeface="Arial" pitchFamily="34" charset="0"/>
                          <a:ea typeface="Arial" pitchFamily="34" charset="-122"/>
                          <a:cs typeface="Arial" pitchFamily="34" charset="-120"/>
                        </a:rPr>
                        <a:t>partially at open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10896">
                <a:tc>
                  <a:txBody>
                    <a:bodyPr/>
                    <a:lstStyle/>
                    <a:p>
                      <a:pPr indent="0" marL="0">
                        <a:buNone/>
                      </a:pPr>
                      <a:r>
                        <a:rPr lang="en-US" sz="1050" dirty="0">
                          <a:solidFill>
                            <a:srgbClr val="2D2D2D"/>
                          </a:solidFill>
                          <a:latin typeface="Arial" pitchFamily="34" charset="0"/>
                          <a:ea typeface="Arial" pitchFamily="34" charset="-122"/>
                          <a:cs typeface="Arial" pitchFamily="34" charset="-120"/>
                        </a:rPr>
                        <a:t>at open reference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18</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10896">
                <a:tc>
                  <a:txBody>
                    <a:bodyPr/>
                    <a:lstStyle/>
                    <a:p>
                      <a:pPr indent="0" marL="0">
                        <a:buNone/>
                      </a:pPr>
                      <a:r>
                        <a:rPr lang="en-US" sz="1050" dirty="0">
                          <a:solidFill>
                            <a:srgbClr val="2D2D2D"/>
                          </a:solidFill>
                          <a:latin typeface="Arial" pitchFamily="34" charset="0"/>
                          <a:ea typeface="Arial" pitchFamily="34" charset="-122"/>
                          <a:cs typeface="Arial" pitchFamily="34" charset="-120"/>
                        </a:rPr>
                        <a:t>at 2 Å: at open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9" name="Shape 4"/>
          <p:cNvSpPr/>
          <p:nvPr/>
        </p:nvSpPr>
        <p:spPr>
          <a:xfrm>
            <a:off x="4846320" y="2880360"/>
            <a:ext cx="3840480" cy="1600200"/>
          </a:xfrm>
          <a:prstGeom prst="rect">
            <a:avLst/>
          </a:prstGeom>
          <a:solidFill>
            <a:srgbClr val="FFF2CC"/>
          </a:solidFill>
          <a:ln w="12700">
            <a:solidFill>
              <a:srgbClr val="E6D48A"/>
            </a:solidFill>
            <a:prstDash val="solid"/>
          </a:ln>
        </p:spPr>
      </p:sp>
      <p:sp>
        <p:nvSpPr>
          <p:cNvPr id="10" name="Text 5"/>
          <p:cNvSpPr/>
          <p:nvPr/>
        </p:nvSpPr>
        <p:spPr>
          <a:xfrm>
            <a:off x="4846320" y="2880360"/>
            <a:ext cx="3840480" cy="1600200"/>
          </a:xfrm>
          <a:prstGeom prst="rect">
            <a:avLst/>
          </a:prstGeom>
          <a:noFill/>
          <a:ln/>
        </p:spPr>
        <p:txBody>
          <a:bodyPr wrap="square" lIns="101600" tIns="101600" rIns="101600" bIns="101600" rtlCol="0" anchor="ctr"/>
          <a:lstStyle/>
          <a:p>
            <a:pPr indent="0" marL="0">
              <a:buNone/>
            </a:pPr>
            <a:r>
              <a:rPr lang="en-US" sz="1100" dirty="0">
                <a:solidFill>
                  <a:srgbClr val="2D2D2D"/>
                </a:solidFill>
                <a:latin typeface="Arial" pitchFamily="34" charset="0"/>
                <a:ea typeface="Arial" pitchFamily="34" charset="-122"/>
                <a:cs typeface="Arial" pitchFamily="34" charset="-120"/>
              </a:rPr>
              <a:t>Leaving the closed state ≠ arriving at the open state.</a:t>
            </a:r>
            <a:endParaRPr lang="en-US" sz="1100" dirty="0"/>
          </a:p>
          <a:p>
            <a:pPr indent="0" marL="0">
              <a:buNone/>
            </a:pPr>
            <a:r>
              <a:rPr lang="en-US" sz="1100" dirty="0">
                <a:solidFill>
                  <a:srgbClr val="2D2D2D"/>
                </a:solidFill>
                <a:latin typeface="Arial" pitchFamily="34" charset="0"/>
                <a:ea typeface="Arial" pitchFamily="34" charset="-122"/>
                <a:cs typeface="Arial" pitchFamily="34" charset="-120"/>
              </a:rPr>
              <a:t>The Agent reproduced direction counts; the arrival question was added by a person, not by any rule. Populations and rates are not estimated: 1 µs runs, no returns, CPMG exchange is milliseconds.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HSP90, first comparison: rules pasted into the prompt did not improve the counts and imported conditions that belong to FRET</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HSP90_Q01_VERIFIED_REPORT_ZH.md; 4 answers, 10 Sep 2026, $0.076; leaked rules C001-RULE-003 (Hellenkamp 2018), C003-RULE-002 (Dimura 2020)</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731520"/>
                <a:gridCol w="1554480"/>
                <a:gridCol w="2194560"/>
                <a:gridCol w="1280160"/>
                <a:gridCol w="2468880"/>
              </a:tblGrid>
              <a:tr h="411480">
                <a:tc>
                  <a:txBody>
                    <a:bodyPr/>
                    <a:lstStyle/>
                    <a:p>
                      <a:pPr indent="0" marL="0">
                        <a:buNone/>
                      </a:pPr>
                      <a:r>
                        <a:rPr lang="en-US" sz="1150" b="1" dirty="0">
                          <a:solidFill>
                            <a:srgbClr val="FFFFFF"/>
                          </a:solidFill>
                          <a:latin typeface="Arial" pitchFamily="34" charset="0"/>
                          <a:ea typeface="Arial" pitchFamily="34" charset="-122"/>
                          <a:cs typeface="Arial" pitchFamily="34" charset="-120"/>
                        </a:rPr>
                        <a:t>Answer</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Rules in prompt?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Main counts (10/20; 5/4/1)</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Computed anything?</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Imported conditions not applicable to an NMR + MD question</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11480">
                <a:tc>
                  <a:txBody>
                    <a:bodyPr/>
                    <a:lstStyle/>
                    <a:p>
                      <a:pPr indent="0" marL="0">
                        <a:buNone/>
                      </a:pPr>
                      <a:r>
                        <a:rPr lang="en-US" sz="1150" dirty="0">
                          <a:solidFill>
                            <a:srgbClr val="2D2D2D"/>
                          </a:solidFill>
                          <a:latin typeface="Arial" pitchFamily="34" charset="0"/>
                          <a:ea typeface="Arial" pitchFamily="34" charset="-122"/>
                          <a:cs typeface="Arial" pitchFamily="34" charset="-120"/>
                        </a:rPr>
                        <a:t>A1</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correct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yes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none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indent="0" marL="0">
                        <a:buNone/>
                      </a:pPr>
                      <a:r>
                        <a:rPr lang="en-US" sz="1150" dirty="0">
                          <a:solidFill>
                            <a:srgbClr val="2D2D2D"/>
                          </a:solidFill>
                          <a:latin typeface="Arial" pitchFamily="34" charset="0"/>
                          <a:ea typeface="Arial" pitchFamily="34" charset="-122"/>
                          <a:cs typeface="Arial" pitchFamily="34" charset="-120"/>
                        </a:rPr>
                        <a:t>A2</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mixed 5-pt and 50-pt thresholds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 read tables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none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indent="0" marL="0">
                        <a:buNone/>
                      </a:pPr>
                      <a:r>
                        <a:rPr lang="en-US" sz="1150" dirty="0">
                          <a:solidFill>
                            <a:srgbClr val="2D2D2D"/>
                          </a:solidFill>
                          <a:latin typeface="Arial" pitchFamily="34" charset="0"/>
                          <a:ea typeface="Arial" pitchFamily="34" charset="-122"/>
                          <a:cs typeface="Arial" pitchFamily="34" charset="-120"/>
                        </a:rPr>
                        <a:t>B1</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yes (7 rules, 8 obligations)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correct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yes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RMP restraint, prior ensemble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indent="0" marL="0">
                        <a:buNone/>
                      </a:pPr>
                      <a:r>
                        <a:rPr lang="en-US" sz="1150" dirty="0">
                          <a:solidFill>
                            <a:srgbClr val="2D2D2D"/>
                          </a:solidFill>
                          <a:latin typeface="Arial" pitchFamily="34" charset="0"/>
                          <a:ea typeface="Arial" pitchFamily="34" charset="-122"/>
                          <a:cs typeface="Arial" pitchFamily="34" charset="-120"/>
                        </a:rPr>
                        <a:t>B2</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yes (7 rules, 8 obligations)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correct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yes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RMP restraint, fit objective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3"/>
          <p:cNvSpPr/>
          <p:nvPr/>
        </p:nvSpPr>
        <p:spPr>
          <a:xfrm>
            <a:off x="457200" y="3429000"/>
            <a:ext cx="8229600" cy="1005840"/>
          </a:xfrm>
          <a:prstGeom prst="rect">
            <a:avLst/>
          </a:prstGeom>
          <a:solidFill>
            <a:srgbClr val="FFF2CC"/>
          </a:solidFill>
          <a:ln w="12700">
            <a:solidFill>
              <a:srgbClr val="E6D48A"/>
            </a:solidFill>
            <a:prstDash val="solid"/>
          </a:ln>
        </p:spPr>
      </p:sp>
      <p:sp>
        <p:nvSpPr>
          <p:cNvPr id="8" name="Text 4"/>
          <p:cNvSpPr/>
          <p:nvPr/>
        </p:nvSpPr>
        <p:spPr>
          <a:xfrm>
            <a:off x="457200" y="3429000"/>
            <a:ext cx="8229600" cy="1005840"/>
          </a:xfrm>
          <a:prstGeom prst="rect">
            <a:avLst/>
          </a:prstGeom>
          <a:noFill/>
          <a:ln/>
        </p:spPr>
        <p:txBody>
          <a:bodyPr wrap="square" lIns="101600" tIns="101600" rIns="101600" bIns="101600" rtlCol="0" anchor="ctr"/>
          <a:lstStyle/>
          <a:p>
            <a:pPr indent="0" marL="0">
              <a:buNone/>
            </a:pPr>
            <a:r>
              <a:rPr lang="en-US" sz="1200" dirty="0">
                <a:solidFill>
                  <a:srgbClr val="2D2D2D"/>
                </a:solidFill>
                <a:latin typeface="Arial" pitchFamily="34" charset="0"/>
                <a:ea typeface="Arial" pitchFamily="34" charset="-122"/>
                <a:cs typeface="Arial" pitchFamily="34" charset="-120"/>
              </a:rPr>
              <a:t>Where the leak came from: the selector matches rules by method family. A generic "MD uncertainty" check was mapped onto a FRET calibration rule (R0, inter-lab variation) and a FRET-assisted modeling rule (RMP restraint, prior ensemble). Matching by method name is not the same as applicability to the operation the question asks for.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DHFR (Cetin 2023): the paper links 4′-DTMP's recovered inhibition of L28R to closer local contacts; we reproduced the direction, after finding an input artifact</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Cetin et al. 2023 J Chem Inf Model (PMC10428214) Table 1, Figs 3–4; PBC_VALIDATION.json (VMD max Δ 1.1 × 10⁻⁵ Å); O3P is an atom name</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8</a:t>
            </a:r>
            <a:endParaRPr lang="en-US" sz="1000" dirty="0"/>
          </a:p>
        </p:txBody>
      </p:sp>
      <p:pic>
        <p:nvPicPr>
          <p:cNvPr id="6" name="Image 0" descr="/Users/liuzhenpeng/Desktop/UNC/Soojung-Dynamic data/autoresearch/tasks/dynamics_atlas_rules_incremental_value_protocol_20260909/outputs/deck_figures/dhfr_before_after_hist.png">    </p:cNvPr>
          <p:cNvPicPr>
            <a:picLocks noChangeAspect="1"/>
          </p:cNvPicPr>
          <p:nvPr/>
        </p:nvPicPr>
        <p:blipFill>
          <a:blip r:embed="rId1"/>
          <a:srcRect l="0" r="0" t="0" b="0"/>
          <a:stretch/>
        </p:blipFill>
        <p:spPr>
          <a:xfrm>
            <a:off x="457200" y="1188720"/>
            <a:ext cx="5669280" cy="2103120"/>
          </a:xfrm>
          <a:prstGeom prst="rect">
            <a:avLst/>
          </a:prstGeom>
        </p:spPr>
      </p:pic>
      <p:sp>
        <p:nvSpPr>
          <p:cNvPr id="7" name="Text 3"/>
          <p:cNvSpPr/>
          <p:nvPr/>
        </p:nvSpPr>
        <p:spPr>
          <a:xfrm>
            <a:off x="457200" y="3310128"/>
            <a:ext cx="5669280" cy="384048"/>
          </a:xfrm>
          <a:prstGeom prst="rect">
            <a:avLst/>
          </a:prstGeom>
          <a:noFill/>
          <a:ln/>
        </p:spPr>
        <p:txBody>
          <a:bodyPr wrap="square" rtlCol="0" anchor="ctr"/>
          <a:lstStyle/>
          <a:p>
            <a:pPr indent="0" marL="0">
              <a:buNone/>
            </a:pPr>
            <a:r>
              <a:rPr lang="en-US" sz="900" dirty="0">
                <a:solidFill>
                  <a:srgbClr val="777777"/>
                </a:solidFill>
                <a:latin typeface="Arial" pitchFamily="34" charset="0"/>
                <a:ea typeface="Arial" pitchFamily="34" charset="-122"/>
                <a:cs typeface="Arial" pitchFamily="34" charset="-120"/>
              </a:rPr>
              <a:t>M20 N – ligand O3P distance, frames 11–1000, four conditions; left frozen table, right corrected.</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263640" y="1188720"/>
          <a:ext cx="2423160" cy="914400"/>
        </p:xfrm>
        <a:graphic>
          <a:graphicData uri="http://schemas.openxmlformats.org/drawingml/2006/table">
            <a:tbl>
              <a:tblPr/>
              <a:tblGrid>
                <a:gridCol w="594360"/>
                <a:gridCol w="914400"/>
                <a:gridCol w="914400"/>
              </a:tblGrid>
              <a:tr h="457200">
                <a:tc>
                  <a:txBody>
                    <a:bodyPr/>
                    <a:lstStyle/>
                    <a:p>
                      <a:pPr indent="0" marL="0">
                        <a:buNone/>
                      </a:pP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Paper</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Ours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experiment</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Ki: WT 4.2 / 5.1 nM; L28R 65 / 34 nM</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quoted as context</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MD claim</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4′-DTMP closer to M20 loop, R28; H-bonds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M20 N–O3P: WT 8.69 → 4.62 Å; L28R 10.44 → 4.81 Å</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limits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authors' own analysis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n = 1 per condition; distance ≠ H-bond</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9" name="Shape 4"/>
          <p:cNvSpPr/>
          <p:nvPr/>
        </p:nvSpPr>
        <p:spPr>
          <a:xfrm>
            <a:off x="457200" y="3703320"/>
            <a:ext cx="8229600" cy="777240"/>
          </a:xfrm>
          <a:prstGeom prst="rect">
            <a:avLst/>
          </a:prstGeom>
          <a:solidFill>
            <a:srgbClr val="FFF2CC"/>
          </a:solidFill>
          <a:ln w="12700">
            <a:solidFill>
              <a:srgbClr val="E6D48A"/>
            </a:solidFill>
            <a:prstDash val="solid"/>
          </a:ln>
        </p:spPr>
      </p:sp>
      <p:sp>
        <p:nvSpPr>
          <p:cNvPr id="10" name="Text 5"/>
          <p:cNvSpPr/>
          <p:nvPr/>
        </p:nvSpPr>
        <p:spPr>
          <a:xfrm>
            <a:off x="457200" y="3703320"/>
            <a:ext cx="8229600" cy="777240"/>
          </a:xfrm>
          <a:prstGeom prst="rect">
            <a:avLst/>
          </a:prstGeom>
          <a:noFill/>
          <a:ln/>
        </p:spPr>
        <p:txBody>
          <a:bodyPr wrap="square" lIns="101600" tIns="101600" rIns="101600" bIns="101600" rtlCol="0" anchor="ctr"/>
          <a:lstStyle/>
          <a:p>
            <a:pPr indent="0" marL="0">
              <a:buNone/>
            </a:pPr>
            <a:r>
              <a:rPr lang="en-US" sz="1150" dirty="0">
                <a:solidFill>
                  <a:srgbClr val="2D2D2D"/>
                </a:solidFill>
                <a:latin typeface="Arial" pitchFamily="34" charset="0"/>
                <a:ea typeface="Arial" pitchFamily="34" charset="-122"/>
                <a:cs typeface="Arial" pitchFamily="34" charset="-120"/>
              </a:rPr>
              <a:t>Both Agent answers accepted the 50–90 Å values (defect noticed 0/2). No reminder text catches a wrong input; the check belongs at step 2, in code, before freezing. Original answers kept, not scored as science; corrected numbers are a developer calculation.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ADK (Orädd 2021): the paper tracks a millisecond ATP-binding response; the deposited ligand-free MD supports only domain-distance descriptions, and it broke my own data check</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Orädd et al. 2021 Sci Adv 7:eabi5514; Zenodo 5583119; project domain definitions; GROMACS cross-check max Δ ≈ 0.005 Å</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9</a:t>
            </a:r>
            <a:endParaRPr lang="en-US" sz="1000" dirty="0"/>
          </a:p>
        </p:txBody>
      </p:sp>
      <p:pic>
        <p:nvPicPr>
          <p:cNvPr id="6" name="Image 0" descr="/Users/liuzhenpeng/Desktop/UNC/Soojung-Dynamic data/autoresearch/tasks/dynamics_atlas_rules_incremental_value_protocol_20260909/outputs/deck_figures/adk_domain_timeseries.png">    </p:cNvPr>
          <p:cNvPicPr>
            <a:picLocks noChangeAspect="1"/>
          </p:cNvPicPr>
          <p:nvPr/>
        </p:nvPicPr>
        <p:blipFill>
          <a:blip r:embed="rId1"/>
          <a:srcRect l="0" r="0" t="0" b="0"/>
          <a:stretch/>
        </p:blipFill>
        <p:spPr>
          <a:xfrm>
            <a:off x="457200" y="1188720"/>
            <a:ext cx="4754880" cy="2697480"/>
          </a:xfrm>
          <a:prstGeom prst="rect">
            <a:avLst/>
          </a:prstGeom>
        </p:spPr>
      </p:pic>
      <p:sp>
        <p:nvSpPr>
          <p:cNvPr id="7" name="Text 3"/>
          <p:cNvSpPr/>
          <p:nvPr/>
        </p:nvSpPr>
        <p:spPr>
          <a:xfrm>
            <a:off x="457200" y="3904488"/>
            <a:ext cx="4754880" cy="384048"/>
          </a:xfrm>
          <a:prstGeom prst="rect">
            <a:avLst/>
          </a:prstGeom>
          <a:noFill/>
          <a:ln/>
        </p:spPr>
        <p:txBody>
          <a:bodyPr wrap="square" rtlCol="0" anchor="ctr"/>
          <a:lstStyle/>
          <a:p>
            <a:pPr indent="0" marL="0">
              <a:buNone/>
            </a:pPr>
            <a:r>
              <a:rPr lang="en-US" sz="900" dirty="0">
                <a:solidFill>
                  <a:srgbClr val="777777"/>
                </a:solidFill>
                <a:latin typeface="Arial" pitchFamily="34" charset="0"/>
                <a:ea typeface="Arial" pitchFamily="34" charset="-122"/>
                <a:cs typeface="Arial" pitchFamily="34" charset="-120"/>
              </a:rPr>
              <a:t>LID–CORE and NMP–CORE mean Cα distance per frame; shaded = first/last 10 % windows.</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394960" y="1188720"/>
          <a:ext cx="3291840" cy="914400"/>
        </p:xfrm>
        <a:graphic>
          <a:graphicData uri="http://schemas.openxmlformats.org/drawingml/2006/table">
            <a:tbl>
              <a:tblPr/>
              <a:tblGrid>
                <a:gridCol w="685800"/>
                <a:gridCol w="1280160"/>
                <a:gridCol w="1325880"/>
              </a:tblGrid>
              <a:tr h="457200">
                <a:tc>
                  <a:txBody>
                    <a:bodyPr/>
                    <a:lstStyle/>
                    <a:p>
                      <a:pPr indent="0" marL="0">
                        <a:buNone/>
                      </a:pP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Paper</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Ours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experiment</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TR-XSS after ATP release, with AMP; ~4.3 ms transient</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not reproducible from this MD</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MD</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candidates fitted to scattering</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window change, Å: open start LID +2.29, NMP +0.07; closed start +1.18, +1.09</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900" dirty="0">
                          <a:solidFill>
                            <a:srgbClr val="2D2D2D"/>
                          </a:solidFill>
                          <a:latin typeface="Arial" pitchFamily="34" charset="0"/>
                          <a:ea typeface="Arial" pitchFamily="34" charset="-122"/>
                          <a:cs typeface="Arial" pitchFamily="34" charset="-120"/>
                        </a:rPr>
                        <a:t>conditions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ATP + AMP, 294 K</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900" dirty="0">
                          <a:solidFill>
                            <a:srgbClr val="2D2D2D"/>
                          </a:solidFill>
                          <a:latin typeface="Arial" pitchFamily="34" charset="0"/>
                          <a:ea typeface="Arial" pitchFamily="34" charset="-122"/>
                          <a:cs typeface="Arial" pitchFamily="34" charset="-120"/>
                        </a:rPr>
                        <a:t>no ligand, 303 K, ≤ 450 ns</a:t>
                      </a:r>
                      <a:endParaRPr lang="en-US" sz="9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9" name="Shape 4"/>
          <p:cNvSpPr/>
          <p:nvPr/>
        </p:nvSpPr>
        <p:spPr>
          <a:xfrm>
            <a:off x="5394960" y="3154680"/>
            <a:ext cx="3291840" cy="1325880"/>
          </a:xfrm>
          <a:prstGeom prst="rect">
            <a:avLst/>
          </a:prstGeom>
          <a:solidFill>
            <a:srgbClr val="FFF2CC"/>
          </a:solidFill>
          <a:ln w="12700">
            <a:solidFill>
              <a:srgbClr val="E6D48A"/>
            </a:solidFill>
            <a:prstDash val="solid"/>
          </a:ln>
        </p:spPr>
      </p:sp>
      <p:sp>
        <p:nvSpPr>
          <p:cNvPr id="10" name="Text 5"/>
          <p:cNvSpPr/>
          <p:nvPr/>
        </p:nvSpPr>
        <p:spPr>
          <a:xfrm>
            <a:off x="5394960" y="3154680"/>
            <a:ext cx="3291840" cy="1325880"/>
          </a:xfrm>
          <a:prstGeom prst="rect">
            <a:avLst/>
          </a:prstGeom>
          <a:noFill/>
          <a:ln/>
        </p:spPr>
        <p:txBody>
          <a:bodyPr wrap="square" lIns="101600" tIns="101600" rIns="101600" bIns="101600" rtlCol="0" anchor="ctr"/>
          <a:lstStyle/>
          <a:p>
            <a:pPr indent="0" marL="0">
              <a:buNone/>
            </a:pPr>
            <a:r>
              <a:rPr lang="en-US" sz="1050" dirty="0">
                <a:solidFill>
                  <a:srgbClr val="2D2D2D"/>
                </a:solidFill>
                <a:latin typeface="Arial" pitchFamily="34" charset="0"/>
                <a:ea typeface="Arial" pitchFamily="34" charset="-122"/>
                <a:cs typeface="Arial" pitchFamily="34" charset="-120"/>
              </a:rPr>
              <a:t>My half-box rule (49–50 Å) flagged real 62 and 70 Å distances: the open molecule spans 56 Å. Replaced by: whole reconstructed molecule, adjacent Cα ≤ 4.5 Å, GROMACS agreement ≤ 0.01 Å.</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Looking back at every answer so far: 13 error observations, none preventable by reminder text; they sit at data entry and at the numbers going out</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E0_RETROSPECTIVE_AUDIT.csv: 13 rows, 7 same-cause groups, 8 answers (HSP90 4, DHFR 2, nanodisc 2)</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1097280"/>
                <a:gridCol w="1371600"/>
                <a:gridCol w="2743200"/>
              </a:tblGrid>
              <a:tr h="457200">
                <a:tc>
                  <a:txBody>
                    <a:bodyPr/>
                    <a:lstStyle/>
                    <a:p>
                      <a:pPr indent="0" marL="0">
                        <a:buNone/>
                      </a:pPr>
                      <a:r>
                        <a:rPr lang="en-US" sz="1150" b="1" dirty="0">
                          <a:solidFill>
                            <a:srgbClr val="FFFFFF"/>
                          </a:solidFill>
                          <a:latin typeface="Arial" pitchFamily="34" charset="0"/>
                          <a:ea typeface="Arial" pitchFamily="34" charset="-122"/>
                          <a:cs typeface="Arial" pitchFamily="34" charset="-120"/>
                        </a:rPr>
                        <a:t>Error group (where observed)</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Workflow step</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Reminder text?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could catch it</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periodic-image artifact taken as real (DHFR × 2)</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2 Package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physical data check in code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threshold / column mix-ups in counts (HSP90 A2; DHFR A1 percentages)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5 Check</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recompute each claimed number from its source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wrong NOE upper-bound array (nanodisc Q05)</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5 Check</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bind each claim to raw quantity, unit and transform</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"open direction" read as "near open state" (HSP90)</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3 Frame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partly</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split the question: direction / arrival / full transition</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150" dirty="0">
                          <a:solidFill>
                            <a:srgbClr val="2D2D2D"/>
                          </a:solidFill>
                          <a:latin typeface="Arial" pitchFamily="34" charset="0"/>
                          <a:ea typeface="Arial" pitchFamily="34" charset="-122"/>
                          <a:cs typeface="Arial" pitchFamily="34" charset="-120"/>
                        </a:rPr>
                        <a:t>FRET-only conditions imported (HSP90 B1, B2)</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4 Run</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text is the cause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retrieve guidance by the operation requested, not by method name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The Agent step is real analysis: sealed container, read-only data, Python written and run, a structured answer submitted, one to two cents per run</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Luna runtime v1; three directories mounted separately (data / hidden grading key / rules); control arm directory has no rule files, asserted by a test</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2651760"/>
                <a:gridCol w="2560320"/>
              </a:tblGrid>
              <a:tr h="457200">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the run gets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it cannot do</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is logged</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457200">
                <a:tc>
                  <a:txBody>
                    <a:bodyPr/>
                    <a:lstStyle/>
                    <a:p>
                      <a:pPr indent="0" marL="0">
                        <a:buNone/>
                      </a:pPr>
                      <a:r>
                        <a:rPr lang="en-US" sz="1250" dirty="0">
                          <a:solidFill>
                            <a:srgbClr val="2D2D2D"/>
                          </a:solidFill>
                          <a:latin typeface="Arial" pitchFamily="34" charset="0"/>
                          <a:ea typeface="Arial" pitchFamily="34" charset="-122"/>
                          <a:cs typeface="Arial" pitchFamily="34" charset="-120"/>
                        </a:rPr>
                        <a:t>read-only data · source card · question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reach the network</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every tool call and its output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250" dirty="0">
                          <a:solidFill>
                            <a:srgbClr val="2D2D2D"/>
                          </a:solidFill>
                          <a:latin typeface="Arial" pitchFamily="34" charset="0"/>
                          <a:ea typeface="Arial" pitchFamily="34" charset="-122"/>
                          <a:cs typeface="Arial" pitchFamily="34" charset="-120"/>
                        </a:rPr>
                        <a:t>5 tools: list · read · run Python · note · submit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see the hidden grading key or another arm's files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the submitted structured answer</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57200">
                <a:tc>
                  <a:txBody>
                    <a:bodyPr/>
                    <a:lstStyle/>
                    <a:p>
                      <a:pPr indent="0" marL="0">
                        <a:buNone/>
                      </a:pPr>
                      <a:r>
                        <a:rPr lang="en-US" sz="1250" dirty="0">
                          <a:solidFill>
                            <a:srgbClr val="2D2D2D"/>
                          </a:solidFill>
                          <a:latin typeface="Arial" pitchFamily="34" charset="0"/>
                          <a:ea typeface="Arial" pitchFamily="34" charset="-122"/>
                          <a:cs typeface="Arial" pitchFamily="34" charset="-120"/>
                        </a:rPr>
                        <a:t>≤ 40 tool calls · ≤ 25 min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overwrite a submitted answer with chat text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cost per run, settled from provider receipts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3"/>
          <p:cNvSpPr/>
          <p:nvPr/>
        </p:nvSpPr>
        <p:spPr>
          <a:xfrm>
            <a:off x="457200" y="3063240"/>
            <a:ext cx="8229600" cy="1280160"/>
          </a:xfrm>
          <a:prstGeom prst="rect">
            <a:avLst/>
          </a:prstGeom>
          <a:solidFill>
            <a:srgbClr val="FFF2CC"/>
          </a:solidFill>
          <a:ln w="12700">
            <a:solidFill>
              <a:srgbClr val="E6D48A"/>
            </a:solidFill>
            <a:prstDash val="solid"/>
          </a:ln>
        </p:spPr>
      </p:sp>
      <p:sp>
        <p:nvSpPr>
          <p:cNvPr id="8" name="Text 4"/>
          <p:cNvSpPr/>
          <p:nvPr/>
        </p:nvSpPr>
        <p:spPr>
          <a:xfrm>
            <a:off x="457200" y="3063240"/>
            <a:ext cx="8229600" cy="1280160"/>
          </a:xfrm>
          <a:prstGeom prst="rect">
            <a:avLst/>
          </a:prstGeom>
          <a:noFill/>
          <a:ln/>
        </p:spPr>
        <p:txBody>
          <a:bodyPr wrap="square" lIns="101600" tIns="101600" rIns="101600" bIns="101600" rtlCol="0" anchor="ctr"/>
          <a:lstStyle/>
          <a:p>
            <a:pPr indent="0" marL="0">
              <a:buNone/>
            </a:pPr>
            <a:r>
              <a:rPr lang="en-US" sz="1300" dirty="0">
                <a:solidFill>
                  <a:srgbClr val="2D2D2D"/>
                </a:solidFill>
                <a:latin typeface="Arial" pitchFamily="34" charset="0"/>
                <a:ea typeface="Arial" pitchFamily="34" charset="-122"/>
                <a:cs typeface="Arial" pitchFamily="34" charset="-120"/>
              </a:rPr>
              <a:t>Why the Agent stays in the design: goal 4 asks whether an agent can lower curation cost without adding unsafe claims. It is the last of the four goals and is allowed to fail on its own. The question tested next is not "can it analyse" (it can) but "what information given to it produces a measurable gain".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So the 33 rules were split by job into four uses; the design question became: what information reaches the Agent, in what form, at which step</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RULES_TABLE_ROLE_DESIGN_ZH.md §2; assignment by rule_class: 6 / 10 / 11 / 6 (appendix A2)</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188720"/>
                <a:gridCol w="2743200"/>
                <a:gridCol w="1554480"/>
                <a:gridCol w="2286000"/>
                <a:gridCol w="457200"/>
              </a:tblGrid>
              <a:tr h="640080">
                <a:tc>
                  <a:txBody>
                    <a:bodyPr/>
                    <a:lstStyle/>
                    <a:p>
                      <a:pPr indent="0" marL="0">
                        <a:buNone/>
                      </a:pPr>
                      <a:r>
                        <a:rPr lang="en-US" sz="1100" b="1" dirty="0">
                          <a:solidFill>
                            <a:srgbClr val="FFFFFF"/>
                          </a:solidFill>
                          <a:latin typeface="Arial" pitchFamily="34" charset="0"/>
                          <a:ea typeface="Arial" pitchFamily="34" charset="-122"/>
                          <a:cs typeface="Arial" pitchFamily="34" charset="-120"/>
                        </a:rPr>
                        <a:t>Use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 it answers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Executed by, when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the Agent receives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Rules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A 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which difference must this question distinguish; which sub-questions; what competing explanations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person + template, before the run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nothing directly: the question text and the hidden grading key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B Data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can these data answer it: object, condition, units, time, role of each dataset, physics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code, before freezing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card of PASS / FAIL results in the data directory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C Method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how this kind of data should be computed: forward model, averaging, reweighting prerequisites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retrieved by method family, at run time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short cards, ≤ 10 lines each, the only rule text it sees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100" dirty="0">
                          <a:solidFill>
                            <a:srgbClr val="2D2D2D"/>
                          </a:solidFill>
                          <a:latin typeface="Arial" pitchFamily="34" charset="0"/>
                          <a:ea typeface="Arial" pitchFamily="34" charset="-122"/>
                          <a:cs typeface="Arial" pitchFamily="34" charset="-120"/>
                        </a:rPr>
                        <a:t>D Conclusion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how far the result can be read: frames ≠ populations, fit ≠ validation, proximity ≠ state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code, after submission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feedback message; may revise once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Each use got its own test that could fail: what triggered it, the one thing changed, and the pass criterion written down before running</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FOUR_LAYER_VALIDATION_PLAN_ZH.md v2; 74 runs, $1.20; scorer also prepared the cases (labels masked); nanodisc Q05 is a development case</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1920240"/>
                <a:gridCol w="2103120"/>
                <a:gridCol w="1371600"/>
                <a:gridCol w="1737360"/>
              </a:tblGrid>
              <a:tr h="566928">
                <a:tc>
                  <a:txBody>
                    <a:bodyPr/>
                    <a:lstStyle/>
                    <a:p>
                      <a:pPr indent="0" marL="0">
                        <a:buNone/>
                      </a:pPr>
                      <a:r>
                        <a:rPr lang="en-US" sz="1050" b="1" dirty="0">
                          <a:solidFill>
                            <a:srgbClr val="FFFFFF"/>
                          </a:solidFill>
                          <a:latin typeface="Arial" pitchFamily="34" charset="0"/>
                          <a:ea typeface="Arial" pitchFamily="34" charset="-122"/>
                          <a:cs typeface="Arial" pitchFamily="34" charset="-120"/>
                        </a:rPr>
                        <a:t>Use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Trigger (what we had seen)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The one thing changed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Questions · runs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Pass criterion (pre-set)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A Framing</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direction answered, arrival never asked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original question vs explicit sub-questions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ADK · 16</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coverage up on 2/2 questions, overclaims not up</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B Data checks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DHFR: wrapped table passed into the run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data-check card present vs absent; checker on 6 planted defects + 3 clean packages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DHFR defective · 8</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checker ≥ 5/6, 0 false alarms; Agent downgrades more with card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C Method cards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B1/B2: FRET conditions imported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7-line protocol vs full rules vs scoped cards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NOE, nanodisc Q05 · 24</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cards at least as good as both on both questions; 0 inapplicable terms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66928">
                <a:tc>
                  <a:txBody>
                    <a:bodyPr/>
                    <a:lstStyle/>
                    <a:p>
                      <a:pPr indent="0" marL="0">
                        <a:buNone/>
                      </a:pPr>
                      <a:r>
                        <a:rPr lang="en-US" sz="1050" dirty="0">
                          <a:solidFill>
                            <a:srgbClr val="2D2D2D"/>
                          </a:solidFill>
                          <a:latin typeface="Arial" pitchFamily="34" charset="0"/>
                          <a:ea typeface="Arial" pitchFamily="34" charset="-122"/>
                          <a:cs typeface="Arial" pitchFamily="34" charset="-120"/>
                        </a:rPr>
                        <a:t>D Conclusion checks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A2 thresholds; Q05 wrong NOE bound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 feedback vs one automated review pass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 DHFR fixed, ADK · 24</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fewer core errors on ≥ 2/3 questions, omissions not up</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Text 3"/>
          <p:cNvSpPr/>
          <p:nvPr/>
        </p:nvSpPr>
        <p:spPr>
          <a:xfrm>
            <a:off x="457200" y="4160520"/>
            <a:ext cx="8229600" cy="457200"/>
          </a:xfrm>
          <a:prstGeom prst="rect">
            <a:avLst/>
          </a:prstGeom>
          <a:noFill/>
          <a:ln/>
        </p:spPr>
        <p:txBody>
          <a:bodyPr wrap="square" rtlCol="0" anchor="ctr"/>
          <a:lstStyle/>
          <a:p>
            <a:pPr indent="0" marL="0">
              <a:buNone/>
            </a:pPr>
            <a:r>
              <a:rPr lang="en-US" sz="1100" dirty="0">
                <a:solidFill>
                  <a:srgbClr val="777777"/>
                </a:solidFill>
                <a:latin typeface="Arial" pitchFamily="34" charset="0"/>
                <a:ea typeface="Arial" pitchFamily="34" charset="-122"/>
                <a:cs typeface="Arial" pitchFamily="34" charset="-120"/>
              </a:rPr>
              <a:t>Coverage is counted over 3 pre-registered sub-questions per question; correct units over the 5 core units. Answers de-labelled; scores sealed before the condition mapping was revealed.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000" b="1" dirty="0">
                <a:solidFill>
                  <a:srgbClr val="1F4E79"/>
                </a:solidFill>
                <a:latin typeface="Arial" pitchFamily="34" charset="0"/>
                <a:ea typeface="Arial" pitchFamily="34" charset="-122"/>
                <a:cs typeface="Arial" pitchFamily="34" charset="-120"/>
              </a:rPr>
              <a:t>Result: only explicit sub-questions met its criterion; the data-check card, method cards and one feedback pass did not</a:t>
            </a:r>
            <a:endParaRPr lang="en-US" sz="20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UNBLINDED_SCORES.csv, medians of 4; FINAL_DECISIONS.json; RULES_TABLE_VERDICT_EN.md</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188720"/>
                <a:gridCol w="3840480"/>
                <a:gridCol w="640080"/>
                <a:gridCol w="2560320"/>
              </a:tblGrid>
              <a:tr h="676656">
                <a:tc>
                  <a:txBody>
                    <a:bodyPr/>
                    <a:lstStyle/>
                    <a:p>
                      <a:pPr indent="0" marL="0">
                        <a:buNone/>
                      </a:pPr>
                      <a:r>
                        <a:rPr lang="en-US" sz="1100" b="1" dirty="0">
                          <a:solidFill>
                            <a:srgbClr val="FFFFFF"/>
                          </a:solidFill>
                          <a:latin typeface="Arial" pitchFamily="34" charset="0"/>
                          <a:ea typeface="Arial" pitchFamily="34" charset="-122"/>
                          <a:cs typeface="Arial" pitchFamily="34" charset="-120"/>
                        </a:rPr>
                        <a:t>Use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Observed (median of 4 unless stated)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Decision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676656">
                <a:tc>
                  <a:txBody>
                    <a:bodyPr/>
                    <a:lstStyle/>
                    <a:p>
                      <a:pPr indent="0" marL="0">
                        <a:buNone/>
                      </a:pPr>
                      <a:r>
                        <a:rPr lang="en-US" sz="1100" dirty="0">
                          <a:solidFill>
                            <a:srgbClr val="2D2D2D"/>
                          </a:solidFill>
                          <a:latin typeface="Arial" pitchFamily="34" charset="0"/>
                          <a:ea typeface="Arial" pitchFamily="34" charset="-122"/>
                          <a:cs typeface="Arial" pitchFamily="34" charset="-120"/>
                        </a:rPr>
                        <a:t>A 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coverage HSP90 2 → 2.5 /3, ADK 2 → 3 /3; overclaims 0 → 0; HSP90 total errors 1 → 2 over 4 runs. Sub-questions were written by a person.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2E7D32"/>
                          </a:solidFill>
                          <a:latin typeface="Arial" pitchFamily="34" charset="0"/>
                          <a:ea typeface="Arial" pitchFamily="34" charset="-122"/>
                          <a:cs typeface="Arial" pitchFamily="34" charset="-120"/>
                        </a:rPr>
                        <a:t>yes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keep: ask direction, magnitude and limits separately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76656">
                <a:tc>
                  <a:txBody>
                    <a:bodyPr/>
                    <a:lstStyle/>
                    <a:p>
                      <a:pPr indent="0" marL="0">
                        <a:buNone/>
                      </a:pPr>
                      <a:r>
                        <a:rPr lang="en-US" sz="1100" dirty="0">
                          <a:solidFill>
                            <a:srgbClr val="2D2D2D"/>
                          </a:solidFill>
                          <a:latin typeface="Arial" pitchFamily="34" charset="0"/>
                          <a:ea typeface="Arial" pitchFamily="34" charset="-122"/>
                          <a:cs typeface="Arial" pitchFamily="34" charset="-120"/>
                        </a:rPr>
                        <a:t>B Data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checker 6/6 planted defects, 0/3 false alarms; Agent detected the defect 0/4 with card, 0/4 without; all 4 card runs listed the file, none read 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run data checks inside preparation; never rely on the Agent finding a warning file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76656">
                <a:tc>
                  <a:txBody>
                    <a:bodyPr/>
                    <a:lstStyle/>
                    <a:p>
                      <a:pPr indent="0" marL="0">
                        <a:buNone/>
                      </a:pPr>
                      <a:r>
                        <a:rPr lang="en-US" sz="1100" dirty="0">
                          <a:solidFill>
                            <a:srgbClr val="2D2D2D"/>
                          </a:solidFill>
                          <a:latin typeface="Arial" pitchFamily="34" charset="0"/>
                          <a:ea typeface="Arial" pitchFamily="34" charset="-122"/>
                          <a:cs typeface="Arial" pitchFamily="34" charset="-120"/>
                        </a:rPr>
                        <a:t>C Method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correct units /5 — HSP90: protocol 4.5 · full rules 2 · cards 2.5; nanodisc: 4.5 · 5 · 4.5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pause; retrieve by operation, not method family; keep the nanodisc full-rule benefit on record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76656">
                <a:tc>
                  <a:txBody>
                    <a:bodyPr/>
                    <a:lstStyle/>
                    <a:p>
                      <a:pPr indent="0" marL="0">
                        <a:buNone/>
                      </a:pPr>
                      <a:r>
                        <a:rPr lang="en-US" sz="1100" dirty="0">
                          <a:solidFill>
                            <a:srgbClr val="2D2D2D"/>
                          </a:solidFill>
                          <a:latin typeface="Arial" pitchFamily="34" charset="0"/>
                          <a:ea typeface="Arial" pitchFamily="34" charset="-122"/>
                          <a:cs typeface="Arial" pitchFamily="34" charset="-120"/>
                        </a:rPr>
                        <a:t>D Conclusion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1/3 questions improved (ADK), already better in initial drafts; 0/12 revisions reduced errors; 3 lost content; 0/9 warnings hit a real error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pause; matching numbers to logs cannot catch numbers already wrong in the logs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Why each use failed matters more than that it failed: delivery, applicability and traceability are three different problems</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E1B_CARD_ACCESS_AUDIT.json; E3_CARD_RETRIEVAL.json; METHOD_CARD_DESIGN_ANALYSIS_ZH.md; E0_CEILING_REPLAY_REVIEW_ZH.md</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463040"/>
                <a:gridCol w="4023360"/>
                <a:gridCol w="2743200"/>
              </a:tblGrid>
              <a:tr h="777240">
                <a:tc>
                  <a:txBody>
                    <a:bodyPr/>
                    <a:lstStyle/>
                    <a:p>
                      <a:pPr indent="0" marL="0">
                        <a:buNone/>
                      </a:pPr>
                      <a:r>
                        <a:rPr lang="en-US" sz="1150" b="1" dirty="0">
                          <a:solidFill>
                            <a:srgbClr val="FFFFFF"/>
                          </a:solidFill>
                          <a:latin typeface="Arial" pitchFamily="34" charset="0"/>
                          <a:ea typeface="Arial" pitchFamily="34" charset="-122"/>
                          <a:cs typeface="Arial" pitchFamily="34" charset="-120"/>
                        </a:rPr>
                        <a:t>Use</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Mechanism observed</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Repair it points to</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777240">
                <a:tc>
                  <a:txBody>
                    <a:bodyPr/>
                    <a:lstStyle/>
                    <a:p>
                      <a:pPr indent="0" marL="0">
                        <a:buNone/>
                      </a:pPr>
                      <a:r>
                        <a:rPr lang="en-US" sz="1150" dirty="0">
                          <a:solidFill>
                            <a:srgbClr val="2D2D2D"/>
                          </a:solidFill>
                          <a:latin typeface="Arial" pitchFamily="34" charset="0"/>
                          <a:ea typeface="Arial" pitchFamily="34" charset="-122"/>
                          <a:cs typeface="Arial" pitchFamily="34" charset="-120"/>
                        </a:rPr>
                        <a:t>B Data-check card</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tool logs: card file listed in 4/4 runs, contents read in 0/4</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block bad tables at step 2; a warning file is not a channel</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77240">
                <a:tc>
                  <a:txBody>
                    <a:bodyPr/>
                    <a:lstStyle/>
                    <a:p>
                      <a:pPr indent="0" marL="0">
                        <a:buNone/>
                      </a:pPr>
                      <a:r>
                        <a:rPr lang="en-US" sz="1150" dirty="0">
                          <a:solidFill>
                            <a:srgbClr val="2D2D2D"/>
                          </a:solidFill>
                          <a:latin typeface="Arial" pitchFamily="34" charset="0"/>
                          <a:ea typeface="Arial" pitchFamily="34" charset="-122"/>
                          <a:cs typeface="Arial" pitchFamily="34" charset="-120"/>
                        </a:rPr>
                        <a:t>C Method cards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HSP90 retrieved 1 card, a BME reweighting card, for a task that fits no weights; nanodisc retrieved 4 incl. FRET-specific; DHFR and ADK retrieved 0</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index cards by the operation being performed and its prerequisites; cover MD-only operations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77240">
                <a:tc>
                  <a:txBody>
                    <a:bodyPr/>
                    <a:lstStyle/>
                    <a:p>
                      <a:pPr indent="0" marL="0">
                        <a:buNone/>
                      </a:pPr>
                      <a:r>
                        <a:rPr lang="en-US" sz="1150" dirty="0">
                          <a:solidFill>
                            <a:srgbClr val="2D2D2D"/>
                          </a:solidFill>
                          <a:latin typeface="Arial" pitchFamily="34" charset="0"/>
                          <a:ea typeface="Arial" pitchFamily="34" charset="-122"/>
                          <a:cs typeface="Arial" pitchFamily="34" charset="-120"/>
                        </a:rPr>
                        <a:t>D Conclusion check</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checks whether a number appears in tool output; the wrong nanodisc bound array was already in the log, so 4.35 Å passed; replay on 8 answers: 0/7 numeric errors caught, 1 false alarm (the −1 in Å⁻¹)</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50" dirty="0">
                          <a:solidFill>
                            <a:srgbClr val="2D2D2D"/>
                          </a:solidFill>
                          <a:latin typeface="Arial" pitchFamily="34" charset="0"/>
                          <a:ea typeface="Arial" pitchFamily="34" charset="-122"/>
                          <a:cs typeface="Arial" pitchFamily="34" charset="-120"/>
                        </a:rPr>
                        <a:t>recompute each claim from raw quantity, unit and transform; do not match strings</a:t>
                      </a:r>
                      <a:endParaRPr lang="en-US" sz="11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How the Rules Table should be built from here: three forms, what each assumes, and what this round's evidence says about each</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Evidence: slides 14–15. Authority split in SYSTEM.md: Agent proposes; deterministic code validates, computes and bounds; a person owns competing explanations</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2286000"/>
                <a:gridCol w="1463040"/>
                <a:gridCol w="2011680"/>
                <a:gridCol w="914400"/>
              </a:tblGrid>
              <a:tr h="713232">
                <a:tc>
                  <a:txBody>
                    <a:bodyPr/>
                    <a:lstStyle/>
                    <a:p>
                      <a:pPr indent="0" marL="0">
                        <a:buNone/>
                      </a:pPr>
                      <a:r>
                        <a:rPr lang="en-US" sz="1050" b="1" dirty="0">
                          <a:solidFill>
                            <a:srgbClr val="FFFFFF"/>
                          </a:solidFill>
                          <a:latin typeface="Arial" pitchFamily="34" charset="0"/>
                          <a:ea typeface="Arial" pitchFamily="34" charset="-122"/>
                          <a:cs typeface="Arial" pitchFamily="34" charset="-120"/>
                        </a:rPr>
                        <a:t>Form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What the Agent gets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Assumes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Evidence today</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Not yet tested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713232">
                <a:tc>
                  <a:txBody>
                    <a:bodyPr/>
                    <a:lstStyle/>
                    <a:p>
                      <a:pPr indent="0" marL="0">
                        <a:buNone/>
                      </a:pPr>
                      <a:r>
                        <a:rPr lang="en-US" sz="1050" dirty="0">
                          <a:solidFill>
                            <a:srgbClr val="2D2D2D"/>
                          </a:solidFill>
                          <a:latin typeface="Arial" pitchFamily="34" charset="0"/>
                          <a:ea typeface="Arial" pitchFamily="34" charset="-122"/>
                          <a:cs typeface="Arial" pitchFamily="34" charset="-120"/>
                        </a:rPr>
                        <a:t>1  Repair the four uses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card delivered inside the question; operation-indexed cards; recompute-based check</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failures were implementation, not concept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 supported; B, C, D failed in current form; mechanisms identified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every repair</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13232">
                <a:tc>
                  <a:txBody>
                    <a:bodyPr/>
                    <a:lstStyle/>
                    <a:p>
                      <a:pPr indent="0" marL="0">
                        <a:buNone/>
                      </a:pPr>
                      <a:r>
                        <a:rPr lang="en-US" sz="1050" dirty="0">
                          <a:solidFill>
                            <a:srgbClr val="2D2D2D"/>
                          </a:solidFill>
                          <a:latin typeface="Arial" pitchFamily="34" charset="0"/>
                          <a:ea typeface="Arial" pitchFamily="34" charset="-122"/>
                          <a:cs typeface="Arial" pitchFamily="34" charset="-120"/>
                        </a:rPr>
                        <a:t>2  Rules serve the protocol writer</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 7-line protocol only; rules used by people for grading key and data checks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 human-written protocol captures what matters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strongest: protocol arm never worse (HSP90 4.5/5, nanodisc 4.5/5)</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whether it scales past three systems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13232">
                <a:tc>
                  <a:txBody>
                    <a:bodyPr/>
                    <a:lstStyle/>
                    <a:p>
                      <a:pPr indent="0" marL="0">
                        <a:buNone/>
                      </a:pPr>
                      <a:r>
                        <a:rPr lang="en-US" sz="1050" dirty="0">
                          <a:solidFill>
                            <a:srgbClr val="2D2D2D"/>
                          </a:solidFill>
                          <a:latin typeface="Arial" pitchFamily="34" charset="0"/>
                          <a:ea typeface="Arial" pitchFamily="34" charset="-122"/>
                          <a:cs typeface="Arial" pitchFamily="34" charset="-120"/>
                        </a:rPr>
                        <a:t>3  Rules as operator configuration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a catalogue of callable, registered operators; Agent proposes which to call, code executes and bounds the claim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every useful rule can be made executable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indirect: the checks that mattered (DHFR, ADK) were physical and executable; all failures were about text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the whole form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3"/>
          <p:cNvSpPr/>
          <p:nvPr/>
        </p:nvSpPr>
        <p:spPr>
          <a:xfrm>
            <a:off x="457200" y="4160520"/>
            <a:ext cx="8229600" cy="457200"/>
          </a:xfrm>
          <a:prstGeom prst="rect">
            <a:avLst/>
          </a:prstGeom>
          <a:solidFill>
            <a:srgbClr val="FFF2CC"/>
          </a:solidFill>
          <a:ln w="12700">
            <a:solidFill>
              <a:srgbClr val="E6D48A"/>
            </a:solidFill>
            <a:prstDash val="solid"/>
          </a:ln>
        </p:spPr>
      </p:sp>
      <p:sp>
        <p:nvSpPr>
          <p:cNvPr id="8" name="Text 4"/>
          <p:cNvSpPr/>
          <p:nvPr/>
        </p:nvSpPr>
        <p:spPr>
          <a:xfrm>
            <a:off x="457200" y="4160520"/>
            <a:ext cx="8229600" cy="457200"/>
          </a:xfrm>
          <a:prstGeom prst="rect">
            <a:avLst/>
          </a:prstGeom>
          <a:noFill/>
          <a:ln/>
        </p:spPr>
        <p:txBody>
          <a:bodyPr wrap="square" lIns="101600" tIns="101600" rIns="101600" bIns="101600" rtlCol="0" anchor="ctr"/>
          <a:lstStyle/>
          <a:p>
            <a:pPr indent="0" marL="0">
              <a:buNone/>
            </a:pPr>
            <a:r>
              <a:rPr lang="en-US" sz="1250" dirty="0">
                <a:solidFill>
                  <a:srgbClr val="2D2D2D"/>
                </a:solidFill>
                <a:latin typeface="Arial" pitchFamily="34" charset="0"/>
                <a:ea typeface="Arial" pitchFamily="34" charset="-122"/>
                <a:cs typeface="Arial" pitchFamily="34" charset="-120"/>
              </a:rPr>
              <a:t>My lean: build toward 3, keep 2 as the baseline every version must beat on new questions. Your call.</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1900" b="1" dirty="0">
                <a:solidFill>
                  <a:srgbClr val="1F4E79"/>
                </a:solidFill>
                <a:latin typeface="Arial" pitchFamily="34" charset="0"/>
                <a:ea typeface="Arial" pitchFamily="34" charset="-122"/>
                <a:cs typeface="Arial" pitchFamily="34" charset="-120"/>
              </a:rPr>
              <a:t>Are the three systems the right ones? By the criterion from slide 4, only HSP90 fully qualifies; DHFR and ADK earned their place as workflow tests</a:t>
            </a:r>
            <a:endParaRPr lang="en-US" sz="19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Slides 5–9; 24 Aug meeting: HSP90 first, one system at a time</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731520"/>
                <a:gridCol w="1828800"/>
                <a:gridCol w="1828800"/>
                <a:gridCol w="1737360"/>
                <a:gridCol w="1371600"/>
                <a:gridCol w="731520"/>
              </a:tblGrid>
              <a:tr h="640080">
                <a:tc>
                  <a:txBody>
                    <a:bodyPr/>
                    <a:lstStyle/>
                    <a:p>
                      <a:pPr indent="0" marL="0">
                        <a:buNone/>
                      </a:pPr>
                      <a:r>
                        <a:rPr lang="en-US" sz="1050" b="1" dirty="0">
                          <a:solidFill>
                            <a:srgbClr val="FFFFFF"/>
                          </a:solidFill>
                          <a:latin typeface="Arial" pitchFamily="34" charset="0"/>
                          <a:ea typeface="Arial" pitchFamily="34" charset="-122"/>
                          <a:cs typeface="Arial" pitchFamily="34" charset="-120"/>
                        </a:rPr>
                        <a:t>System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Paper's result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Our result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Experiment constrains the question?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What it tested</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Keep?</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640080">
                <a:tc>
                  <a:txBody>
                    <a:bodyPr/>
                    <a:lstStyle/>
                    <a:p>
                      <a:pPr indent="0" marL="0">
                        <a:buNone/>
                      </a:pPr>
                      <a:r>
                        <a:rPr lang="en-US" sz="1050" dirty="0">
                          <a:solidFill>
                            <a:srgbClr val="2D2D2D"/>
                          </a:solidFill>
                          <a:latin typeface="Arial" pitchFamily="34" charset="0"/>
                          <a:ea typeface="Arial" pitchFamily="34" charset="-122"/>
                          <a:cs typeface="Arial" pitchFamily="34" charset="-120"/>
                        </a:rPr>
                        <a:t>HSP90</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transient closed state; 7/9/4; ms exchange</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10/20 direction; 9/10 far from both references at 1 Å; no populations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yes: two NOE references, CPMG</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science, framing, prompt form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b="1" dirty="0">
                          <a:solidFill>
                            <a:srgbClr val="2E7D32"/>
                          </a:solidFill>
                          <a:latin typeface="Arial" pitchFamily="34" charset="0"/>
                          <a:ea typeface="Arial" pitchFamily="34" charset="-122"/>
                          <a:cs typeface="Arial" pitchFamily="34" charset="-120"/>
                        </a:rPr>
                        <a:t>yes, deepen</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050" dirty="0">
                          <a:solidFill>
                            <a:srgbClr val="2D2D2D"/>
                          </a:solidFill>
                          <a:latin typeface="Arial" pitchFamily="34" charset="0"/>
                          <a:ea typeface="Arial" pitchFamily="34" charset="-122"/>
                          <a:cs typeface="Arial" pitchFamily="34" charset="-120"/>
                        </a:rPr>
                        <a:t>DHFR</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4′-DTMP recovers L28R inhibition; closer local contacts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same direction, 8.69 → 4.62 Å (WT), n = 1</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no: Ki only</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workflow: exposed the missing data check</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b="1" dirty="0">
                          <a:solidFill>
                            <a:srgbClr val="777777"/>
                          </a:solidFill>
                          <a:latin typeface="Arial" pitchFamily="34" charset="0"/>
                          <a:ea typeface="Arial" pitchFamily="34" charset="-122"/>
                          <a:cs typeface="Arial" pitchFamily="34" charset="-120"/>
                        </a:rPr>
                        <a:t>as regression test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640080">
                <a:tc>
                  <a:txBody>
                    <a:bodyPr/>
                    <a:lstStyle/>
                    <a:p>
                      <a:pPr indent="0" marL="0">
                        <a:buNone/>
                      </a:pPr>
                      <a:r>
                        <a:rPr lang="en-US" sz="1050" dirty="0">
                          <a:solidFill>
                            <a:srgbClr val="2D2D2D"/>
                          </a:solidFill>
                          <a:latin typeface="Arial" pitchFamily="34" charset="0"/>
                          <a:ea typeface="Arial" pitchFamily="34" charset="-122"/>
                          <a:cs typeface="Arial" pitchFamily="34" charset="-120"/>
                        </a:rPr>
                        <a:t>ADK</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ms ATP-binding response by TR-XSS; MD candidates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ligand-free domain distances overlap; LID +2.29 Å (open start)</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partly: TR-XSS exists, but MD is ligand-free, ns</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dirty="0">
                          <a:solidFill>
                            <a:srgbClr val="2D2D2D"/>
                          </a:solidFill>
                          <a:latin typeface="Arial" pitchFamily="34" charset="0"/>
                          <a:ea typeface="Arial" pitchFamily="34" charset="-122"/>
                          <a:cs typeface="Arial" pitchFamily="34" charset="-120"/>
                        </a:rPr>
                        <a:t>data-check rule (broke it); framing; only unseen system</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050" b="1" dirty="0">
                          <a:solidFill>
                            <a:srgbClr val="2E75B6"/>
                          </a:solidFill>
                          <a:latin typeface="Arial" pitchFamily="34" charset="0"/>
                          <a:ea typeface="Arial" pitchFamily="34" charset="-122"/>
                          <a:cs typeface="Arial" pitchFamily="34" charset="-120"/>
                        </a:rPr>
                        <a:t>keep as unseen control</a:t>
                      </a:r>
                      <a:endParaRPr lang="en-US" sz="10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7" name="Shape 3"/>
          <p:cNvSpPr/>
          <p:nvPr/>
        </p:nvSpPr>
        <p:spPr>
          <a:xfrm>
            <a:off x="457200" y="3931920"/>
            <a:ext cx="8229600" cy="640080"/>
          </a:xfrm>
          <a:prstGeom prst="rect">
            <a:avLst/>
          </a:prstGeom>
          <a:solidFill>
            <a:srgbClr val="FFF2CC"/>
          </a:solidFill>
          <a:ln w="12700">
            <a:solidFill>
              <a:srgbClr val="E6D48A"/>
            </a:solidFill>
            <a:prstDash val="solid"/>
          </a:ln>
        </p:spPr>
      </p:sp>
      <p:sp>
        <p:nvSpPr>
          <p:cNvPr id="8" name="Text 4"/>
          <p:cNvSpPr/>
          <p:nvPr/>
        </p:nvSpPr>
        <p:spPr>
          <a:xfrm>
            <a:off x="457200" y="3931920"/>
            <a:ext cx="8229600" cy="640080"/>
          </a:xfrm>
          <a:prstGeom prst="rect">
            <a:avLst/>
          </a:prstGeom>
          <a:noFill/>
          <a:ln/>
        </p:spPr>
        <p:txBody>
          <a:bodyPr wrap="square" lIns="101600" tIns="101600" rIns="101600" bIns="101600" rtlCol="0" anchor="ctr"/>
          <a:lstStyle/>
          <a:p>
            <a:pPr indent="0" marL="0">
              <a:buNone/>
            </a:pPr>
            <a:r>
              <a:rPr lang="en-US" sz="1250" dirty="0">
                <a:solidFill>
                  <a:srgbClr val="2D2D2D"/>
                </a:solidFill>
                <a:latin typeface="Arial" pitchFamily="34" charset="0"/>
                <a:ea typeface="Arial" pitchFamily="34" charset="-122"/>
                <a:cs typeface="Arial" pitchFamily="34" charset="-120"/>
              </a:rPr>
              <a:t>Ask: a fourth system with MD plus an experiment that constrains populations (NMR / SAXS / smFRET)? Any candidate from the group's own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Conclusions, and the three things I need from you</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Full evidence and all 74 runs: github.com/alex051107/dynamics-atlas-harness/pull/27</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18</a:t>
            </a:r>
            <a:endParaRPr lang="en-US" sz="1000" dirty="0"/>
          </a:p>
        </p:txBody>
      </p:sp>
      <p:sp>
        <p:nvSpPr>
          <p:cNvPr id="6" name="Text 3"/>
          <p:cNvSpPr/>
          <p:nvPr/>
        </p:nvSpPr>
        <p:spPr>
          <a:xfrm>
            <a:off x="457200" y="1188720"/>
            <a:ext cx="8229600" cy="2103120"/>
          </a:xfrm>
          <a:prstGeom prst="rect">
            <a:avLst/>
          </a:prstGeom>
          <a:noFill/>
          <a:ln/>
        </p:spPr>
        <p:txBody>
          <a:bodyPr wrap="square" rtlCol="0" anchor="t"/>
          <a:lstStyle/>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Workflow (slide 3): intake → package → frame → run → check → report; the table can act at steps 2–5, and the evidence says step 2 (in code) and step 3 (by a person) are where it earns its place.</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Three systems: HSP90 gave a real cross-source result (direction ≠ arrival); DHFR and ADK are single-source MD descriptions that exposed two data-check defects, one of them in my own rule.</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Four-use test, 74 runs: only explicit sub-questions met its criterion; card delivery, method-family retrieval and number matching each failed for an identified reason.</a:t>
            </a:r>
            <a:endParaRPr lang="en-US" sz="1400" dirty="0"/>
          </a:p>
        </p:txBody>
      </p:sp>
      <p:sp>
        <p:nvSpPr>
          <p:cNvPr id="7" name="Shape 4"/>
          <p:cNvSpPr/>
          <p:nvPr/>
        </p:nvSpPr>
        <p:spPr>
          <a:xfrm>
            <a:off x="457200" y="3337560"/>
            <a:ext cx="8229600" cy="1188720"/>
          </a:xfrm>
          <a:prstGeom prst="rect">
            <a:avLst/>
          </a:prstGeom>
          <a:solidFill>
            <a:srgbClr val="FFF2CC"/>
          </a:solidFill>
          <a:ln w="12700">
            <a:solidFill>
              <a:srgbClr val="E6D48A"/>
            </a:solidFill>
            <a:prstDash val="solid"/>
          </a:ln>
        </p:spPr>
      </p:sp>
      <p:sp>
        <p:nvSpPr>
          <p:cNvPr id="8" name="Text 5"/>
          <p:cNvSpPr/>
          <p:nvPr/>
        </p:nvSpPr>
        <p:spPr>
          <a:xfrm>
            <a:off x="457200" y="3337560"/>
            <a:ext cx="8229600" cy="1188720"/>
          </a:xfrm>
          <a:prstGeom prst="rect">
            <a:avLst/>
          </a:prstGeom>
          <a:noFill/>
          <a:ln/>
        </p:spPr>
        <p:txBody>
          <a:bodyPr wrap="square" lIns="101600" tIns="101600" rIns="101600" bIns="101600" rtlCol="0" anchor="ctr"/>
          <a:lstStyle/>
          <a:p>
            <a:pPr indent="0" marL="0">
              <a:buNone/>
            </a:pPr>
            <a:r>
              <a:rPr lang="en-US" sz="1250" dirty="0">
                <a:solidFill>
                  <a:srgbClr val="2D2D2D"/>
                </a:solidFill>
                <a:latin typeface="Arial" pitchFamily="34" charset="0"/>
                <a:ea typeface="Arial" pitchFamily="34" charset="-122"/>
                <a:cs typeface="Arial" pitchFamily="34" charset="-120"/>
              </a:rPr>
              <a:t>Decisions for today</a:t>
            </a:r>
            <a:endParaRPr lang="en-US" sz="1250" dirty="0"/>
          </a:p>
          <a:p>
            <a:pPr indent="0" marL="0">
              <a:buNone/>
            </a:pPr>
            <a:r>
              <a:rPr lang="en-US" sz="1250" dirty="0">
                <a:solidFill>
                  <a:srgbClr val="2D2D2D"/>
                </a:solidFill>
                <a:latin typeface="Arial" pitchFamily="34" charset="0"/>
                <a:ea typeface="Arial" pitchFamily="34" charset="-122"/>
                <a:cs typeface="Arial" pitchFamily="34" charset="-120"/>
              </a:rPr>
              <a:t>1. Is the workflow on slide 3 reasonable? What would you reorder, cut or add?</a:t>
            </a:r>
            <a:endParaRPr lang="en-US" sz="1250" dirty="0"/>
          </a:p>
          <a:p>
            <a:pPr indent="0" marL="0">
              <a:buNone/>
            </a:pPr>
            <a:r>
              <a:rPr lang="en-US" sz="1250" dirty="0">
                <a:solidFill>
                  <a:srgbClr val="2D2D2D"/>
                </a:solidFill>
                <a:latin typeface="Arial" pitchFamily="34" charset="0"/>
                <a:ea typeface="Arial" pitchFamily="34" charset="-122"/>
                <a:cs typeface="Arial" pitchFamily="34" charset="-120"/>
              </a:rPr>
              <a:t>2. Which form of the table (slide 16): repair the four uses, rules for the protocol writer, or rules as operator configuration?</a:t>
            </a:r>
            <a:endParaRPr lang="en-US" sz="1250" dirty="0"/>
          </a:p>
          <a:p>
            <a:pPr indent="0" marL="0">
              <a:buNone/>
            </a:pPr>
            <a:r>
              <a:rPr lang="en-US" sz="1250" dirty="0">
                <a:solidFill>
                  <a:srgbClr val="2D2D2D"/>
                </a:solidFill>
                <a:latin typeface="Arial" pitchFamily="34" charset="0"/>
                <a:ea typeface="Arial" pitchFamily="34" charset="-122"/>
                <a:cs typeface="Arial" pitchFamily="34" charset="-120"/>
              </a:rPr>
              <a:t>3. Are HSP90 / DHFR / ADK the right systems by the criterion on slide 4, and is there a fourth with MD plus a population-constraining experiment?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References</a:t>
            </a:r>
            <a:endParaRPr lang="en-US" sz="2100" dirty="0"/>
          </a:p>
        </p:txBody>
      </p:sp>
      <p:sp>
        <p:nvSpPr>
          <p:cNvPr id="3" name="Text 1"/>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19</a:t>
            </a:r>
            <a:endParaRPr lang="en-US" sz="1000" dirty="0"/>
          </a:p>
        </p:txBody>
      </p:sp>
      <p:sp>
        <p:nvSpPr>
          <p:cNvPr id="4" name="Text 2"/>
          <p:cNvSpPr/>
          <p:nvPr/>
        </p:nvSpPr>
        <p:spPr>
          <a:xfrm>
            <a:off x="457200" y="1188720"/>
            <a:ext cx="8229600" cy="3383280"/>
          </a:xfrm>
          <a:prstGeom prst="rect">
            <a:avLst/>
          </a:prstGeom>
          <a:noFill/>
          <a:ln/>
        </p:spPr>
        <p:txBody>
          <a:bodyPr wrap="square" rtlCol="0" anchor="t"/>
          <a:lstStyle/>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Henot F. et al. (2022) Visualizing the transiently populated closed-state of human HSP90 ATP binding domain. Nat Commun 13, 7601. doi:10.1038/s41467-022-35399-8</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Cetin E. et al. (2023) DHFR L28R / TMP and 4′-DTMP study. J Chem Inf Model; PMC10428214; data Zenodo 7966540; authors' code github.com/midstlab/JCIM_Cetin_etal_2023</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Orädd F. et al. (2021) Tracking the ATP-binding response in adenylate kinase in real time. Sci Adv 7, eabi5514. doi:10.1126/sciadv.abi5514; data Zenodo 5583119</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Bengtsen T. et al. (2020) Structure and dynamics of a nanodisc by integrating NMR, SAXS and SANS experiments with MD. eLife 9, e56518</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Li, Thomasen, Cossio (2026) Are we capturing the ensemble? RS Station blog, 31 Aug 2026</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Bhakat S. (2026) Benchmarking generative AI and physics-based simulation for conformational heterogeneity in T4 lysozyme. J Chem Inf Model. doi:10.1021/acs.jcim.6c02044</a:t>
            </a:r>
            <a:endParaRPr lang="en-US" sz="1150" dirty="0"/>
          </a:p>
          <a:p>
            <a:pPr marL="342900" indent="-342900">
              <a:spcAft>
                <a:spcPts val="500"/>
              </a:spcAft>
              <a:buSzPct val="100000"/>
              <a:buChar char="•"/>
            </a:pPr>
            <a:r>
              <a:rPr lang="en-US" sz="1150" dirty="0">
                <a:solidFill>
                  <a:srgbClr val="2D2D2D"/>
                </a:solidFill>
                <a:latin typeface="Arial" pitchFamily="34" charset="0"/>
                <a:ea typeface="Arial" pitchFamily="34" charset="-122"/>
                <a:cs typeface="Arial" pitchFamily="34" charset="-120"/>
              </a:rPr>
              <a:t>Rule sources (11): Hellenkamp 2018; Agam 2023; Dimura 2020; Fuertes 2017; Shevchuk 2017; Bengtsen 2020; Hoff 2024; Peter 2022; Sanabria 2020; Steffen 2021; Wankowicz &amp; Bonomi 2026 — locators in rule_registry.tsv</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F4E79"/>
        </a:solidFill>
      </p:bgPr>
    </p:bg>
    <p:spTree>
      <p:nvGrpSpPr>
        <p:cNvPr id="1" name=""/>
        <p:cNvGrpSpPr/>
        <p:nvPr/>
      </p:nvGrpSpPr>
      <p:grpSpPr>
        <a:xfrm>
          <a:off x="0" y="0"/>
          <a:ext cx="0" cy="0"/>
          <a:chOff x="0" y="0"/>
          <a:chExt cx="0" cy="0"/>
        </a:xfrm>
      </p:grpSpPr>
      <p:sp>
        <p:nvSpPr>
          <p:cNvPr id="2" name="Text 0"/>
          <p:cNvSpPr/>
          <p:nvPr/>
        </p:nvSpPr>
        <p:spPr>
          <a:xfrm>
            <a:off x="640080" y="1920240"/>
            <a:ext cx="7863840" cy="73152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Appendix</a:t>
            </a:r>
            <a:endParaRPr lang="en-US" sz="3000" dirty="0"/>
          </a:p>
        </p:txBody>
      </p:sp>
      <p:sp>
        <p:nvSpPr>
          <p:cNvPr id="3" name="Text 1"/>
          <p:cNvSpPr/>
          <p:nvPr/>
        </p:nvSpPr>
        <p:spPr>
          <a:xfrm>
            <a:off x="640080" y="2651760"/>
            <a:ext cx="7863840" cy="457200"/>
          </a:xfrm>
          <a:prstGeom prst="rect">
            <a:avLst/>
          </a:prstGeom>
          <a:noFill/>
          <a:ln/>
        </p:spPr>
        <p:txBody>
          <a:bodyPr wrap="square" rtlCol="0" anchor="ctr"/>
          <a:lstStyle/>
          <a:p>
            <a:pPr indent="0" marL="0">
              <a:buNone/>
            </a:pPr>
            <a:r>
              <a:rPr lang="en-US" sz="1300" dirty="0">
                <a:solidFill>
                  <a:srgbClr val="A0BBDD"/>
                </a:solidFill>
                <a:latin typeface="Arial" pitchFamily="34" charset="0"/>
                <a:ea typeface="Arial" pitchFamily="34" charset="-122"/>
                <a:cs typeface="Arial" pitchFamily="34" charset="-120"/>
              </a:rPr>
              <a:t>A1 what the evidence can and cannot support · A2 all 33 rules by use · A3 scores per condition · A4 cost · A5 HSP90 example trajectories · A6 terms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A1. What this evidence can and cannot support</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METHODS_AND_LIMITS_ZH.md; DEVIATIONS.md</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4114800"/>
                <a:gridCol w="4114800"/>
              </a:tblGrid>
              <a:tr h="5029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 say</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Cannot say</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502920">
                <a:tc>
                  <a:txBody>
                    <a:bodyPr/>
                    <a:lstStyle/>
                    <a:p>
                      <a:pPr indent="0" marL="0">
                        <a:buNone/>
                      </a:pPr>
                      <a:r>
                        <a:rPr lang="en-US" sz="1200" dirty="0">
                          <a:solidFill>
                            <a:srgbClr val="2D2D2D"/>
                          </a:solidFill>
                          <a:latin typeface="Arial" pitchFamily="34" charset="0"/>
                          <a:ea typeface="Arial" pitchFamily="34" charset="-122"/>
                          <a:cs typeface="Arial" pitchFamily="34" charset="-120"/>
                        </a:rPr>
                        <a:t>pasting rules into the prompt showed no gain on 2 questions and one concrete harm</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that rules are useless in general</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02920">
                <a:tc>
                  <a:txBody>
                    <a:bodyPr/>
                    <a:lstStyle/>
                    <a:p>
                      <a:pPr indent="0" marL="0">
                        <a:buNone/>
                      </a:pPr>
                      <a:r>
                        <a:rPr lang="en-US" sz="1200" dirty="0">
                          <a:solidFill>
                            <a:srgbClr val="2D2D2D"/>
                          </a:solidFill>
                          <a:latin typeface="Arial" pitchFamily="34" charset="0"/>
                          <a:ea typeface="Arial" pitchFamily="34" charset="-122"/>
                          <a:cs typeface="Arial" pitchFamily="34" charset="-120"/>
                        </a:rPr>
                        <a:t>explicit sub-questions raised coverage on 2/2 questions without new overclaims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that the Agent discovers sub-questions on its own</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02920">
                <a:tc>
                  <a:txBody>
                    <a:bodyPr/>
                    <a:lstStyle/>
                    <a:p>
                      <a:pPr indent="0" marL="0">
                        <a:buNone/>
                      </a:pPr>
                      <a:r>
                        <a:rPr lang="en-US" sz="1200" dirty="0">
                          <a:solidFill>
                            <a:srgbClr val="2D2D2D"/>
                          </a:solidFill>
                          <a:latin typeface="Arial" pitchFamily="34" charset="0"/>
                          <a:ea typeface="Arial" pitchFamily="34" charset="-122"/>
                          <a:cs typeface="Arial" pitchFamily="34" charset="-120"/>
                        </a:rPr>
                        <a:t>the current checker and card retrieval did not meet pre-set criteria; mechanisms identified</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a population-level correctness rate for any condition</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02920">
                <a:tc>
                  <a:txBody>
                    <a:bodyPr/>
                    <a:lstStyle/>
                    <a:p>
                      <a:pPr indent="0" marL="0">
                        <a:buNone/>
                      </a:pPr>
                      <a:r>
                        <a:rPr lang="en-US" sz="1200" dirty="0">
                          <a:solidFill>
                            <a:srgbClr val="2D2D2D"/>
                          </a:solidFill>
                          <a:latin typeface="Arial" pitchFamily="34" charset="0"/>
                          <a:ea typeface="Arial" pitchFamily="34" charset="-122"/>
                          <a:cs typeface="Arial" pitchFamily="34" charset="-120"/>
                        </a:rPr>
                        <a:t>HSP90: leaving closed ≠ reaching open, at three tolerances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populations or rates for HSP90; H-bonds or mechanism for DHFR; anything about ADK's ATP response</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502920">
                <a:tc>
                  <a:txBody>
                    <a:bodyPr/>
                    <a:lstStyle/>
                    <a:p>
                      <a:pPr indent="0" marL="0">
                        <a:buNone/>
                      </a:pPr>
                      <a:r>
                        <a:rPr lang="en-US" sz="1200" dirty="0">
                          <a:solidFill>
                            <a:srgbClr val="2D2D2D"/>
                          </a:solidFill>
                          <a:latin typeface="Arial" pitchFamily="34" charset="0"/>
                          <a:ea typeface="Arial" pitchFamily="34" charset="-122"/>
                          <a:cs typeface="Arial" pitchFamily="34" charset="-120"/>
                        </a:rPr>
                        <a:t>74 runs, $1.20, all preserved with logs and sealed scores</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00" dirty="0">
                          <a:solidFill>
                            <a:srgbClr val="2D2D2D"/>
                          </a:solidFill>
                          <a:latin typeface="Arial" pitchFamily="34" charset="0"/>
                          <a:ea typeface="Arial" pitchFamily="34" charset="-122"/>
                          <a:cs typeface="Arial" pitchFamily="34" charset="-120"/>
                        </a:rPr>
                        <a:t>that scoring was independent of case preparation; that human time was saved (not measured)</a:t>
                      </a:r>
                      <a:endParaRPr lang="en-US" sz="12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A2. All 33 rules, grouped by the use they now belong to</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rule_registry.tsv; RULES_TABLE_ROLE_DESIGN_ZH.md §2</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6675120"/>
              </a:tblGrid>
              <a:tr h="731520">
                <a:tc>
                  <a:txBody>
                    <a:bodyPr/>
                    <a:lstStyle/>
                    <a:p>
                      <a:pPr indent="0" marL="0">
                        <a:buNone/>
                      </a:pPr>
                      <a:r>
                        <a:rPr lang="en-US" sz="1100" b="1" dirty="0">
                          <a:solidFill>
                            <a:srgbClr val="FFFFFF"/>
                          </a:solidFill>
                          <a:latin typeface="Arial" pitchFamily="34" charset="0"/>
                          <a:ea typeface="Arial" pitchFamily="34" charset="-122"/>
                          <a:cs typeface="Arial" pitchFamily="34" charset="-120"/>
                        </a:rPr>
                        <a:t>Use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Rule IDs (rule_class)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A Framing (6)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C010-001 claim_ladder · C010-002 state_semantics · C005-001 estimand_non_equivalence · C009-003 estimand_non_equivalence · C012-001 benchmark_contract · C012-002 identifiability</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B Data checks (10)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C001-001 measurement_semantics · C002-001 measurement_semantics · C001-002 uncertainty_provenance · C001-003 measurement_quality · C008-001 source_quality · C007-001 multi_source_semantics · C009-001 cross_validation · C009-002 diagnostic_controls · C003-001 candidate_design · C003-003 held_out_validation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C Method cards (11)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C002-002, C006-001, C008-003 forward_bridge · C011-001 forward_implementation · C005-003 inverse_model · C003-002 reweighting · C007-002 integration_operator · C006-002 uncertainty_integration · C011-002 uncertainty_decomposition · C002-003, C008-002 artifact_exclusion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731520">
                <a:tc>
                  <a:txBody>
                    <a:bodyPr/>
                    <a:lstStyle/>
                    <a:p>
                      <a:pPr indent="0" marL="0">
                        <a:buNone/>
                      </a:pPr>
                      <a:r>
                        <a:rPr lang="en-US" sz="1100" dirty="0">
                          <a:solidFill>
                            <a:srgbClr val="2D2D2D"/>
                          </a:solidFill>
                          <a:latin typeface="Arial" pitchFamily="34" charset="0"/>
                          <a:ea typeface="Arial" pitchFamily="34" charset="-122"/>
                          <a:cs typeface="Arial" pitchFamily="34" charset="-120"/>
                        </a:rPr>
                        <a:t>D Conclusion checks (6)</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C006-003, C011-003, C012-003 claim_ceiling · C005-002 complementary_evidence · C007-003 integration_validation · C010-003 functional_validation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A3. Median scores per question and condition (n = 4 each)</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UNBLINDED_SCORES.csv; medians recomputed locally from the unblinded table</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188720"/>
                <a:gridCol w="1280160"/>
                <a:gridCol w="1737360"/>
                <a:gridCol w="1005840"/>
                <a:gridCol w="914400"/>
                <a:gridCol w="822960"/>
                <a:gridCol w="822960"/>
                <a:gridCol w="45720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Test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Condition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Correct /5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Errors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Overclaims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Omissions /5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Coverage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Data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DHFR defective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 card / card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3 / 2</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2.5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2</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Feedback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ADK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none / one pass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 / 4</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Feedback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DHFR corrected</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none / one pass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 /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1.5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Feedback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NOE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none / one pass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3 / 3.5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Method guidance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NOE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protocol / full rules /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4.5 / 2 / 2.5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1.5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1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Method guidance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nanodisc Q05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protocol / full rules / cards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4.5 / 5 / 4.5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0.5 / 0 / 0.5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HSP90 Q01</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original / split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2.5 /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 / 1.5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 / 2.5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Framing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ADK</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original / split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4 / 5</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0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1 / 0</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2 / 3</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A4. Cost and run ledger</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CAMPAIGN_PROGRESS.json; COST_RECONCILIATION.json</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4754880"/>
                <a:gridCol w="822960"/>
                <a:gridCol w="1554480"/>
                <a:gridCol w="1097280"/>
              </a:tblGrid>
              <a:tr h="365760">
                <a:tc>
                  <a:txBody>
                    <a:bodyPr/>
                    <a:lstStyle/>
                    <a:p>
                      <a:pPr indent="0" marL="0">
                        <a:buNone/>
                      </a:pPr>
                      <a:r>
                        <a:rPr lang="en-US" sz="1250" b="1" dirty="0">
                          <a:solidFill>
                            <a:srgbClr val="FFFFFF"/>
                          </a:solidFill>
                          <a:latin typeface="Arial" pitchFamily="34" charset="0"/>
                          <a:ea typeface="Arial" pitchFamily="34" charset="-122"/>
                          <a:cs typeface="Arial" pitchFamily="34" charset="-120"/>
                        </a:rPr>
                        <a:t>Batch</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Runs</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Settled cost (USD)</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Cap</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Historical: HSP90 first round (4), DHFR (2), old A/B/C (8), D/P/R pilot (2)</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16</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0.2855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Data-check card comparison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8</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0.1469</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0.20</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Plain ADK</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2</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0.0233</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0.15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One-feedback comparison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0.3858</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0.55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Method-guidance comparison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0.4158</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0.55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Question decomposition</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16</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0.2312</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0.40</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65760">
                <a:tc>
                  <a:txBody>
                    <a:bodyPr/>
                    <a:lstStyle/>
                    <a:p>
                      <a:pPr indent="0" marL="0">
                        <a:buNone/>
                      </a:pPr>
                      <a:r>
                        <a:rPr lang="en-US" sz="1250" dirty="0">
                          <a:solidFill>
                            <a:srgbClr val="2D2D2D"/>
                          </a:solidFill>
                          <a:latin typeface="Arial" pitchFamily="34" charset="0"/>
                          <a:ea typeface="Arial" pitchFamily="34" charset="-122"/>
                          <a:cs typeface="Arial" pitchFamily="34" charset="-120"/>
                        </a:rPr>
                        <a:t>Four-use total</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74</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1.2029</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250" dirty="0">
                          <a:solidFill>
                            <a:srgbClr val="2D2D2D"/>
                          </a:solidFill>
                          <a:latin typeface="Arial" pitchFamily="34" charset="0"/>
                          <a:ea typeface="Arial" pitchFamily="34" charset="-122"/>
                          <a:cs typeface="Arial" pitchFamily="34" charset="-120"/>
                        </a:rPr>
                        <a:t>1.85</a:t>
                      </a:r>
                      <a:endParaRPr lang="en-US" sz="125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6" name="Text 3"/>
          <p:cNvSpPr/>
          <p:nvPr/>
        </p:nvSpPr>
        <p:spPr>
          <a:xfrm>
            <a:off x="457200" y="4206240"/>
            <a:ext cx="8229600" cy="365760"/>
          </a:xfrm>
          <a:prstGeom prst="rect">
            <a:avLst/>
          </a:prstGeom>
          <a:noFill/>
          <a:ln/>
        </p:spPr>
        <p:txBody>
          <a:bodyPr wrap="square" rtlCol="0" anchor="ctr"/>
          <a:lstStyle/>
          <a:p>
            <a:pPr indent="0" marL="0">
              <a:buNone/>
            </a:pPr>
            <a:r>
              <a:rPr lang="en-US" sz="1150" dirty="0">
                <a:solidFill>
                  <a:srgbClr val="777777"/>
                </a:solidFill>
                <a:latin typeface="Arial" pitchFamily="34" charset="0"/>
                <a:ea typeface="Arial" pitchFamily="34" charset="-122"/>
                <a:cs typeface="Arial" pitchFamily="34" charset="-120"/>
              </a:rPr>
              <a:t>Model wall time for the 74 runs ≈ 90 minutes. Scoring, cross-checks and report writing were the actual cost.</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A5. HSP90: three example trajectories against both NOE references</a:t>
            </a:r>
            <a:endParaRPr lang="en-US" sz="2100" dirty="0"/>
          </a:p>
        </p:txBody>
      </p:sp>
      <p:sp>
        <p:nvSpPr>
          <p:cNvPr id="3" name="Text 1"/>
          <p:cNvSpPr/>
          <p:nvPr/>
        </p:nvSpPr>
        <p:spPr>
          <a:xfrm>
            <a:off x="457200" y="4736592"/>
            <a:ext cx="7680960" cy="274320"/>
          </a:xfrm>
          <a:prstGeom prst="rect">
            <a:avLst/>
          </a:prstGeom>
          <a:noFill/>
          <a:ln/>
        </p:spPr>
        <p:txBody>
          <a:bodyPr wrap="square" rtlCol="0" anchor="ctr"/>
          <a:lstStyle/>
          <a:p>
            <a:pPr indent="0" marL="0">
              <a:buNone/>
            </a:pPr>
            <a:r>
              <a:rPr lang="en-US" sz="1000" dirty="0">
                <a:solidFill>
                  <a:srgbClr val="777777"/>
                </a:solidFill>
                <a:latin typeface="Arial" pitchFamily="34" charset="0"/>
                <a:ea typeface="Arial" pitchFamily="34" charset="-122"/>
                <a:cs typeface="Arial" pitchFamily="34" charset="-120"/>
              </a:rPr>
              <a:t>v4 native NOE crosswalk, author-deposited violation series; shaded = sustained open-direction segments; dotted = 1 Å tolerance</a:t>
            </a:r>
            <a:endParaRPr lang="en-US" sz="1000" dirty="0"/>
          </a:p>
        </p:txBody>
      </p:sp>
      <p:sp>
        <p:nvSpPr>
          <p:cNvPr id="4" name="Text 2"/>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25</a:t>
            </a:r>
            <a:endParaRPr lang="en-US" sz="1000" dirty="0"/>
          </a:p>
        </p:txBody>
      </p:sp>
      <p:pic>
        <p:nvPicPr>
          <p:cNvPr id="5" name="Image 0" descr="/Users/liuzhenpeng/Desktop/UNC/Soojung-Dynamic data/autoresearch/tasks/dynamics_atlas_rules_incremental_value_protocol_20260909/outputs/deck_figures/hsp90_noe_examples.png">    </p:cNvPr>
          <p:cNvPicPr>
            <a:picLocks noChangeAspect="1"/>
          </p:cNvPicPr>
          <p:nvPr/>
        </p:nvPicPr>
        <p:blipFill>
          <a:blip r:embed="rId1"/>
          <a:srcRect l="0" r="0" t="0" b="0"/>
          <a:stretch/>
        </p:blipFill>
        <p:spPr>
          <a:xfrm>
            <a:off x="457200" y="1188720"/>
            <a:ext cx="4297680" cy="3429000"/>
          </a:xfrm>
          <a:prstGeom prst="rect">
            <a:avLst/>
          </a:prstGeom>
        </p:spPr>
      </p:pic>
      <p:sp>
        <p:nvSpPr>
          <p:cNvPr id="6" name="Text 3"/>
          <p:cNvSpPr/>
          <p:nvPr/>
        </p:nvSpPr>
        <p:spPr>
          <a:xfrm>
            <a:off x="457200" y="4636008"/>
            <a:ext cx="4297680" cy="384048"/>
          </a:xfrm>
          <a:prstGeom prst="rect">
            <a:avLst/>
          </a:prstGeom>
          <a:noFill/>
          <a:ln/>
        </p:spPr>
        <p:txBody>
          <a:bodyPr wrap="square" rtlCol="0" anchor="ctr"/>
          <a:lstStyle/>
          <a:p>
            <a:pPr indent="0" marL="0">
              <a:buNone/>
            </a:pPr>
            <a:r>
              <a:rPr lang="en-US" sz="900" dirty="0">
                <a:solidFill>
                  <a:srgbClr val="777777"/>
                </a:solidFill>
                <a:latin typeface="Arial" pitchFamily="34" charset="0"/>
                <a:ea typeface="Arial" pitchFamily="34" charset="-122"/>
                <a:cs typeface="Arial" pitchFamily="34" charset="-120"/>
              </a:rPr>
              <a:t>ES15: reaches open reference band; ES03: open direction, stays ~1 Å; ES01: leaves closed late, arrives nowhere.</a:t>
            </a:r>
            <a:endParaRPr lang="en-US" sz="900" dirty="0"/>
          </a:p>
        </p:txBody>
      </p:sp>
      <p:sp>
        <p:nvSpPr>
          <p:cNvPr id="7" name="Text 4"/>
          <p:cNvSpPr/>
          <p:nvPr/>
        </p:nvSpPr>
        <p:spPr>
          <a:xfrm>
            <a:off x="4937760" y="1188720"/>
            <a:ext cx="3749040" cy="3383280"/>
          </a:xfrm>
          <a:prstGeom prst="rect">
            <a:avLst/>
          </a:prstGeom>
          <a:noFill/>
          <a:ln/>
        </p:spPr>
        <p:txBody>
          <a:bodyPr wrap="square" rtlCol="0" anchor="t"/>
          <a:lstStyle/>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Orange: violation of closed-state NOEs; teal: violation of open-state NOEs; both in Å.</a:t>
            </a:r>
            <a:endParaRPr lang="en-US" sz="1250" dirty="0"/>
          </a:p>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ES15 (top) drops to the open tolerance quickly and stays: the one closed-start run that clearly arrives.</a:t>
            </a:r>
            <a:endParaRPr lang="en-US" sz="1250" dirty="0"/>
          </a:p>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ES03 (middle) is open-direction for most of the run but hovers near, not within, the open tolerance.</a:t>
            </a:r>
            <a:endParaRPr lang="en-US" sz="1250" dirty="0"/>
          </a:p>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ES01 (bottom) never shows a sustained open direction; both violations stay large.</a:t>
            </a:r>
            <a:endParaRPr lang="en-US" sz="1250" dirty="0"/>
          </a:p>
          <a:p>
            <a:pPr marL="342900" indent="-342900">
              <a:spcAft>
                <a:spcPts val="800"/>
              </a:spcAft>
              <a:buSzPct val="100000"/>
              <a:buChar char="•"/>
            </a:pPr>
            <a:r>
              <a:rPr lang="en-US" sz="1250" dirty="0">
                <a:solidFill>
                  <a:srgbClr val="2D2D2D"/>
                </a:solidFill>
                <a:latin typeface="Arial" pitchFamily="34" charset="0"/>
                <a:ea typeface="Arial" pitchFamily="34" charset="-122"/>
                <a:cs typeface="Arial" pitchFamily="34" charset="-120"/>
              </a:rPr>
              <a:t>This is why direction and arrival are scored separately.</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28600"/>
            <a:ext cx="8229600" cy="868680"/>
          </a:xfrm>
          <a:prstGeom prst="rect">
            <a:avLst/>
          </a:prstGeom>
          <a:noFill/>
          <a:ln/>
        </p:spPr>
        <p:txBody>
          <a:bodyPr wrap="square" rtlCol="0" anchor="t"/>
          <a:lstStyle/>
          <a:p>
            <a:pPr indent="0" marL="0">
              <a:buNone/>
            </a:pPr>
            <a:r>
              <a:rPr lang="en-US" sz="2100" b="1" dirty="0">
                <a:solidFill>
                  <a:srgbClr val="1F4E79"/>
                </a:solidFill>
                <a:latin typeface="Arial" pitchFamily="34" charset="0"/>
                <a:ea typeface="Arial" pitchFamily="34" charset="-122"/>
                <a:cs typeface="Arial" pitchFamily="34" charset="-120"/>
              </a:rPr>
              <a:t>A6. Terms as used in this deck</a:t>
            </a:r>
            <a:endParaRPr lang="en-US" sz="2100" dirty="0"/>
          </a:p>
        </p:txBody>
      </p:sp>
      <p:sp>
        <p:nvSpPr>
          <p:cNvPr id="3" name="Text 1"/>
          <p:cNvSpPr/>
          <p:nvPr/>
        </p:nvSpPr>
        <p:spPr>
          <a:xfrm>
            <a:off x="8412480" y="4736592"/>
            <a:ext cx="274320" cy="274320"/>
          </a:xfrm>
          <a:prstGeom prst="rect">
            <a:avLst/>
          </a:prstGeom>
          <a:noFill/>
          <a:ln/>
        </p:spPr>
        <p:txBody>
          <a:bodyPr wrap="square" rtlCol="0" anchor="ctr"/>
          <a:lstStyle/>
          <a:p>
            <a:pPr algn="r" indent="0" marL="0">
              <a:buNone/>
            </a:pPr>
            <a:r>
              <a:rPr lang="en-US" sz="1000" dirty="0">
                <a:solidFill>
                  <a:srgbClr val="777777"/>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45920"/>
                <a:gridCol w="658368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Term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Meaning here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4E79"/>
                    </a:solidFill>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Rule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caution from one methods paper: finding, required check, stop route, transfer scope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Selector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code that matches rules to a question by method family and renders them as required checks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Agent run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sealed container session of the LLM: reads data, writes Python, submits a structured answer</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Condition / arm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variant of a comparison; same question, one thing changed; 4 fresh runs each</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Frozen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question, grading key, code and run order hashed before the first model call; changes void the test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Core unit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one of five predefined pieces of scientific content the grading key expects; scored correct / wrong / missing</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Overclaim</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stated conclusion stronger than the evidence supports (e.g. frame fraction as population)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Exposed case</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a question or dataset already used during development; cannot serve as an independent test</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329184">
                <a:tc>
                  <a:txBody>
                    <a:bodyPr/>
                    <a:lstStyle/>
                    <a:p>
                      <a:pPr indent="0" marL="0">
                        <a:buNone/>
                      </a:pPr>
                      <a:r>
                        <a:rPr lang="en-US" sz="1100" dirty="0">
                          <a:solidFill>
                            <a:srgbClr val="2D2D2D"/>
                          </a:solidFill>
                          <a:latin typeface="Arial" pitchFamily="34" charset="0"/>
                          <a:ea typeface="Arial" pitchFamily="34" charset="-122"/>
                          <a:cs typeface="Arial" pitchFamily="34" charset="-120"/>
                        </a:rPr>
                        <a:t>Data checks (admission)</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indent="0" marL="0">
                        <a:buNone/>
                      </a:pPr>
                      <a:r>
                        <a:rPr lang="en-US" sz="1100" dirty="0">
                          <a:solidFill>
                            <a:srgbClr val="2D2D2D"/>
                          </a:solidFill>
                          <a:latin typeface="Arial" pitchFamily="34" charset="0"/>
                          <a:ea typeface="Arial" pitchFamily="34" charset="-122"/>
                          <a:cs typeface="Arial" pitchFamily="34" charset="-120"/>
                        </a:rPr>
                        <a:t>checks that the data can answer the question: object, condition, units, time, role of each dataset, physics</a:t>
                      </a:r>
                      <a:endParaRPr lang="en-US" sz="1100" dirty="0">
                        <a:latin typeface="Arial" charset="0"/>
                        <a:ea typeface="Arial" charset="0"/>
                        <a:cs typeface="Arial" charset="0"/>
                      </a:endParaRPr>
                    </a:p>
                  </a:txBody>
                  <a:tcPr marL="91440" marR="91440" marT="45720" marB="4572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Dynamics Atlas: the Rules Table, tested on three systems</dc:title>
  <dc:subject>PptxGenJS Presentation</dc:subject>
  <dc:creator>Zhenpeng Liu</dc:creator>
  <cp:lastModifiedBy>Zhenpeng Liu</cp:lastModifiedBy>
  <cp:revision>1</cp:revision>
  <dcterms:created xsi:type="dcterms:W3CDTF">2026-09-10T15:35:35Z</dcterms:created>
  <dcterms:modified xsi:type="dcterms:W3CDTF">2026-09-10T15:35:35Z</dcterms:modified>
</cp:coreProperties>
</file>