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Closed-start, open-direction (n=10)</c:v>
                </c:pt>
              </c:strCache>
            </c:strRef>
          </c:tx>
          <c:spPr>
            <a:solidFill>
              <a:srgbClr val="2E75B6"/>
            </a:solidFill>
            <a:effectLst/>
          </c:spPr>
          <c:invertIfNegative val="0"/>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Relative only</c:v>
                  </c:pt>
                  <c:pt idx="1">
                    <c:v>Partial</c:v>
                  </c:pt>
                  <c:pt idx="2">
                    <c:v>Consistent with open ref.</c:v>
                  </c:pt>
                </c:lvl>
              </c:multiLvlStrCache>
            </c:multiLvlStrRef>
          </c:cat>
          <c:val>
            <c:numRef>
              <c:f>Sheet1!$B$2:$B$4</c:f>
              <c:numCache>
                <c:formatCode>General</c:formatCode>
                <c:ptCount val="3"/>
                <c:pt idx="0">
                  <c:v>9</c:v>
                </c:pt>
                <c:pt idx="1">
                  <c:v>1</c:v>
                </c:pt>
                <c:pt idx="2">
                  <c:v>0</c:v>
                </c:pt>
              </c:numCache>
            </c:numRef>
          </c:val>
        </c:ser>
        <c:ser>
          <c:idx val="1"/>
          <c:order val="1"/>
          <c:tx>
            <c:strRef>
              <c:f>Sheet1!$C$1</c:f>
              <c:strCache>
                <c:ptCount val="1"/>
                <c:pt idx="0">
                  <c:v>Open-start controls (n=20)</c:v>
                </c:pt>
              </c:strCache>
            </c:strRef>
          </c:tx>
          <c:spPr>
            <a:solidFill>
              <a:srgbClr val="B0B0B0"/>
            </a:solidFill>
            <a:effectLst/>
          </c:spPr>
          <c:invertIfNegative val="0"/>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Relative only</c:v>
                  </c:pt>
                  <c:pt idx="1">
                    <c:v>Partial</c:v>
                  </c:pt>
                  <c:pt idx="2">
                    <c:v>Consistent with open ref.</c:v>
                  </c:pt>
                </c:lvl>
              </c:multiLvlStrCache>
            </c:multiLvlStrRef>
          </c:cat>
          <c:val>
            <c:numRef>
              <c:f>Sheet1!$C$2:$C$4</c:f>
              <c:numCache>
                <c:formatCode>General</c:formatCode>
                <c:ptCount val="3"/>
                <c:pt idx="0">
                  <c:v>1</c:v>
                </c:pt>
                <c:pt idx="1">
                  <c:v>1</c:v>
                </c:pt>
                <c:pt idx="2">
                  <c:v>18</c:v>
                </c:pt>
              </c:numCache>
            </c:numRef>
          </c:val>
        </c:ser>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
        </c:scaling>
        <c:delete val="0"/>
        <c:axPos val="l"/>
        <c:majorGridlines>
          <c:spPr>
            <a:ln w="12700" cap="flat">
              <a:solidFill>
                <a:srgbClr val="888888"/>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Trajectories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time you knew I was building a Rules Table prototype. Today I want to discuss how the whole system should be built. I'll show the original idea, the workflow a new system actually goes through, what happened when three real systems went through it, what each layer of the table measured, and then three design options for the table itself. Headline first: putting rules into the prompt did not help; the errors we made were at data entry and at the numbers going out; the only layer that met its criterion was framing the question explicitly.
GOAL OF THE MEETING: (1) is the workflow reasonable; (2) are the three systems the right ones; (3) which form of the rules table should we build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the idea from July. A question and a data package come in; the Agent consults a table of rules distilled from methods papers; the rules tell it which operations to run, which extra analyses to add, and where it must abstain. The table has 33 rules from 11 papers, three per paper. Each rule stores the paper's finding, what our project must check, and an abstain route. Bottom-right is one rule verbatim.
GRILL: "Who wrote the rules?" I did in August from deep reads; an external review on 17 Aug asked to keep it as a reviewable ledger split into papers / rules /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workflow as it exists now. Read left to right. Intake: download the authors' deposited data and write a source card. Package: derived tables, field definitions, freeze with hashes. Framing: a person decides which difference the question must distinguish and writes the rubric. Run: the Agent analyses in a sealed container. Check: automatic checks on the submission. Report: every number linked to source, claim ceiling in words. The row underneath shows which layer of the table acts where: framing rules at step 3, admission rules at step 2, method cards at step 4, conclusion rules at step 5. Nothing in the table touches steps 1 and 6 today.
GRILL: "Where does a person sit?" Steps 1, 3 and 6. Step 3 is the only one that cannot be delegated: the competing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run is one fresh container: no network, data read-only, five tools, a hard submit call. The model is gpt-5.6-luna through OpenRouter at medium reasoning. Typical run: 12 to 20 tool calls, about a minute, under two cents. It genuinely computes: it matched all 90 SAXS points in the nanodisc case and reproduced the four ADK endpoint changes to four decimals. So the cost of an experiment is scoring time, not money.
GRILL: "Can it see the rubric or the other arm's files?" No. Three directories are mounted separately and a test asserts the control arm's directory has no rule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Left: what the paper is. Henot et al. combine NMR with 40 one-microsecond MD trajectories, 20 from the open crystal structure and 20 from a closed model, to argue that the closed state of the HSP90 N-terminal domain is transiently populated. Their classification of the 20 closed-start runs is 7 near-closed, about 9 toward open, 4 neither, using native NOE violations. They report millisecond exchange by CPMG. Right: we chose one property: does a trajectory show a sustained open direction, and does it ever reverse. Result 10 of 20, decomposed 5 initially plus 5 later; reversal candidates 5/4/1 at three run lengths; zero for open-start. Gap: our counts answer a different question than the paper's 7/9/4, so they need not match. Bottom: the rules acted at step 4 as prompt text; three of four answers got the counts right, and the two rule answers imported RMP restraint and FRET calibration conditions from C001-003 and C003-002.
GRILL: "Is 10 consistent with 9?" Different criteria; the crosswalk on the next slide is where the two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round's "open direction" is the sign of a difference and says nothing about reaching the open state. So we compared every trajectory with the authors' deposited NOE violation series for both references. At 1 Å, 9 of 10 are still far from both; one partial; none consistent. The open-start controls are 18 of 20 consistent, which validates the tolerance. This matches the paper's phrase that the trajectories "almost satisfy" the open NOEs. What the system-level matching shows: the Agent could reproduce direction counts but nothing in the rules made it ask the arrival question; the crosswalk came from a person going back to the authors' raw observable. That is the framing layer.
GRILL: "Why 1 Å?" Pre-registered 0.5 / 1 / 2. At 0.5 the controls drop to 7/20; at 2 Å three candidates become consistent. All three are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Paper: trimethoprim loses potency against the L28R DHFR mutant; the analog 4′-DTMP recovers it. Their Table 1 Ki values: WT 4.2 vs 5.1 nM, L28R 65 vs 34 nM. Their MD explanation: 4′-DTMP sits closer to M20-loop and R28 atoms. We chose one property: the specified protein-ligand atom distances, one trajectory per condition, 990 frames. First result was wrong: the frozen table used wrapped coordinates, ligand copies in neighbouring periodic images gave 60 to 90 Å distances, and both Agent answers used them; one called the tail conformational switching. After correcting with the nearest ligand image and cross-checking with VMD to 1e-5 Å: M20-N to O3P goes 8.69 to 4.62 Å in WT and 10.44 to 4.81 in L28R, TMP to 4′-DTMP. Direction matches the paper's Figure 4. Gap: the paper frames hydrogen bonds; we have mean distances, one trajectory each, no angles. What the matching shows: no rule text could have caught the input; the check must sit at step 2 in code. This was a curator-side defect.
GRILL: "Why does DHFR have no experimental constraint on the structure?" It does not; the experiment is kinetics. That is why this system tested the workflow more than the 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Paper: photorelease of ATP, time-resolved X-ray solution scattering, a transient about 4.3 ms, interpreted with MD-derived candidate structures. Deposited MD: two trajectories, open-start 450 ns and closed-start 335 ns, no ATP or AMP. We chose one property we could actually compute: mean Cα distances between LID or NMP and CORE, first versus last 10% of frames. All four changes positive; distributions overlap. Gap: no ligand, no scattering recomputation, no millisecond process. The system-level lesson: the admission rule I wrote after DHFR, any distance above half the box fails, was itself wrong. Open ADK spans 56 Å along one axis in a 98 to 100 Å box, so 62 and 70 Å Cα distances are real and GROMACS reproduces them. The rule was replaced by a physical criterion. Framing was also used here: the ADK question in the framing test was split into distribution separation, magnitude, ordering; the split version scored 5/5.
GRILL: "Why keep ADK?" It is the only system the rules and selector had never seen, so it is the only source of a generalisation signal, and it is the one Soojung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testing the four layers we audited every historical answer: 13 observations, 7 same-cause groups, correlated, not 13 cases. Grouped by where each lives: input representation, numbers read from the wrong column or threshold, sign of a difference read as arrival, imported conditions. Reminder text prevents none. Code before freezing or after submission could plausibly prevent most; two need the question asked better. This was a candidate attribution; the next slides test it rather than trust it.
GRILL: "Selective?" It is every answer we had, including the nine-September nanodisc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current design and it is a direct answer to your original question, how the Agent should use the table. Framing: 6 rules become sub-questions and rubric, never shown. Admission: 10 rules become code before freezing, reaching the Agent only as a card of results. Method cards: 11 rules become short cards retrieved by method family, the only text the Agent reads. Conclusion: 6 rules become an automatic check after submission with one feedback. Each layer changes one thing about what the Agent receives, so each can be tested on its own.
GRILL: "Is the split arbitrary?" It follows rule_class in the table; the 6/10/11/6 assignment is in the appendix and can be argued rule by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前因后果 of the three questions we measured. Framing: from HSP90 we knew the Agent answered the direction question but never the arrival question; expected: splitting the question raises supported coverage without adding overclaims. Admission: from DHFR we knew a bad table passed; the checker was tested on six planted defects, and the Agent was given or not given the card on the defective DHFR table; expected: it downgrades its conclusions. Method cards: from HSP90 B1/B2 we knew full rules imported conditions; expected: scoped cards keep accuracy and stop the imports, against a seven-line protocol. Conclusion: from A2 and Q05 we knew numbers went out wrong; expected: one automated pass reduces core errors without more omissions. Same model, four runs per condition, frozen, blinded, medians.
GRILL: "Why medians of four?" Small by design; enough for an investment decision, not for a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Framing: coverage HSP90 2 to 2.5 of 3, ADK 2 to 3 of 3, no new overclaims; keep. HSP90's total errors across four runs went 1 to 2, so the gain is completeness, not uniformly accuracy. Admission: checker caught all six planted defects, but the Agent detected the DHFR defect 0 of 4 with the card and 0 of 4 without. Method cards: HSP90 protocol 4.5 of 5, full rules 2, cards 2.5; Q05 4.5, 5, 4.5. Cards failed. The exception to keep on record: full rules were best on Q05, all four answers covered all five units. Feedback: only ADK improved, and that difference already existed in the initial drafts; no revision reduced its own errors; three lost content.
GRILL: "So the table is useless?" The prompt form is not supported. The library is still the raw material for checks and cards, and Q05 is one case where the full text helped. What we cannot claim is a stable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mechanisms. The card was available but never opened: a file is not a channel. Retrieval by method family gave HSP90 a BME reweighting card for a task that fits nothing; family membership is not operation applicability; and DHFR and ADK retrieved zero cards, the 11 papers do not cover pure-MD questions. The conclusion checker asks whether a number appears in the tool output; in Q05 the wrong bound array was written to the log first, so the wrong 4.35 Å passed; on 8 historical answers it caught 0 of 7 known errors. Each of these points at a specific repair, which is what slide 14 is about.
GRILL: "Why not a stronger model?" The worst errors are in inputs the model cannot see, and number errors need recomputation from raw quantities; both are pipeline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your original idea: an Agent that enters the table and follows rules to choose operations and extra analyses. Three forms of that. Form 1: keep the four layers and repair each with the mechanism from slide 13, then retest on new questions; assumes the failures were implementation, not concept. Form 2: rules serve the people who write the protocol and rubric; the Agent gets a seven-line protocol; this is what the current evidence directly supports, since the protocol arm was never worse, but it gives up the original idea. Form 3: each rule becomes the configuration of a deterministic operator: an admission check, a computation, a claim-ceiling test; the Agent decides which operator to call and never reads rule text. This is closest to the original idea, and closest to what DHFR and ADK taught, but nothing of it has been tested yet.
ASK: which of these is the knowledge form you want the group to accumulate? I lean to 3 with 2 as the fallback baseline that every version must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criterion I propose: a system needs MD and an experimental observable that constrains the difference the question is about. HSP90 has two NOE references and CPMG. DHFR has kinetics only; it tested the workflow, not the science. ADK has time-resolved scattering, but the deposited MD is apo and 300 nanoseconds against a millisecond process. ADK still has one unique value: it was the only system the rules and selector had never seen. The question for you: is this the right criterion, and is there a candidate with MD plus NMR, SAXS or smFRET populations that the group cares about?
GRILL: "Should DHFR be dropped?" As a science system yes; as a workflow regression test it earned its keep by exposing the admission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sentences. The three systems produced bounded, checkable results; HSP90 is the strongest and is a real cross-source comparison. The table as prompt text did not earn its place; its content is still the raw material for executable checks and operation-indexed guidance, and framing the question explicitly is the one layer that measurably helped. The next build should put physical admission inside data preparation, make rules executable where they can be, and be tested against the seven-line protocol on new questions with independent scoring.
Leave this slide up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005840"/>
            <a:ext cx="7863840" cy="1188720"/>
          </a:xfrm>
          <a:prstGeom prst="rect">
            <a:avLst/>
          </a:prstGeom>
          <a:noFill/>
          <a:ln/>
        </p:spPr>
        <p:txBody>
          <a:bodyPr wrap="square" rtlCol="0" anchor="t"/>
          <a:lstStyle/>
          <a:p>
            <a:pPr indent="0" marL="0">
              <a:buNone/>
            </a:pPr>
            <a:r>
              <a:rPr lang="en-US" sz="3000" b="1" dirty="0">
                <a:solidFill>
                  <a:srgbClr val="FFFFFF"/>
                </a:solidFill>
                <a:latin typeface="Arial" pitchFamily="34" charset="0"/>
                <a:ea typeface="Arial" pitchFamily="34" charset="-122"/>
                <a:cs typeface="Arial" pitchFamily="34" charset="-120"/>
              </a:rPr>
              <a:t>Dynamics Atlas: the Rules Table, tested on three systems</a:t>
            </a:r>
            <a:endParaRPr lang="en-US" sz="3000" dirty="0"/>
          </a:p>
        </p:txBody>
      </p:sp>
      <p:sp>
        <p:nvSpPr>
          <p:cNvPr id="3" name="Text 1"/>
          <p:cNvSpPr/>
          <p:nvPr/>
        </p:nvSpPr>
        <p:spPr>
          <a:xfrm>
            <a:off x="640080" y="2194560"/>
            <a:ext cx="7863840" cy="822960"/>
          </a:xfrm>
          <a:prstGeom prst="rect">
            <a:avLst/>
          </a:prstGeom>
          <a:noFill/>
          <a:ln/>
        </p:spPr>
        <p:txBody>
          <a:bodyPr wrap="square" rtlCol="0" anchor="ctr"/>
          <a:lstStyle/>
          <a:p>
            <a:pPr indent="0" marL="0">
              <a:buNone/>
            </a:pPr>
            <a:r>
              <a:rPr lang="en-US" sz="1500" dirty="0">
                <a:solidFill>
                  <a:srgbClr val="A0BBDD"/>
                </a:solidFill>
                <a:latin typeface="Arial" pitchFamily="34" charset="0"/>
                <a:ea typeface="Arial" pitchFamily="34" charset="-122"/>
                <a:cs typeface="Arial" pitchFamily="34" charset="-120"/>
              </a:rPr>
              <a:t>What the table was meant to do, how three real systems went through the workflow,</a:t>
            </a:r>
            <a:endParaRPr lang="en-US" sz="1500" dirty="0"/>
          </a:p>
          <a:p>
            <a:pPr indent="0" marL="0">
              <a:buNone/>
            </a:pPr>
            <a:r>
              <a:rPr lang="en-US" sz="1500" dirty="0">
                <a:solidFill>
                  <a:srgbClr val="A0BBDD"/>
                </a:solidFill>
                <a:latin typeface="Arial" pitchFamily="34" charset="0"/>
                <a:ea typeface="Arial" pitchFamily="34" charset="-122"/>
                <a:cs typeface="Arial" pitchFamily="34" charset="-120"/>
              </a:rPr>
              <a:t>what each layer measured, and how the system should be built from here</a:t>
            </a:r>
            <a:endParaRPr lang="en-US" sz="1500" dirty="0"/>
          </a:p>
        </p:txBody>
      </p:sp>
      <p:sp>
        <p:nvSpPr>
          <p:cNvPr id="4" name="Text 2"/>
          <p:cNvSpPr/>
          <p:nvPr/>
        </p:nvSpPr>
        <p:spPr>
          <a:xfrm>
            <a:off x="640080" y="3200400"/>
            <a:ext cx="7863840" cy="365760"/>
          </a:xfrm>
          <a:prstGeom prst="rect">
            <a:avLst/>
          </a:prstGeom>
          <a:noFill/>
          <a:ln/>
        </p:spPr>
        <p:txBody>
          <a:bodyPr wrap="square" rtlCol="0" anchor="ctr"/>
          <a:lstStyle/>
          <a:p>
            <a:pPr indent="0" marL="0">
              <a:buNone/>
            </a:pPr>
            <a:r>
              <a:rPr lang="en-US" sz="1500" dirty="0">
                <a:solidFill>
                  <a:srgbClr val="FFFFFF"/>
                </a:solidFill>
                <a:latin typeface="Arial" pitchFamily="34" charset="0"/>
                <a:ea typeface="Arial" pitchFamily="34" charset="-122"/>
                <a:cs typeface="Arial" pitchFamily="34" charset="-120"/>
              </a:rPr>
              <a:t>Zhenpeng Liu · discussion with Soojung · 10 September 2026</a:t>
            </a:r>
            <a:endParaRPr lang="en-US" sz="1500" dirty="0"/>
          </a:p>
        </p:txBody>
      </p:sp>
      <p:sp>
        <p:nvSpPr>
          <p:cNvPr id="5" name="Text 3"/>
          <p:cNvSpPr/>
          <p:nvPr/>
        </p:nvSpPr>
        <p:spPr>
          <a:xfrm>
            <a:off x="640080" y="4023360"/>
            <a:ext cx="7863840" cy="548640"/>
          </a:xfrm>
          <a:prstGeom prst="rect">
            <a:avLst/>
          </a:prstGeom>
          <a:noFill/>
          <a:ln/>
        </p:spPr>
        <p:txBody>
          <a:bodyPr wrap="square" rtlCol="0" anchor="ctr"/>
          <a:lstStyle/>
          <a:p>
            <a:pPr indent="0" marL="0">
              <a:buNone/>
            </a:pPr>
            <a:r>
              <a:rPr lang="en-US" sz="1250" dirty="0">
                <a:solidFill>
                  <a:srgbClr val="A0BBDD"/>
                </a:solidFill>
                <a:latin typeface="Arial" pitchFamily="34" charset="0"/>
                <a:ea typeface="Arial" pitchFamily="34" charset="-122"/>
                <a:cs typeface="Arial" pitchFamily="34" charset="-120"/>
              </a:rPr>
              <a:t>Idea and workflow (5 min) · three systems through the workflow (10) · what each layer measured (8) · how to build it: discussion (7)</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The original idea: an Agent enters the Rules Table and follows a set of rules to choose operations and extra analyses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rule_registry.tsv v0.1; 11 papers (Hellenkamp 2018 … Wankowicz &amp; Bonomi 2026); external review 17 Aug 2026</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2</a:t>
            </a:r>
            <a:endParaRPr lang="en-US" sz="1050" dirty="0"/>
          </a:p>
        </p:txBody>
      </p:sp>
      <p:sp>
        <p:nvSpPr>
          <p:cNvPr id="6" name="Shape 3"/>
          <p:cNvSpPr/>
          <p:nvPr/>
        </p:nvSpPr>
        <p:spPr>
          <a:xfrm>
            <a:off x="457200" y="1234440"/>
            <a:ext cx="1417320" cy="777240"/>
          </a:xfrm>
          <a:prstGeom prst="rect">
            <a:avLst/>
          </a:prstGeom>
          <a:solidFill>
            <a:srgbClr val="E8EEF5"/>
          </a:solidFill>
          <a:ln w="12700">
            <a:solidFill>
              <a:srgbClr val="E8EEF5"/>
            </a:solidFill>
            <a:prstDash val="solid"/>
          </a:ln>
        </p:spPr>
      </p:sp>
      <p:sp>
        <p:nvSpPr>
          <p:cNvPr id="7" name="Text 4"/>
          <p:cNvSpPr/>
          <p:nvPr/>
        </p:nvSpPr>
        <p:spPr>
          <a:xfrm>
            <a:off x="457200" y="1234440"/>
            <a:ext cx="141732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New system:</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question + data</a:t>
            </a:r>
            <a:endParaRPr lang="en-US" sz="1150" dirty="0"/>
          </a:p>
        </p:txBody>
      </p:sp>
      <p:sp>
        <p:nvSpPr>
          <p:cNvPr id="8" name="Shape 5"/>
          <p:cNvSpPr/>
          <p:nvPr/>
        </p:nvSpPr>
        <p:spPr>
          <a:xfrm>
            <a:off x="1920240" y="1508760"/>
            <a:ext cx="274320" cy="237744"/>
          </a:xfrm>
          <a:prstGeom prst="rightArrow">
            <a:avLst/>
          </a:prstGeom>
          <a:solidFill>
            <a:srgbClr val="CCCCCC"/>
          </a:solidFill>
          <a:ln w="12700">
            <a:solidFill>
              <a:srgbClr val="CCCCCC"/>
            </a:solidFill>
            <a:prstDash val="solid"/>
          </a:ln>
        </p:spPr>
      </p:sp>
      <p:sp>
        <p:nvSpPr>
          <p:cNvPr id="9" name="Shape 6"/>
          <p:cNvSpPr/>
          <p:nvPr/>
        </p:nvSpPr>
        <p:spPr>
          <a:xfrm>
            <a:off x="2240280" y="1234440"/>
            <a:ext cx="1554480" cy="777240"/>
          </a:xfrm>
          <a:prstGeom prst="rect">
            <a:avLst/>
          </a:prstGeom>
          <a:solidFill>
            <a:srgbClr val="FFF2CC"/>
          </a:solidFill>
          <a:ln w="12700">
            <a:solidFill>
              <a:srgbClr val="E6D48A"/>
            </a:solidFill>
            <a:prstDash val="solid"/>
          </a:ln>
        </p:spPr>
      </p:sp>
      <p:sp>
        <p:nvSpPr>
          <p:cNvPr id="10" name="Text 7"/>
          <p:cNvSpPr/>
          <p:nvPr/>
        </p:nvSpPr>
        <p:spPr>
          <a:xfrm>
            <a:off x="2240280" y="1234440"/>
            <a:ext cx="1554480" cy="777240"/>
          </a:xfrm>
          <a:prstGeom prst="rect">
            <a:avLst/>
          </a:prstGeom>
          <a:noFill/>
          <a:ln/>
        </p:spPr>
        <p:txBody>
          <a:bodyPr wrap="square" lIns="38100" tIns="38100" rIns="38100" bIns="38100" rtlCol="0" anchor="ctr"/>
          <a:lstStyle/>
          <a:p>
            <a:pPr algn="ctr" indent="0" marL="0">
              <a:buNone/>
            </a:pPr>
            <a:r>
              <a:rPr lang="en-US" sz="1150" b="1" dirty="0">
                <a:solidFill>
                  <a:srgbClr val="2D2D2D"/>
                </a:solidFill>
                <a:latin typeface="Arial" pitchFamily="34" charset="0"/>
                <a:ea typeface="Arial" pitchFamily="34" charset="-122"/>
                <a:cs typeface="Arial" pitchFamily="34" charset="-120"/>
              </a:rPr>
              <a:t>Rules Table</a:t>
            </a:r>
            <a:endParaRPr lang="en-US" sz="1150" dirty="0"/>
          </a:p>
          <a:p>
            <a:pPr algn="ctr" indent="0" marL="0">
              <a:buNone/>
            </a:pPr>
            <a:r>
              <a:rPr lang="en-US" sz="1150" b="1" dirty="0">
                <a:solidFill>
                  <a:srgbClr val="2D2D2D"/>
                </a:solidFill>
                <a:latin typeface="Arial" pitchFamily="34" charset="0"/>
                <a:ea typeface="Arial" pitchFamily="34" charset="-122"/>
                <a:cs typeface="Arial" pitchFamily="34" charset="-120"/>
              </a:rPr>
              <a:t>33 rules / 11 papers</a:t>
            </a:r>
            <a:endParaRPr lang="en-US" sz="1150" dirty="0"/>
          </a:p>
        </p:txBody>
      </p:sp>
      <p:sp>
        <p:nvSpPr>
          <p:cNvPr id="11" name="Shape 8"/>
          <p:cNvSpPr/>
          <p:nvPr/>
        </p:nvSpPr>
        <p:spPr>
          <a:xfrm>
            <a:off x="3840480" y="1508760"/>
            <a:ext cx="274320" cy="237744"/>
          </a:xfrm>
          <a:prstGeom prst="rightArrow">
            <a:avLst/>
          </a:prstGeom>
          <a:solidFill>
            <a:srgbClr val="CCCCCC"/>
          </a:solidFill>
          <a:ln w="12700">
            <a:solidFill>
              <a:srgbClr val="CCCCCC"/>
            </a:solidFill>
            <a:prstDash val="solid"/>
          </a:ln>
        </p:spPr>
      </p:sp>
      <p:sp>
        <p:nvSpPr>
          <p:cNvPr id="12" name="Shape 9"/>
          <p:cNvSpPr/>
          <p:nvPr/>
        </p:nvSpPr>
        <p:spPr>
          <a:xfrm>
            <a:off x="4160520" y="1234440"/>
            <a:ext cx="1737360" cy="777240"/>
          </a:xfrm>
          <a:prstGeom prst="rect">
            <a:avLst/>
          </a:prstGeom>
          <a:solidFill>
            <a:srgbClr val="E8EEF5"/>
          </a:solidFill>
          <a:ln w="12700">
            <a:solidFill>
              <a:srgbClr val="E8EEF5"/>
            </a:solidFill>
            <a:prstDash val="solid"/>
          </a:ln>
        </p:spPr>
      </p:sp>
      <p:sp>
        <p:nvSpPr>
          <p:cNvPr id="13" name="Text 10"/>
          <p:cNvSpPr/>
          <p:nvPr/>
        </p:nvSpPr>
        <p:spPr>
          <a:xfrm>
            <a:off x="4160520" y="1234440"/>
            <a:ext cx="1737360" cy="777240"/>
          </a:xfrm>
          <a:prstGeom prst="rect">
            <a:avLst/>
          </a:prstGeom>
          <a:noFill/>
          <a:ln/>
        </p:spPr>
        <p:txBody>
          <a:bodyPr wrap="square" lIns="38100" tIns="38100" rIns="38100" bIns="38100" rtlCol="0" anchor="ctr"/>
          <a:lstStyle/>
          <a:p>
            <a:pPr algn="ctr" indent="0" marL="0">
              <a:buNone/>
            </a:pPr>
            <a:r>
              <a:rPr lang="en-US" sz="1050" dirty="0">
                <a:solidFill>
                  <a:srgbClr val="1F4E79"/>
                </a:solidFill>
                <a:latin typeface="Arial" pitchFamily="34" charset="0"/>
                <a:ea typeface="Arial" pitchFamily="34" charset="-122"/>
                <a:cs typeface="Arial" pitchFamily="34" charset="-120"/>
              </a:rPr>
              <a:t>Agent follows rules:</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which operation, what</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extra analysis, when to abstain</a:t>
            </a:r>
            <a:endParaRPr lang="en-US" sz="1050" dirty="0"/>
          </a:p>
        </p:txBody>
      </p:sp>
      <p:sp>
        <p:nvSpPr>
          <p:cNvPr id="14" name="Shape 11"/>
          <p:cNvSpPr/>
          <p:nvPr/>
        </p:nvSpPr>
        <p:spPr>
          <a:xfrm>
            <a:off x="5943600" y="1508760"/>
            <a:ext cx="274320" cy="237744"/>
          </a:xfrm>
          <a:prstGeom prst="rightArrow">
            <a:avLst/>
          </a:prstGeom>
          <a:solidFill>
            <a:srgbClr val="CCCCCC"/>
          </a:solidFill>
          <a:ln w="12700">
            <a:solidFill>
              <a:srgbClr val="CCCCCC"/>
            </a:solidFill>
            <a:prstDash val="solid"/>
          </a:ln>
        </p:spPr>
      </p:sp>
      <p:sp>
        <p:nvSpPr>
          <p:cNvPr id="15" name="Shape 12"/>
          <p:cNvSpPr/>
          <p:nvPr/>
        </p:nvSpPr>
        <p:spPr>
          <a:xfrm>
            <a:off x="6263640" y="1234440"/>
            <a:ext cx="1280160" cy="777240"/>
          </a:xfrm>
          <a:prstGeom prst="rect">
            <a:avLst/>
          </a:prstGeom>
          <a:solidFill>
            <a:srgbClr val="E8EEF5"/>
          </a:solidFill>
          <a:ln w="12700">
            <a:solidFill>
              <a:srgbClr val="E8EEF5"/>
            </a:solidFill>
            <a:prstDash val="solid"/>
          </a:ln>
        </p:spPr>
      </p:sp>
      <p:sp>
        <p:nvSpPr>
          <p:cNvPr id="16" name="Text 13"/>
          <p:cNvSpPr/>
          <p:nvPr/>
        </p:nvSpPr>
        <p:spPr>
          <a:xfrm>
            <a:off x="6263640" y="1234440"/>
            <a:ext cx="128016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Analysis +</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numbers</a:t>
            </a:r>
            <a:endParaRPr lang="en-US" sz="1150" dirty="0"/>
          </a:p>
        </p:txBody>
      </p:sp>
      <p:sp>
        <p:nvSpPr>
          <p:cNvPr id="17" name="Shape 14"/>
          <p:cNvSpPr/>
          <p:nvPr/>
        </p:nvSpPr>
        <p:spPr>
          <a:xfrm>
            <a:off x="7589520" y="1508760"/>
            <a:ext cx="274320" cy="237744"/>
          </a:xfrm>
          <a:prstGeom prst="rightArrow">
            <a:avLst/>
          </a:prstGeom>
          <a:solidFill>
            <a:srgbClr val="CCCCCC"/>
          </a:solidFill>
          <a:ln w="12700">
            <a:solidFill>
              <a:srgbClr val="CCCCCC"/>
            </a:solidFill>
            <a:prstDash val="solid"/>
          </a:ln>
        </p:spPr>
      </p:sp>
      <p:sp>
        <p:nvSpPr>
          <p:cNvPr id="18" name="Shape 15"/>
          <p:cNvSpPr/>
          <p:nvPr/>
        </p:nvSpPr>
        <p:spPr>
          <a:xfrm>
            <a:off x="7909560" y="1234440"/>
            <a:ext cx="777240" cy="777240"/>
          </a:xfrm>
          <a:prstGeom prst="rect">
            <a:avLst/>
          </a:prstGeom>
          <a:solidFill>
            <a:srgbClr val="F2F2F2"/>
          </a:solidFill>
          <a:ln w="12700">
            <a:solidFill>
              <a:srgbClr val="F2F2F2"/>
            </a:solidFill>
            <a:prstDash val="solid"/>
          </a:ln>
        </p:spPr>
      </p:sp>
      <p:sp>
        <p:nvSpPr>
          <p:cNvPr id="19" name="Text 16"/>
          <p:cNvSpPr/>
          <p:nvPr/>
        </p:nvSpPr>
        <p:spPr>
          <a:xfrm>
            <a:off x="7909560" y="1234440"/>
            <a:ext cx="777240" cy="77724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Bounded</a:t>
            </a:r>
            <a:endParaRPr lang="en-US" sz="1100" dirty="0"/>
          </a:p>
          <a:p>
            <a:pPr algn="ctr" indent="0" marL="0">
              <a:buNone/>
            </a:pPr>
            <a:r>
              <a:rPr lang="en-US" sz="1100" dirty="0">
                <a:solidFill>
                  <a:srgbClr val="2D2D2D"/>
                </a:solidFill>
                <a:latin typeface="Arial" pitchFamily="34" charset="0"/>
                <a:ea typeface="Arial" pitchFamily="34" charset="-122"/>
                <a:cs typeface="Arial" pitchFamily="34" charset="-120"/>
              </a:rPr>
              <a:t>answer</a:t>
            </a:r>
            <a:endParaRPr lang="en-US" sz="1100" dirty="0"/>
          </a:p>
        </p:txBody>
      </p:sp>
      <p:sp>
        <p:nvSpPr>
          <p:cNvPr id="20" name="Text 17"/>
          <p:cNvSpPr/>
          <p:nvPr/>
        </p:nvSpPr>
        <p:spPr>
          <a:xfrm>
            <a:off x="457200" y="2194560"/>
            <a:ext cx="3657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What one rule stores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3931920" cy="914400"/>
        </p:xfrm>
        <a:graphic>
          <a:graphicData uri="http://schemas.openxmlformats.org/drawingml/2006/table">
            <a:tbl>
              <a:tblPr/>
              <a:tblGrid>
                <a:gridCol w="1554480"/>
                <a:gridCol w="2377440"/>
              </a:tblGrid>
              <a:tr h="2743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Field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paper_finding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the paper actually showed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proposed_project_rule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we must check before using this kind of data</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required_fields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the items the check needs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abstain_route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where to stop if the check cannot be done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transfer_scope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the lesson carries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22" name="Text 18"/>
          <p:cNvSpPr/>
          <p:nvPr/>
        </p:nvSpPr>
        <p:spPr>
          <a:xfrm>
            <a:off x="4663440" y="2194560"/>
            <a:ext cx="402336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One rule verbatim (C006-RULE-003, Shevchuk 2017)</a:t>
            </a:r>
            <a:endParaRPr lang="en-US" sz="1200" dirty="0"/>
          </a:p>
        </p:txBody>
      </p:sp>
      <p:sp>
        <p:nvSpPr>
          <p:cNvPr id="23" name="Text 19"/>
          <p:cNvSpPr/>
          <p:nvPr/>
        </p:nvSpPr>
        <p:spPr>
          <a:xfrm>
            <a:off x="4663440" y="2487168"/>
            <a:ext cx="4023360" cy="2103120"/>
          </a:xfrm>
          <a:prstGeom prst="rect">
            <a:avLst/>
          </a:prstGeom>
          <a:noFill/>
          <a:ln/>
        </p:spPr>
        <p:txBody>
          <a:bodyPr wrap="square" rtlCol="0" anchor="t"/>
          <a:lstStyle/>
          <a:p>
            <a:pPr indent="0" marL="0">
              <a:spcAft>
                <a:spcPts val="500"/>
              </a:spcAft>
              <a:buNone/>
            </a:pPr>
            <a:r>
              <a:rPr lang="en-US" sz="1100" b="1" dirty="0">
                <a:solidFill>
                  <a:srgbClr val="2D2D2D"/>
                </a:solidFill>
                <a:latin typeface="Arial" pitchFamily="34" charset="0"/>
                <a:ea typeface="Arial" pitchFamily="34" charset="-122"/>
                <a:cs typeface="Arial" pitchFamily="34" charset="-120"/>
              </a:rPr>
              <a:t>Finding: </a:t>
            </a:r>
            <a:pPr indent="0" marL="0">
              <a:spcAft>
                <a:spcPts val="500"/>
              </a:spcAft>
              <a:buNone/>
            </a:pPr>
            <a:r>
              <a:rPr lang="en-US" sz="1100" dirty="0">
                <a:solidFill>
                  <a:srgbClr val="2D2D2D"/>
                </a:solidFill>
                <a:latin typeface="Arial" pitchFamily="34" charset="0"/>
                <a:ea typeface="Arial" pitchFamily="34" charset="-122"/>
                <a:cs typeface="Arial" pitchFamily="34" charset="-120"/>
              </a:rPr>
              <a:t>if the candidate support omits a state, Bayesian SAXS refinement can express uncertainty within the wrong support but cannot create the missing state.</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Check: </a:t>
            </a:r>
            <a:pPr indent="0" marL="0">
              <a:spcAft>
                <a:spcPts val="500"/>
              </a:spcAft>
              <a:buNone/>
            </a:pPr>
            <a:r>
              <a:rPr lang="en-US" sz="1100" dirty="0">
                <a:solidFill>
                  <a:srgbClr val="2D2D2D"/>
                </a:solidFill>
                <a:latin typeface="Arial" pitchFamily="34" charset="0"/>
                <a:ea typeface="Arial" pitchFamily="34" charset="-122"/>
                <a:cs typeface="Arial" pitchFamily="34" charset="-120"/>
              </a:rPr>
              <a:t>candidate-support coverage · state-number adequacy · missing-state audit.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Abstain: </a:t>
            </a:r>
            <a:pPr indent="0" marL="0">
              <a:spcAft>
                <a:spcPts val="500"/>
              </a:spcAft>
              <a:buNone/>
            </a:pPr>
            <a:r>
              <a:rPr lang="en-US" sz="1100" dirty="0">
                <a:solidFill>
                  <a:srgbClr val="2D2D2D"/>
                </a:solidFill>
                <a:latin typeface="Arial" pitchFamily="34" charset="0"/>
                <a:ea typeface="Arial" pitchFamily="34" charset="-122"/>
                <a:cs typeface="Arial" pitchFamily="34" charset="-120"/>
              </a:rPr>
              <a:t>MISSING_STATE_SUPPORT.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Scope: </a:t>
            </a:r>
            <a:pPr indent="0" marL="0">
              <a:spcAft>
                <a:spcPts val="500"/>
              </a:spcAft>
              <a:buNone/>
            </a:pPr>
            <a:r>
              <a:rPr lang="en-US" sz="1100" dirty="0">
                <a:solidFill>
                  <a:srgbClr val="2D2D2D"/>
                </a:solidFill>
                <a:latin typeface="Arial" pitchFamily="34" charset="0"/>
                <a:ea typeface="Arial" pitchFamily="34" charset="-122"/>
                <a:cs typeface="Arial" pitchFamily="34" charset="-120"/>
              </a:rPr>
              <a:t>a posterior cannot create a state absent from support.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What a new system goes through today, and where the Rules Table acts at each step</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Layers A–D from RULES_TABLE_ROLE_DESIGN_ZH.md; runtime from Luna v1 (PR #27)</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3</a:t>
            </a:r>
            <a:endParaRPr lang="en-US" sz="1050" dirty="0"/>
          </a:p>
        </p:txBody>
      </p:sp>
      <p:sp>
        <p:nvSpPr>
          <p:cNvPr id="6" name="Shape 3"/>
          <p:cNvSpPr/>
          <p:nvPr/>
        </p:nvSpPr>
        <p:spPr>
          <a:xfrm>
            <a:off x="457200" y="1234440"/>
            <a:ext cx="1261872" cy="310896"/>
          </a:xfrm>
          <a:prstGeom prst="rect">
            <a:avLst/>
          </a:prstGeom>
          <a:solidFill>
            <a:srgbClr val="1F4E79"/>
          </a:solidFill>
          <a:ln w="12700">
            <a:solidFill>
              <a:srgbClr val="1F4E79"/>
            </a:solidFill>
            <a:prstDash val="solid"/>
          </a:ln>
        </p:spPr>
      </p:sp>
      <p:sp>
        <p:nvSpPr>
          <p:cNvPr id="7" name="Text 4"/>
          <p:cNvSpPr/>
          <p:nvPr/>
        </p:nvSpPr>
        <p:spPr>
          <a:xfrm>
            <a:off x="45720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 Intake</a:t>
            </a:r>
            <a:endParaRPr lang="en-US" sz="1150" dirty="0"/>
          </a:p>
        </p:txBody>
      </p:sp>
      <p:sp>
        <p:nvSpPr>
          <p:cNvPr id="8" name="Shape 5"/>
          <p:cNvSpPr/>
          <p:nvPr/>
        </p:nvSpPr>
        <p:spPr>
          <a:xfrm>
            <a:off x="457200" y="1545336"/>
            <a:ext cx="1261872" cy="914400"/>
          </a:xfrm>
          <a:prstGeom prst="rect">
            <a:avLst/>
          </a:prstGeom>
          <a:solidFill>
            <a:srgbClr val="E8EEF5"/>
          </a:solidFill>
          <a:ln w="12700">
            <a:solidFill>
              <a:srgbClr val="E8EEF5"/>
            </a:solidFill>
            <a:prstDash val="solid"/>
          </a:ln>
        </p:spPr>
      </p:sp>
      <p:sp>
        <p:nvSpPr>
          <p:cNvPr id="9" name="Text 6"/>
          <p:cNvSpPr/>
          <p:nvPr/>
        </p:nvSpPr>
        <p:spPr>
          <a:xfrm>
            <a:off x="45720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authors' deposition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 source card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(paper, SI, README)</a:t>
            </a:r>
            <a:endParaRPr lang="en-US" sz="950" dirty="0"/>
          </a:p>
        </p:txBody>
      </p:sp>
      <p:sp>
        <p:nvSpPr>
          <p:cNvPr id="10" name="Shape 7"/>
          <p:cNvSpPr/>
          <p:nvPr/>
        </p:nvSpPr>
        <p:spPr>
          <a:xfrm>
            <a:off x="1700784" y="1691640"/>
            <a:ext cx="164592" cy="237744"/>
          </a:xfrm>
          <a:prstGeom prst="rightArrow">
            <a:avLst/>
          </a:prstGeom>
          <a:solidFill>
            <a:srgbClr val="CCCCCC"/>
          </a:solidFill>
          <a:ln w="12700">
            <a:solidFill>
              <a:srgbClr val="CCCCCC"/>
            </a:solidFill>
            <a:prstDash val="solid"/>
          </a:ln>
        </p:spPr>
      </p:sp>
      <p:sp>
        <p:nvSpPr>
          <p:cNvPr id="11" name="Shape 8"/>
          <p:cNvSpPr/>
          <p:nvPr/>
        </p:nvSpPr>
        <p:spPr>
          <a:xfrm>
            <a:off x="1847088" y="1234440"/>
            <a:ext cx="1261872" cy="310896"/>
          </a:xfrm>
          <a:prstGeom prst="rect">
            <a:avLst/>
          </a:prstGeom>
          <a:solidFill>
            <a:srgbClr val="1F4E79"/>
          </a:solidFill>
          <a:ln w="12700">
            <a:solidFill>
              <a:srgbClr val="1F4E79"/>
            </a:solidFill>
            <a:prstDash val="solid"/>
          </a:ln>
        </p:spPr>
      </p:sp>
      <p:sp>
        <p:nvSpPr>
          <p:cNvPr id="12" name="Text 9"/>
          <p:cNvSpPr/>
          <p:nvPr/>
        </p:nvSpPr>
        <p:spPr>
          <a:xfrm>
            <a:off x="1847088"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 Package</a:t>
            </a:r>
            <a:endParaRPr lang="en-US" sz="1150" dirty="0"/>
          </a:p>
        </p:txBody>
      </p:sp>
      <p:sp>
        <p:nvSpPr>
          <p:cNvPr id="13" name="Shape 10"/>
          <p:cNvSpPr/>
          <p:nvPr/>
        </p:nvSpPr>
        <p:spPr>
          <a:xfrm>
            <a:off x="1847088" y="1545336"/>
            <a:ext cx="1261872" cy="914400"/>
          </a:xfrm>
          <a:prstGeom prst="rect">
            <a:avLst/>
          </a:prstGeom>
          <a:solidFill>
            <a:srgbClr val="E8EEF5"/>
          </a:solidFill>
          <a:ln w="12700">
            <a:solidFill>
              <a:srgbClr val="E8EEF5"/>
            </a:solidFill>
            <a:prstDash val="solid"/>
          </a:ln>
        </p:spPr>
      </p:sp>
      <p:sp>
        <p:nvSpPr>
          <p:cNvPr id="14" name="Text 11"/>
          <p:cNvSpPr/>
          <p:nvPr/>
        </p:nvSpPr>
        <p:spPr>
          <a:xfrm>
            <a:off x="1847088"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derived tables,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field definitions,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physical checks, freeze</a:t>
            </a:r>
            <a:endParaRPr lang="en-US" sz="950" dirty="0"/>
          </a:p>
        </p:txBody>
      </p:sp>
      <p:sp>
        <p:nvSpPr>
          <p:cNvPr id="15" name="Shape 12"/>
          <p:cNvSpPr/>
          <p:nvPr/>
        </p:nvSpPr>
        <p:spPr>
          <a:xfrm>
            <a:off x="3090672" y="1691640"/>
            <a:ext cx="164592" cy="237744"/>
          </a:xfrm>
          <a:prstGeom prst="rightArrow">
            <a:avLst/>
          </a:prstGeom>
          <a:solidFill>
            <a:srgbClr val="CCCCCC"/>
          </a:solidFill>
          <a:ln w="12700">
            <a:solidFill>
              <a:srgbClr val="CCCCCC"/>
            </a:solidFill>
            <a:prstDash val="solid"/>
          </a:ln>
        </p:spPr>
      </p:sp>
      <p:sp>
        <p:nvSpPr>
          <p:cNvPr id="16" name="Shape 13"/>
          <p:cNvSpPr/>
          <p:nvPr/>
        </p:nvSpPr>
        <p:spPr>
          <a:xfrm>
            <a:off x="3236976" y="1234440"/>
            <a:ext cx="1261872" cy="310896"/>
          </a:xfrm>
          <a:prstGeom prst="rect">
            <a:avLst/>
          </a:prstGeom>
          <a:solidFill>
            <a:srgbClr val="1F4E79"/>
          </a:solidFill>
          <a:ln w="12700">
            <a:solidFill>
              <a:srgbClr val="1F4E79"/>
            </a:solidFill>
            <a:prstDash val="solid"/>
          </a:ln>
        </p:spPr>
      </p:sp>
      <p:sp>
        <p:nvSpPr>
          <p:cNvPr id="17" name="Text 14"/>
          <p:cNvSpPr/>
          <p:nvPr/>
        </p:nvSpPr>
        <p:spPr>
          <a:xfrm>
            <a:off x="3236976"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 Frame</a:t>
            </a:r>
            <a:endParaRPr lang="en-US" sz="1150" dirty="0"/>
          </a:p>
        </p:txBody>
      </p:sp>
      <p:sp>
        <p:nvSpPr>
          <p:cNvPr id="18" name="Shape 15"/>
          <p:cNvSpPr/>
          <p:nvPr/>
        </p:nvSpPr>
        <p:spPr>
          <a:xfrm>
            <a:off x="3236976" y="1545336"/>
            <a:ext cx="1261872" cy="914400"/>
          </a:xfrm>
          <a:prstGeom prst="rect">
            <a:avLst/>
          </a:prstGeom>
          <a:solidFill>
            <a:srgbClr val="E8EEF5"/>
          </a:solidFill>
          <a:ln w="12700">
            <a:solidFill>
              <a:srgbClr val="E8EEF5"/>
            </a:solidFill>
            <a:prstDash val="solid"/>
          </a:ln>
        </p:spPr>
      </p:sp>
      <p:sp>
        <p:nvSpPr>
          <p:cNvPr id="19" name="Text 16"/>
          <p:cNvSpPr/>
          <p:nvPr/>
        </p:nvSpPr>
        <p:spPr>
          <a:xfrm>
            <a:off x="3236976"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sub-questions,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competing explanations,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rubric (hidden)</a:t>
            </a:r>
            <a:endParaRPr lang="en-US" sz="950" dirty="0"/>
          </a:p>
        </p:txBody>
      </p:sp>
      <p:sp>
        <p:nvSpPr>
          <p:cNvPr id="20" name="Shape 17"/>
          <p:cNvSpPr/>
          <p:nvPr/>
        </p:nvSpPr>
        <p:spPr>
          <a:xfrm>
            <a:off x="4480560" y="1691640"/>
            <a:ext cx="164592" cy="237744"/>
          </a:xfrm>
          <a:prstGeom prst="rightArrow">
            <a:avLst/>
          </a:prstGeom>
          <a:solidFill>
            <a:srgbClr val="CCCCCC"/>
          </a:solidFill>
          <a:ln w="12700">
            <a:solidFill>
              <a:srgbClr val="CCCCCC"/>
            </a:solidFill>
            <a:prstDash val="solid"/>
          </a:ln>
        </p:spPr>
      </p:sp>
      <p:sp>
        <p:nvSpPr>
          <p:cNvPr id="21" name="Shape 18"/>
          <p:cNvSpPr/>
          <p:nvPr/>
        </p:nvSpPr>
        <p:spPr>
          <a:xfrm>
            <a:off x="4626864" y="1234440"/>
            <a:ext cx="1261872" cy="310896"/>
          </a:xfrm>
          <a:prstGeom prst="rect">
            <a:avLst/>
          </a:prstGeom>
          <a:solidFill>
            <a:srgbClr val="1F4E79"/>
          </a:solidFill>
          <a:ln w="12700">
            <a:solidFill>
              <a:srgbClr val="1F4E79"/>
            </a:solidFill>
            <a:prstDash val="solid"/>
          </a:ln>
        </p:spPr>
      </p:sp>
      <p:sp>
        <p:nvSpPr>
          <p:cNvPr id="22" name="Text 19"/>
          <p:cNvSpPr/>
          <p:nvPr/>
        </p:nvSpPr>
        <p:spPr>
          <a:xfrm>
            <a:off x="4626864"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 Run</a:t>
            </a:r>
            <a:endParaRPr lang="en-US" sz="1150" dirty="0"/>
          </a:p>
        </p:txBody>
      </p:sp>
      <p:sp>
        <p:nvSpPr>
          <p:cNvPr id="23" name="Shape 20"/>
          <p:cNvSpPr/>
          <p:nvPr/>
        </p:nvSpPr>
        <p:spPr>
          <a:xfrm>
            <a:off x="4626864" y="1545336"/>
            <a:ext cx="1261872" cy="914400"/>
          </a:xfrm>
          <a:prstGeom prst="rect">
            <a:avLst/>
          </a:prstGeom>
          <a:solidFill>
            <a:srgbClr val="E8EEF5"/>
          </a:solidFill>
          <a:ln w="12700">
            <a:solidFill>
              <a:srgbClr val="E8EEF5"/>
            </a:solidFill>
            <a:prstDash val="solid"/>
          </a:ln>
        </p:spPr>
      </p:sp>
      <p:sp>
        <p:nvSpPr>
          <p:cNvPr id="24" name="Text 21"/>
          <p:cNvSpPr/>
          <p:nvPr/>
        </p:nvSpPr>
        <p:spPr>
          <a:xfrm>
            <a:off x="4626864"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Agent in sealed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container: reads,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computes, submits</a:t>
            </a:r>
            <a:endParaRPr lang="en-US" sz="950" dirty="0"/>
          </a:p>
        </p:txBody>
      </p:sp>
      <p:sp>
        <p:nvSpPr>
          <p:cNvPr id="25" name="Shape 22"/>
          <p:cNvSpPr/>
          <p:nvPr/>
        </p:nvSpPr>
        <p:spPr>
          <a:xfrm>
            <a:off x="5870448" y="1691640"/>
            <a:ext cx="164592" cy="237744"/>
          </a:xfrm>
          <a:prstGeom prst="rightArrow">
            <a:avLst/>
          </a:prstGeom>
          <a:solidFill>
            <a:srgbClr val="CCCCCC"/>
          </a:solidFill>
          <a:ln w="12700">
            <a:solidFill>
              <a:srgbClr val="CCCCCC"/>
            </a:solidFill>
            <a:prstDash val="solid"/>
          </a:ln>
        </p:spPr>
      </p:sp>
      <p:sp>
        <p:nvSpPr>
          <p:cNvPr id="26" name="Shape 23"/>
          <p:cNvSpPr/>
          <p:nvPr/>
        </p:nvSpPr>
        <p:spPr>
          <a:xfrm>
            <a:off x="6016752" y="1234440"/>
            <a:ext cx="1261872" cy="310896"/>
          </a:xfrm>
          <a:prstGeom prst="rect">
            <a:avLst/>
          </a:prstGeom>
          <a:solidFill>
            <a:srgbClr val="1F4E79"/>
          </a:solidFill>
          <a:ln w="12700">
            <a:solidFill>
              <a:srgbClr val="1F4E79"/>
            </a:solidFill>
            <a:prstDash val="solid"/>
          </a:ln>
        </p:spPr>
      </p:sp>
      <p:sp>
        <p:nvSpPr>
          <p:cNvPr id="27" name="Text 24"/>
          <p:cNvSpPr/>
          <p:nvPr/>
        </p:nvSpPr>
        <p:spPr>
          <a:xfrm>
            <a:off x="6016752"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 Check</a:t>
            </a:r>
            <a:endParaRPr lang="en-US" sz="1150" dirty="0"/>
          </a:p>
        </p:txBody>
      </p:sp>
      <p:sp>
        <p:nvSpPr>
          <p:cNvPr id="28" name="Shape 25"/>
          <p:cNvSpPr/>
          <p:nvPr/>
        </p:nvSpPr>
        <p:spPr>
          <a:xfrm>
            <a:off x="6016752" y="1545336"/>
            <a:ext cx="1261872" cy="914400"/>
          </a:xfrm>
          <a:prstGeom prst="rect">
            <a:avLst/>
          </a:prstGeom>
          <a:solidFill>
            <a:srgbClr val="E8EEF5"/>
          </a:solidFill>
          <a:ln w="12700">
            <a:solidFill>
              <a:srgbClr val="E8EEF5"/>
            </a:solidFill>
            <a:prstDash val="solid"/>
          </a:ln>
        </p:spPr>
      </p:sp>
      <p:sp>
        <p:nvSpPr>
          <p:cNvPr id="29" name="Text 26"/>
          <p:cNvSpPr/>
          <p:nvPr/>
        </p:nvSpPr>
        <p:spPr>
          <a:xfrm>
            <a:off x="6016752"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automatic checks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 the submission,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one feedback</a:t>
            </a:r>
            <a:endParaRPr lang="en-US" sz="950" dirty="0"/>
          </a:p>
        </p:txBody>
      </p:sp>
      <p:sp>
        <p:nvSpPr>
          <p:cNvPr id="30" name="Shape 27"/>
          <p:cNvSpPr/>
          <p:nvPr/>
        </p:nvSpPr>
        <p:spPr>
          <a:xfrm>
            <a:off x="7260336" y="1691640"/>
            <a:ext cx="164592" cy="237744"/>
          </a:xfrm>
          <a:prstGeom prst="rightArrow">
            <a:avLst/>
          </a:prstGeom>
          <a:solidFill>
            <a:srgbClr val="CCCCCC"/>
          </a:solidFill>
          <a:ln w="12700">
            <a:solidFill>
              <a:srgbClr val="CCCCCC"/>
            </a:solidFill>
            <a:prstDash val="solid"/>
          </a:ln>
        </p:spPr>
      </p:sp>
      <p:sp>
        <p:nvSpPr>
          <p:cNvPr id="31" name="Shape 28"/>
          <p:cNvSpPr/>
          <p:nvPr/>
        </p:nvSpPr>
        <p:spPr>
          <a:xfrm>
            <a:off x="7406640" y="1234440"/>
            <a:ext cx="1261872" cy="310896"/>
          </a:xfrm>
          <a:prstGeom prst="rect">
            <a:avLst/>
          </a:prstGeom>
          <a:solidFill>
            <a:srgbClr val="1F4E79"/>
          </a:solidFill>
          <a:ln w="12700">
            <a:solidFill>
              <a:srgbClr val="1F4E79"/>
            </a:solidFill>
            <a:prstDash val="solid"/>
          </a:ln>
        </p:spPr>
      </p:sp>
      <p:sp>
        <p:nvSpPr>
          <p:cNvPr id="32" name="Text 29"/>
          <p:cNvSpPr/>
          <p:nvPr/>
        </p:nvSpPr>
        <p:spPr>
          <a:xfrm>
            <a:off x="740664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6 Report</a:t>
            </a:r>
            <a:endParaRPr lang="en-US" sz="1150" dirty="0"/>
          </a:p>
        </p:txBody>
      </p:sp>
      <p:sp>
        <p:nvSpPr>
          <p:cNvPr id="33" name="Shape 30"/>
          <p:cNvSpPr/>
          <p:nvPr/>
        </p:nvSpPr>
        <p:spPr>
          <a:xfrm>
            <a:off x="7406640" y="1545336"/>
            <a:ext cx="1261872" cy="914400"/>
          </a:xfrm>
          <a:prstGeom prst="rect">
            <a:avLst/>
          </a:prstGeom>
          <a:solidFill>
            <a:srgbClr val="E8EEF5"/>
          </a:solidFill>
          <a:ln w="12700">
            <a:solidFill>
              <a:srgbClr val="E8EEF5"/>
            </a:solidFill>
            <a:prstDash val="solid"/>
          </a:ln>
        </p:spPr>
      </p:sp>
      <p:sp>
        <p:nvSpPr>
          <p:cNvPr id="34" name="Text 31"/>
          <p:cNvSpPr/>
          <p:nvPr/>
        </p:nvSpPr>
        <p:spPr>
          <a:xfrm>
            <a:off x="740664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numbers linked to</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source; claim</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ceiling in words</a:t>
            </a:r>
            <a:endParaRPr lang="en-US" sz="950" dirty="0"/>
          </a:p>
        </p:txBody>
      </p:sp>
      <p:sp>
        <p:nvSpPr>
          <p:cNvPr id="35" name="Shape 32"/>
          <p:cNvSpPr/>
          <p:nvPr/>
        </p:nvSpPr>
        <p:spPr>
          <a:xfrm>
            <a:off x="457200" y="2532888"/>
            <a:ext cx="1261872" cy="274320"/>
          </a:xfrm>
          <a:prstGeom prst="rect">
            <a:avLst/>
          </a:prstGeom>
          <a:solidFill>
            <a:srgbClr val="F2F2F2"/>
          </a:solidFill>
          <a:ln w="12700">
            <a:solidFill>
              <a:srgbClr val="F2F2F2"/>
            </a:solidFill>
            <a:prstDash val="solid"/>
          </a:ln>
        </p:spPr>
      </p:sp>
      <p:sp>
        <p:nvSpPr>
          <p:cNvPr id="36" name="Text 33"/>
          <p:cNvSpPr/>
          <p:nvPr/>
        </p:nvSpPr>
        <p:spPr>
          <a:xfrm>
            <a:off x="45720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script</a:t>
            </a:r>
            <a:endParaRPr lang="en-US" sz="950" dirty="0"/>
          </a:p>
        </p:txBody>
      </p:sp>
      <p:sp>
        <p:nvSpPr>
          <p:cNvPr id="37" name="Shape 34"/>
          <p:cNvSpPr/>
          <p:nvPr/>
        </p:nvSpPr>
        <p:spPr>
          <a:xfrm>
            <a:off x="1847088" y="2532888"/>
            <a:ext cx="1261872" cy="274320"/>
          </a:xfrm>
          <a:prstGeom prst="rect">
            <a:avLst/>
          </a:prstGeom>
          <a:solidFill>
            <a:srgbClr val="F2F2F2"/>
          </a:solidFill>
          <a:ln w="12700">
            <a:solidFill>
              <a:srgbClr val="F2F2F2"/>
            </a:solidFill>
            <a:prstDash val="solid"/>
          </a:ln>
        </p:spPr>
      </p:sp>
      <p:sp>
        <p:nvSpPr>
          <p:cNvPr id="38" name="Text 35"/>
          <p:cNvSpPr/>
          <p:nvPr/>
        </p:nvSpPr>
        <p:spPr>
          <a:xfrm>
            <a:off x="1847088"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admission code</a:t>
            </a:r>
            <a:endParaRPr lang="en-US" sz="950" dirty="0"/>
          </a:p>
        </p:txBody>
      </p:sp>
      <p:sp>
        <p:nvSpPr>
          <p:cNvPr id="39" name="Shape 36"/>
          <p:cNvSpPr/>
          <p:nvPr/>
        </p:nvSpPr>
        <p:spPr>
          <a:xfrm>
            <a:off x="3236976" y="2532888"/>
            <a:ext cx="1261872" cy="274320"/>
          </a:xfrm>
          <a:prstGeom prst="rect">
            <a:avLst/>
          </a:prstGeom>
          <a:solidFill>
            <a:srgbClr val="F2F2F2"/>
          </a:solidFill>
          <a:ln w="12700">
            <a:solidFill>
              <a:srgbClr val="F2F2F2"/>
            </a:solidFill>
            <a:prstDash val="solid"/>
          </a:ln>
        </p:spPr>
      </p:sp>
      <p:sp>
        <p:nvSpPr>
          <p:cNvPr id="40" name="Text 37"/>
          <p:cNvSpPr/>
          <p:nvPr/>
        </p:nvSpPr>
        <p:spPr>
          <a:xfrm>
            <a:off x="3236976"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template</a:t>
            </a:r>
            <a:endParaRPr lang="en-US" sz="950" dirty="0"/>
          </a:p>
        </p:txBody>
      </p:sp>
      <p:sp>
        <p:nvSpPr>
          <p:cNvPr id="41" name="Shape 38"/>
          <p:cNvSpPr/>
          <p:nvPr/>
        </p:nvSpPr>
        <p:spPr>
          <a:xfrm>
            <a:off x="4626864" y="2532888"/>
            <a:ext cx="1261872" cy="274320"/>
          </a:xfrm>
          <a:prstGeom prst="rect">
            <a:avLst/>
          </a:prstGeom>
          <a:solidFill>
            <a:srgbClr val="F2F2F2"/>
          </a:solidFill>
          <a:ln w="12700">
            <a:solidFill>
              <a:srgbClr val="F2F2F2"/>
            </a:solidFill>
            <a:prstDash val="solid"/>
          </a:ln>
        </p:spPr>
      </p:sp>
      <p:sp>
        <p:nvSpPr>
          <p:cNvPr id="42" name="Text 39"/>
          <p:cNvSpPr/>
          <p:nvPr/>
        </p:nvSpPr>
        <p:spPr>
          <a:xfrm>
            <a:off x="4626864"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Agent</a:t>
            </a:r>
            <a:endParaRPr lang="en-US" sz="950" dirty="0"/>
          </a:p>
        </p:txBody>
      </p:sp>
      <p:sp>
        <p:nvSpPr>
          <p:cNvPr id="43" name="Shape 40"/>
          <p:cNvSpPr/>
          <p:nvPr/>
        </p:nvSpPr>
        <p:spPr>
          <a:xfrm>
            <a:off x="6016752" y="2532888"/>
            <a:ext cx="1261872" cy="274320"/>
          </a:xfrm>
          <a:prstGeom prst="rect">
            <a:avLst/>
          </a:prstGeom>
          <a:solidFill>
            <a:srgbClr val="F2F2F2"/>
          </a:solidFill>
          <a:ln w="12700">
            <a:solidFill>
              <a:srgbClr val="F2F2F2"/>
            </a:solidFill>
            <a:prstDash val="solid"/>
          </a:ln>
        </p:spPr>
      </p:sp>
      <p:sp>
        <p:nvSpPr>
          <p:cNvPr id="44" name="Text 41"/>
          <p:cNvSpPr/>
          <p:nvPr/>
        </p:nvSpPr>
        <p:spPr>
          <a:xfrm>
            <a:off x="6016752"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code</a:t>
            </a:r>
            <a:endParaRPr lang="en-US" sz="950" dirty="0"/>
          </a:p>
        </p:txBody>
      </p:sp>
      <p:sp>
        <p:nvSpPr>
          <p:cNvPr id="45" name="Shape 42"/>
          <p:cNvSpPr/>
          <p:nvPr/>
        </p:nvSpPr>
        <p:spPr>
          <a:xfrm>
            <a:off x="7406640" y="2532888"/>
            <a:ext cx="1261872" cy="274320"/>
          </a:xfrm>
          <a:prstGeom prst="rect">
            <a:avLst/>
          </a:prstGeom>
          <a:solidFill>
            <a:srgbClr val="F2F2F2"/>
          </a:solidFill>
          <a:ln w="12700">
            <a:solidFill>
              <a:srgbClr val="F2F2F2"/>
            </a:solidFill>
            <a:prstDash val="solid"/>
          </a:ln>
        </p:spPr>
      </p:sp>
      <p:sp>
        <p:nvSpPr>
          <p:cNvPr id="46" name="Text 43"/>
          <p:cNvSpPr/>
          <p:nvPr/>
        </p:nvSpPr>
        <p:spPr>
          <a:xfrm>
            <a:off x="740664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person</a:t>
            </a:r>
            <a:endParaRPr lang="en-US" sz="950" dirty="0"/>
          </a:p>
        </p:txBody>
      </p:sp>
      <p:sp>
        <p:nvSpPr>
          <p:cNvPr id="47" name="Text 44"/>
          <p:cNvSpPr/>
          <p:nvPr/>
        </p:nvSpPr>
        <p:spPr>
          <a:xfrm>
            <a:off x="457200" y="2926080"/>
            <a:ext cx="45720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Rules Table acts</a:t>
            </a:r>
            <a:endParaRPr lang="en-US" sz="1200" dirty="0"/>
          </a:p>
        </p:txBody>
      </p:sp>
      <p:sp>
        <p:nvSpPr>
          <p:cNvPr id="48" name="Shape 45"/>
          <p:cNvSpPr/>
          <p:nvPr/>
        </p:nvSpPr>
        <p:spPr>
          <a:xfrm>
            <a:off x="457200" y="3200400"/>
            <a:ext cx="1261872" cy="548640"/>
          </a:xfrm>
          <a:prstGeom prst="rect">
            <a:avLst/>
          </a:prstGeom>
          <a:solidFill>
            <a:srgbClr val="FFFFFF"/>
          </a:solidFill>
          <a:ln w="12700">
            <a:solidFill>
              <a:srgbClr val="FFFFFF"/>
            </a:solidFill>
            <a:prstDash val="solid"/>
          </a:ln>
        </p:spPr>
      </p:sp>
      <p:sp>
        <p:nvSpPr>
          <p:cNvPr id="49" name="Text 46"/>
          <p:cNvSpPr/>
          <p:nvPr/>
        </p:nvSpPr>
        <p:spPr>
          <a:xfrm>
            <a:off x="457200" y="320040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50" name="Shape 47"/>
          <p:cNvSpPr/>
          <p:nvPr/>
        </p:nvSpPr>
        <p:spPr>
          <a:xfrm>
            <a:off x="1847088" y="3200400"/>
            <a:ext cx="1261872" cy="548640"/>
          </a:xfrm>
          <a:prstGeom prst="rect">
            <a:avLst/>
          </a:prstGeom>
          <a:solidFill>
            <a:srgbClr val="FFF2CC"/>
          </a:solidFill>
          <a:ln w="12700">
            <a:solidFill>
              <a:srgbClr val="E6D48A"/>
            </a:solidFill>
            <a:prstDash val="solid"/>
          </a:ln>
        </p:spPr>
      </p:sp>
      <p:sp>
        <p:nvSpPr>
          <p:cNvPr id="51" name="Text 48"/>
          <p:cNvSpPr/>
          <p:nvPr/>
        </p:nvSpPr>
        <p:spPr>
          <a:xfrm>
            <a:off x="1847088" y="320040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B Admission</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10 rules</a:t>
            </a:r>
            <a:endParaRPr lang="en-US" sz="1050" dirty="0"/>
          </a:p>
        </p:txBody>
      </p:sp>
      <p:sp>
        <p:nvSpPr>
          <p:cNvPr id="52" name="Shape 49"/>
          <p:cNvSpPr/>
          <p:nvPr/>
        </p:nvSpPr>
        <p:spPr>
          <a:xfrm>
            <a:off x="3236976" y="3200400"/>
            <a:ext cx="1261872" cy="548640"/>
          </a:xfrm>
          <a:prstGeom prst="rect">
            <a:avLst/>
          </a:prstGeom>
          <a:solidFill>
            <a:srgbClr val="FFF2CC"/>
          </a:solidFill>
          <a:ln w="12700">
            <a:solidFill>
              <a:srgbClr val="E6D48A"/>
            </a:solidFill>
            <a:prstDash val="solid"/>
          </a:ln>
        </p:spPr>
      </p:sp>
      <p:sp>
        <p:nvSpPr>
          <p:cNvPr id="53" name="Text 50"/>
          <p:cNvSpPr/>
          <p:nvPr/>
        </p:nvSpPr>
        <p:spPr>
          <a:xfrm>
            <a:off x="3236976" y="320040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A Framing</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4" name="Shape 51"/>
          <p:cNvSpPr/>
          <p:nvPr/>
        </p:nvSpPr>
        <p:spPr>
          <a:xfrm>
            <a:off x="4626864" y="3200400"/>
            <a:ext cx="1261872" cy="548640"/>
          </a:xfrm>
          <a:prstGeom prst="rect">
            <a:avLst/>
          </a:prstGeom>
          <a:solidFill>
            <a:srgbClr val="FFF2CC"/>
          </a:solidFill>
          <a:ln w="12700">
            <a:solidFill>
              <a:srgbClr val="E6D48A"/>
            </a:solidFill>
            <a:prstDash val="solid"/>
          </a:ln>
        </p:spPr>
      </p:sp>
      <p:sp>
        <p:nvSpPr>
          <p:cNvPr id="55" name="Text 52"/>
          <p:cNvSpPr/>
          <p:nvPr/>
        </p:nvSpPr>
        <p:spPr>
          <a:xfrm>
            <a:off x="4626864" y="320040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C Method cards</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11 rules</a:t>
            </a:r>
            <a:endParaRPr lang="en-US" sz="1050" dirty="0"/>
          </a:p>
        </p:txBody>
      </p:sp>
      <p:sp>
        <p:nvSpPr>
          <p:cNvPr id="56" name="Shape 53"/>
          <p:cNvSpPr/>
          <p:nvPr/>
        </p:nvSpPr>
        <p:spPr>
          <a:xfrm>
            <a:off x="6016752" y="3200400"/>
            <a:ext cx="1261872" cy="548640"/>
          </a:xfrm>
          <a:prstGeom prst="rect">
            <a:avLst/>
          </a:prstGeom>
          <a:solidFill>
            <a:srgbClr val="FFF2CC"/>
          </a:solidFill>
          <a:ln w="12700">
            <a:solidFill>
              <a:srgbClr val="E6D48A"/>
            </a:solidFill>
            <a:prstDash val="solid"/>
          </a:ln>
        </p:spPr>
      </p:sp>
      <p:sp>
        <p:nvSpPr>
          <p:cNvPr id="57" name="Text 54"/>
          <p:cNvSpPr/>
          <p:nvPr/>
        </p:nvSpPr>
        <p:spPr>
          <a:xfrm>
            <a:off x="6016752" y="320040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D Conclusion</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8" name="Shape 55"/>
          <p:cNvSpPr/>
          <p:nvPr/>
        </p:nvSpPr>
        <p:spPr>
          <a:xfrm>
            <a:off x="7406640" y="3200400"/>
            <a:ext cx="1261872" cy="548640"/>
          </a:xfrm>
          <a:prstGeom prst="rect">
            <a:avLst/>
          </a:prstGeom>
          <a:solidFill>
            <a:srgbClr val="FFFFFF"/>
          </a:solidFill>
          <a:ln w="12700">
            <a:solidFill>
              <a:srgbClr val="FFFFFF"/>
            </a:solidFill>
            <a:prstDash val="solid"/>
          </a:ln>
        </p:spPr>
      </p:sp>
      <p:sp>
        <p:nvSpPr>
          <p:cNvPr id="59" name="Text 56"/>
          <p:cNvSpPr/>
          <p:nvPr/>
        </p:nvSpPr>
        <p:spPr>
          <a:xfrm>
            <a:off x="7406640" y="320040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60" name="Text 57"/>
          <p:cNvSpPr/>
          <p:nvPr/>
        </p:nvSpPr>
        <p:spPr>
          <a:xfrm>
            <a:off x="457200" y="3931920"/>
            <a:ext cx="8229600" cy="640080"/>
          </a:xfrm>
          <a:prstGeom prst="rect">
            <a:avLst/>
          </a:prstGeom>
          <a:noFill/>
          <a:ln/>
        </p:spPr>
        <p:txBody>
          <a:bodyPr wrap="square" rtlCol="0" anchor="ctr"/>
          <a:lstStyle/>
          <a:p>
            <a:pPr indent="0" marL="0">
              <a:buNone/>
            </a:pPr>
            <a:r>
              <a:rPr lang="en-US" sz="1250" dirty="0">
                <a:solidFill>
                  <a:srgbClr val="2D2D2D"/>
                </a:solidFill>
                <a:latin typeface="Arial" pitchFamily="34" charset="0"/>
                <a:ea typeface="Arial" pitchFamily="34" charset="-122"/>
                <a:cs typeface="Arial" pitchFamily="34" charset="-120"/>
              </a:rPr>
              <a:t>Version one (July–early Sep) used the table only at step 4, as text pasted into the prompt. The three systems on the next slides were run under that version; the four-layer version was then tested layer by layer.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The Agent step is real analysis: sealed container, read-only data, Python written and run, a structured answer submitted, for one to two cents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Luna runtime v1; 74 four-layer runs, $1.20 total; ~90 min model time</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4</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2651760"/>
                <a:gridCol w="256032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the run gets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cannot do</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is logged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read-only data · source card · question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reach the network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every tool call and its output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5 tools: list · read · run Python · note · submit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see the hidden rubric or the other arm's files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the submitted structured answer</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 40 tool calls · ≤ 25 min · ≤ 160k input tokens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overwrite a submitted answer with chat text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cost per run, settled from provider receipts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063240"/>
            <a:ext cx="8229600" cy="1280160"/>
          </a:xfrm>
          <a:prstGeom prst="rect">
            <a:avLst/>
          </a:prstGeom>
          <a:solidFill>
            <a:srgbClr val="FFF2CC"/>
          </a:solidFill>
          <a:ln w="12700">
            <a:solidFill>
              <a:srgbClr val="E6D48A"/>
            </a:solidFill>
            <a:prstDash val="solid"/>
          </a:ln>
        </p:spPr>
      </p:sp>
      <p:sp>
        <p:nvSpPr>
          <p:cNvPr id="8" name="Text 4"/>
          <p:cNvSpPr/>
          <p:nvPr/>
        </p:nvSpPr>
        <p:spPr>
          <a:xfrm>
            <a:off x="457200" y="3063240"/>
            <a:ext cx="8229600" cy="1280160"/>
          </a:xfrm>
          <a:prstGeom prst="rect">
            <a:avLst/>
          </a:prstGeom>
          <a:noFill/>
          <a:ln/>
        </p:spPr>
        <p:txBody>
          <a:bodyPr wrap="square" lIns="101600" tIns="101600" rIns="101600" bIns="101600" rtlCol="0" anchor="ctr"/>
          <a:lstStyle/>
          <a:p>
            <a:pPr indent="0" marL="0">
              <a:buNone/>
            </a:pPr>
            <a:r>
              <a:rPr lang="en-US" sz="1300" dirty="0">
                <a:solidFill>
                  <a:srgbClr val="2D2D2D"/>
                </a:solidFill>
                <a:latin typeface="Arial" pitchFamily="34" charset="0"/>
                <a:ea typeface="Arial" pitchFamily="34" charset="-122"/>
                <a:cs typeface="Arial" pitchFamily="34" charset="-120"/>
              </a:rPr>
              <a:t>Why the Agent stays in the design: G4 asks whether an agent can lower curation cost without adding unsafe claims. It is the last of the four goals and is allowed to fail on its own. The question we are testing is not "can it analyse" (it can) but "what information given to it produces a measurable gain".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800" b="1" dirty="0">
                <a:solidFill>
                  <a:srgbClr val="1F4E79"/>
                </a:solidFill>
                <a:latin typeface="Arial" pitchFamily="34" charset="0"/>
                <a:ea typeface="Arial" pitchFamily="34" charset="-122"/>
                <a:cs typeface="Arial" pitchFamily="34" charset="-120"/>
              </a:rPr>
              <a:t>HSP90 (Henot 2022): the paper visualises a transiently populated closed state; we tested one property, direction persistence in the 40 trajectories, and the rules-in-prompt arm imported FRET conditions</a:t>
            </a:r>
            <a:endParaRPr lang="en-US" sz="18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Henot et al. 2022 Nat Commun 13:7601; HSP90_Q01_VERIFIED_REPORT_ZH.md; 4 answers, $0.076</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5</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3291840"/>
                <a:gridCol w="1920240"/>
              </a:tblGrid>
              <a:tr h="5029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Paper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computed (same 40 trajectories)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Gap / relation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02920">
                <a:tc>
                  <a:txBody>
                    <a:bodyPr/>
                    <a:lstStyle/>
                    <a:p>
                      <a:pPr indent="0" marL="0">
                        <a:buNone/>
                      </a:pPr>
                      <a:r>
                        <a:rPr lang="en-US" sz="1100" dirty="0">
                          <a:solidFill>
                            <a:srgbClr val="2D2D2D"/>
                          </a:solidFill>
                          <a:latin typeface="Arial" pitchFamily="34" charset="0"/>
                          <a:ea typeface="Arial" pitchFamily="34" charset="-122"/>
                          <a:cs typeface="Arial" pitchFamily="34" charset="-120"/>
                        </a:rPr>
                        <a:t>NMR + 40 × 1 µs MD; closed state transiently populated; CPMG exchange ~ms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Sustained open-direction classification per trajectory (two difference readouts, 5-point run length)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same data, different question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100" dirty="0">
                          <a:solidFill>
                            <a:srgbClr val="2D2D2D"/>
                          </a:solidFill>
                          <a:latin typeface="Arial" pitchFamily="34" charset="0"/>
                          <a:ea typeface="Arial" pitchFamily="34" charset="-122"/>
                          <a:cs typeface="Arial" pitchFamily="34" charset="-120"/>
                        </a:rPr>
                        <a:t>Closed-start 20: 7 near-closed / ~9 toward open / 4 neither (native NOE violations + clustering)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Closed-start 20: 10 open-direction = 5 initially + 5 later; 10 never; open-start 0/20 reverse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not the same partition; counts need not match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100" dirty="0">
                          <a:solidFill>
                            <a:srgbClr val="2D2D2D"/>
                          </a:solidFill>
                          <a:latin typeface="Arial" pitchFamily="34" charset="0"/>
                          <a:ea typeface="Arial" pitchFamily="34" charset="-122"/>
                          <a:cs typeface="Arial" pitchFamily="34" charset="-120"/>
                        </a:rPr>
                        <a:t>Authors do not claim populations or rates from MD (non-ergodic)</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Reversal candidates after first sustained direction: 5 / 4 / 1 at 5 / 20 / 50 points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we also do not claim populations or rates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3063240"/>
            <a:ext cx="8229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table acted: step 4, rules rendered as prompt text (7 rules → 8 obligations)</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914400"/>
                <a:gridCol w="1188720"/>
                <a:gridCol w="2468880"/>
                <a:gridCol w="3657600"/>
              </a:tblGrid>
              <a:tr h="36576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Answer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Rules in prompt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Main counts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Imported inapplicable conditions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65760">
                <a:tc>
                  <a:txBody>
                    <a:bodyPr/>
                    <a:lstStyle/>
                    <a:p>
                      <a:pPr indent="0" marL="0">
                        <a:buNone/>
                      </a:pPr>
                      <a:r>
                        <a:rPr lang="en-US" sz="1050" dirty="0">
                          <a:solidFill>
                            <a:srgbClr val="2D2D2D"/>
                          </a:solidFill>
                          <a:latin typeface="Arial" pitchFamily="34" charset="0"/>
                          <a:ea typeface="Arial" pitchFamily="34" charset="-122"/>
                          <a:cs typeface="Arial" pitchFamily="34" charset="-120"/>
                        </a:rPr>
                        <a:t>A1 / A2</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correct / mixed 5-pt and 50-pt thresholds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none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050" dirty="0">
                          <a:solidFill>
                            <a:srgbClr val="2D2D2D"/>
                          </a:solidFill>
                          <a:latin typeface="Arial" pitchFamily="34" charset="0"/>
                          <a:ea typeface="Arial" pitchFamily="34" charset="-122"/>
                          <a:cs typeface="Arial" pitchFamily="34" charset="-120"/>
                        </a:rPr>
                        <a:t>B1 / B2</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correct / correct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RMP restraint, prior ensemble, fit objective (from C001-003 smFRET calibration, C003-002 FRET-assisted modeling)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800" b="1" dirty="0">
                <a:solidFill>
                  <a:srgbClr val="1F4E79"/>
                </a:solidFill>
                <a:latin typeface="Arial" pitchFamily="34" charset="0"/>
                <a:ea typeface="Arial" pitchFamily="34" charset="-122"/>
                <a:cs typeface="Arial" pitchFamily="34" charset="-120"/>
              </a:rPr>
              <a:t>HSP90, the measurement that mattered: at 1 Å tolerance, 9 of the 10 open-direction trajectories still violate both NOE references; leaving closed is not arriving at open</a:t>
            </a:r>
            <a:endParaRPr lang="en-US" sz="18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Henot 2022; v4 native NOE crosswalk (author-deposited violation series, column 2), tolerance 1 Å, controls 18/20</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6</a:t>
            </a:r>
            <a:endParaRPr lang="en-US" sz="1050" dirty="0"/>
          </a:p>
        </p:txBody>
      </p:sp>
      <p:graphicFrame>
        <p:nvGraphicFramePr>
          <p:cNvPr id="6" name="Chart 0" descr=""/>
          <p:cNvGraphicFramePr/>
          <p:nvPr/>
        </p:nvGraphicFramePr>
        <p:xfrm>
          <a:off x="457200" y="1188720"/>
          <a:ext cx="4937760" cy="338328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188720"/>
          <a:ext cx="3108960" cy="914400"/>
        </p:xfrm>
        <a:graphic>
          <a:graphicData uri="http://schemas.openxmlformats.org/drawingml/2006/table">
            <a:tbl>
              <a:tblPr/>
              <a:tblGrid>
                <a:gridCol w="822960"/>
                <a:gridCol w="1051560"/>
                <a:gridCol w="1234440"/>
              </a:tblGrid>
              <a:tr h="329184">
                <a:tc>
                  <a:txBody>
                    <a:bodyPr/>
                    <a:lstStyle/>
                    <a:p>
                      <a:pPr indent="0" marL="0">
                        <a:buNone/>
                      </a:pP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Paper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Ours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observable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native NOE violations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same series, per trajectory, 3 tolerances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toward open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~9 of 20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10 of 20 (direction)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reached open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"almost satisfies"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0 of 10 at 1 Å; 3 at 2 Å</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populations, rates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not from MD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not claimed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8" name="Shape 3"/>
          <p:cNvSpPr/>
          <p:nvPr/>
        </p:nvSpPr>
        <p:spPr>
          <a:xfrm>
            <a:off x="5577840" y="3063240"/>
            <a:ext cx="3108960" cy="1417320"/>
          </a:xfrm>
          <a:prstGeom prst="rect">
            <a:avLst/>
          </a:prstGeom>
          <a:solidFill>
            <a:srgbClr val="FFF2CC"/>
          </a:solidFill>
          <a:ln w="12700">
            <a:solidFill>
              <a:srgbClr val="E6D48A"/>
            </a:solidFill>
            <a:prstDash val="solid"/>
          </a:ln>
        </p:spPr>
      </p:sp>
      <p:sp>
        <p:nvSpPr>
          <p:cNvPr id="9" name="Text 4"/>
          <p:cNvSpPr/>
          <p:nvPr/>
        </p:nvSpPr>
        <p:spPr>
          <a:xfrm>
            <a:off x="5577840" y="3063240"/>
            <a:ext cx="3108960" cy="1417320"/>
          </a:xfrm>
          <a:prstGeom prst="rect">
            <a:avLst/>
          </a:prstGeom>
          <a:noFill/>
          <a:ln/>
        </p:spPr>
        <p:txBody>
          <a:bodyPr wrap="square" lIns="101600" tIns="101600" rIns="101600" bIns="101600" rtlCol="0" anchor="ctr"/>
          <a:lstStyle/>
          <a:p>
            <a:pPr indent="0" marL="0">
              <a:buNone/>
            </a:pPr>
            <a:r>
              <a:rPr lang="en-US" sz="1150" dirty="0">
                <a:solidFill>
                  <a:srgbClr val="2D2D2D"/>
                </a:solidFill>
                <a:latin typeface="Arial" pitchFamily="34" charset="0"/>
                <a:ea typeface="Arial" pitchFamily="34" charset="-122"/>
                <a:cs typeface="Arial" pitchFamily="34" charset="-120"/>
              </a:rPr>
              <a:t>What the matching shows: the Agent reproduced direction counts; no rule made it ask "did it arrive". That question was added by a person. This is the framing layer (A).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800" b="1" dirty="0">
                <a:solidFill>
                  <a:srgbClr val="1F4E79"/>
                </a:solidFill>
                <a:latin typeface="Arial" pitchFamily="34" charset="0"/>
                <a:ea typeface="Arial" pitchFamily="34" charset="-122"/>
                <a:cs typeface="Arial" pitchFamily="34" charset="-120"/>
              </a:rPr>
              <a:t>DHFR (Cetin 2023): the paper links 4′-DTMP's recovered inhibition of L28R to closer local contacts; we reproduced the distance direction, after finding that our frozen table carried periodic-boundary artifacts</a:t>
            </a:r>
            <a:endParaRPr lang="en-US" sz="18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Cetin et al. 2023 (PMC10428214) Table 1, Figs 3–4; dhfr_q01-round-20260910 PBC_VALIDATION.json; ligand_comparison.json</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7</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3566160"/>
                <a:gridCol w="1737360"/>
              </a:tblGrid>
              <a:tr h="530352">
                <a:tc>
                  <a:txBody>
                    <a:bodyPr/>
                    <a:lstStyle/>
                    <a:p>
                      <a:pPr indent="0" marL="0">
                        <a:buNone/>
                      </a:pPr>
                      <a:r>
                        <a:rPr lang="en-US" sz="1100" b="1" dirty="0">
                          <a:solidFill>
                            <a:srgbClr val="FFFFFF"/>
                          </a:solidFill>
                          <a:latin typeface="Arial" pitchFamily="34" charset="0"/>
                          <a:ea typeface="Arial" pitchFamily="34" charset="-122"/>
                          <a:cs typeface="Arial" pitchFamily="34" charset="-120"/>
                        </a:rPr>
                        <a:t>Paper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Ours (deposited trajectories, 1 per condition, 990 frames)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Gap / relation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30352">
                <a:tc>
                  <a:txBody>
                    <a:bodyPr/>
                    <a:lstStyle/>
                    <a:p>
                      <a:pPr indent="0" marL="0">
                        <a:buNone/>
                      </a:pPr>
                      <a:r>
                        <a:rPr lang="en-US" sz="1100" dirty="0">
                          <a:solidFill>
                            <a:srgbClr val="2D2D2D"/>
                          </a:solidFill>
                          <a:latin typeface="Arial" pitchFamily="34" charset="0"/>
                          <a:ea typeface="Arial" pitchFamily="34" charset="-122"/>
                          <a:cs typeface="Arial" pitchFamily="34" charset="-120"/>
                        </a:rPr>
                        <a:t>Ki (nM): WT TMP 4.2, 4′-DTMP 5.1; L28R TMP 65.0, 4′-DTMP 34.3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not re-measured; quoted as context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kinetics, not structure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30352">
                <a:tc>
                  <a:txBody>
                    <a:bodyPr/>
                    <a:lstStyle/>
                    <a:p>
                      <a:pPr indent="0" marL="0">
                        <a:buNone/>
                      </a:pPr>
                      <a:r>
                        <a:rPr lang="en-US" sz="1100" dirty="0">
                          <a:solidFill>
                            <a:srgbClr val="2D2D2D"/>
                          </a:solidFill>
                          <a:latin typeface="Arial" pitchFamily="34" charset="0"/>
                          <a:ea typeface="Arial" pitchFamily="34" charset="-122"/>
                          <a:cs typeface="Arial" pitchFamily="34" charset="-120"/>
                        </a:rPr>
                        <a:t>MD: 4′-DTMP closer to M20-loop / R28 atoms; hydrogen-bond network discussed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M20 N – ligand O3P mean: WT 8.69 → 4.62 Å; L28R 10.44 → 4.81 Å (TMP → 4′-DTMP); 6 specified pairs all closer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direction agrees; distance ≠ H-bond; n = 1, no between-run spread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30352">
                <a:tc>
                  <a:txBody>
                    <a:bodyPr/>
                    <a:lstStyle/>
                    <a:p>
                      <a:pPr indent="0" marL="0">
                        <a:buNone/>
                      </a:pPr>
                      <a:r>
                        <a:rPr lang="en-US" sz="1100" dirty="0">
                          <a:solidFill>
                            <a:srgbClr val="2D2D2D"/>
                          </a:solidFill>
                          <a:latin typeface="Arial" pitchFamily="34" charset="0"/>
                          <a:ea typeface="Arial" pitchFamily="34" charset="-122"/>
                          <a:cs typeface="Arial" pitchFamily="34" charset="-120"/>
                        </a:rPr>
                        <a:t>authors' own analysis code, Fig.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componentwise nearest ligand image; VMD cross-check max Δ 1.1 × 10⁻⁵ Å</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implementation verified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3154680"/>
            <a:ext cx="8229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table acted: nowhere useful. No physical check at step 2; at step 4 the Agent saw 60–90 Å and did not object (0/2)</a:t>
            </a:r>
            <a:endParaRPr lang="en-US" sz="1200" dirty="0"/>
          </a:p>
        </p:txBody>
      </p:sp>
      <p:sp>
        <p:nvSpPr>
          <p:cNvPr id="8" name="Shape 4"/>
          <p:cNvSpPr/>
          <p:nvPr/>
        </p:nvSpPr>
        <p:spPr>
          <a:xfrm>
            <a:off x="457200" y="3566160"/>
            <a:ext cx="8229600" cy="960120"/>
          </a:xfrm>
          <a:prstGeom prst="rect">
            <a:avLst/>
          </a:prstGeom>
          <a:solidFill>
            <a:srgbClr val="FFF2CC"/>
          </a:solidFill>
          <a:ln w="12700">
            <a:solidFill>
              <a:srgbClr val="E6D48A"/>
            </a:solidFill>
            <a:prstDash val="solid"/>
          </a:ln>
        </p:spPr>
      </p:sp>
      <p:sp>
        <p:nvSpPr>
          <p:cNvPr id="9" name="Text 5"/>
          <p:cNvSpPr/>
          <p:nvPr/>
        </p:nvSpPr>
        <p:spPr>
          <a:xfrm>
            <a:off x="457200" y="3566160"/>
            <a:ext cx="8229600" cy="96012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What the matching shows: an input defect is invisible to any reminder text. The original two answers are kept and not scored as science; the corrected numbers are a developer calculation. Consequence: admission (layer B) must run in code before freezing.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800" b="1" dirty="0">
                <a:solidFill>
                  <a:srgbClr val="1F4E79"/>
                </a:solidFill>
                <a:latin typeface="Arial" pitchFamily="34" charset="0"/>
                <a:ea typeface="Arial" pitchFamily="34" charset="-122"/>
                <a:cs typeface="Arial" pitchFamily="34" charset="-120"/>
              </a:rPr>
              <a:t>ADK (Orädd 2021): the paper tracks a millisecond ATP-binding response by time-resolved scattering; the deposited apo MD only supports domain-distance descriptions, and it broke my own admission rule</a:t>
            </a:r>
            <a:endParaRPr lang="en-US" sz="18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Orädd et al. 2021 Sci Adv 7:eabi5514; Zenodo 5583119; ADK_SCIENCE_ZH.md; ADK_INDEPENDENT_RECOMPUTE.json</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8</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834640"/>
                <a:gridCol w="3566160"/>
                <a:gridCol w="1828800"/>
              </a:tblGrid>
              <a:tr h="54864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Paper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Ours (deposited apo trajectories)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Gap / relation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48640">
                <a:tc>
                  <a:txBody>
                    <a:bodyPr/>
                    <a:lstStyle/>
                    <a:p>
                      <a:pPr indent="0" marL="0">
                        <a:buNone/>
                      </a:pPr>
                      <a:r>
                        <a:rPr lang="en-US" sz="1050" dirty="0">
                          <a:solidFill>
                            <a:srgbClr val="2D2D2D"/>
                          </a:solidFill>
                          <a:latin typeface="Arial" pitchFamily="34" charset="0"/>
                          <a:ea typeface="Arial" pitchFamily="34" charset="-122"/>
                          <a:cs typeface="Arial" pitchFamily="34" charset="-120"/>
                        </a:rPr>
                        <a:t>TR-XSS after ATP photorelease, with AMP; transient ~4.3 ms; MD candidates fitted to scattering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domain-distance descriptors on CORE 1–29/68–115/168–214, NMP 30–67, LID 118–160 (project definitions)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ATP/AMP, 294 vs 303 K, ns vs ms; scattering not recomputed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050" dirty="0">
                          <a:solidFill>
                            <a:srgbClr val="2D2D2D"/>
                          </a:solidFill>
                          <a:latin typeface="Arial" pitchFamily="34" charset="0"/>
                          <a:ea typeface="Arial" pitchFamily="34" charset="-122"/>
                          <a:cs typeface="Arial" pitchFamily="34" charset="-120"/>
                        </a:rPr>
                        <a:t>LID and NMP close cooperatively on ATP binding (their interpretation)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first→last 10 %: open-start LID–CORE +2.29, NMP–CORE +0.07 Å; closed-start +1.18, +1.09 Å; distributions overlap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joint closure in these windows; not a test of the paper's mechanism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48640">
                <a:tc>
                  <a:txBody>
                    <a:bodyPr/>
                    <a:lstStyle/>
                    <a:p>
                      <a:pPr indent="0" marL="0">
                        <a:buNone/>
                      </a:pPr>
                      <a:r>
                        <a:rPr lang="en-US" sz="1050" dirty="0">
                          <a:solidFill>
                            <a:srgbClr val="2D2D2D"/>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GROMACS cross-check of all specified pairs, all frames: max Δ ≈ 0.005 Å; SciPy re-implementation Δ &lt; 1e-10 Å</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implementation verified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3200400"/>
            <a:ext cx="8229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table acted: step 2 (admission rule flagged legitimate 69.8 / 62.2 Å distances; replaced) and step 3 (question split: 4 → 5 correct units)</a:t>
            </a:r>
            <a:endParaRPr lang="en-US" sz="1200" dirty="0"/>
          </a:p>
        </p:txBody>
      </p:sp>
      <p:sp>
        <p:nvSpPr>
          <p:cNvPr id="8" name="Shape 4"/>
          <p:cNvSpPr/>
          <p:nvPr/>
        </p:nvSpPr>
        <p:spPr>
          <a:xfrm>
            <a:off x="457200" y="3611880"/>
            <a:ext cx="8229600" cy="914400"/>
          </a:xfrm>
          <a:prstGeom prst="rect">
            <a:avLst/>
          </a:prstGeom>
          <a:solidFill>
            <a:srgbClr val="FFF2CC"/>
          </a:solidFill>
          <a:ln w="12700">
            <a:solidFill>
              <a:srgbClr val="E6D48A"/>
            </a:solidFill>
            <a:prstDash val="solid"/>
          </a:ln>
        </p:spPr>
      </p:sp>
      <p:sp>
        <p:nvSpPr>
          <p:cNvPr id="9" name="Text 5"/>
          <p:cNvSpPr/>
          <p:nvPr/>
        </p:nvSpPr>
        <p:spPr>
          <a:xfrm>
            <a:off x="457200" y="3611880"/>
            <a:ext cx="8229600" cy="914400"/>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Half-box 49–50 Å but open-state extent 56 Å: per-pair minimum image would fold real distances. New criterion: whole reconstructed molecule, adjacent Cα ≤ 4.5 Å, GROMACS Δ ≤ 0.01 Å; half-box exceedance only triggers a note.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Looking back at 13 error observations in 8 answers: none would have been prevented by reminder text; they sit at data entry and at the numbers going out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E0_RETROSPECTIVE_AUDIT.csv; E0_COUNTS.json (13 rows, 7 same-cause groups, 3 detected on replay)</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9</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097280"/>
                <a:gridCol w="1371600"/>
                <a:gridCol w="27432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Error group (where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Workflow step</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Reminder text?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could catch it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periodic-image artifact taken as real (DHFR × 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2 Package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physical admission check in code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threshold / column mix-ups in counts (HSP90 A2; DHFR A1 percentages)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claim-to-source number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wrong NOE upper-bound array (nanodisc Q05)</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bind each claim to raw quantity, unit and transform</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"open direction" read as "near open state" (HSP90)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3 Frame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partly</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split: direction / arrival / full transition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FRET-only conditions imported (HSP90 B1, B2)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4 Run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text is the cause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retrieve guidance by operation, not method name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So the 33 rules were split by job into four layers; the design question became: what information reaches the Agent, in what form, at which step</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RULES_TABLE_ROLE_DESIGN_ZH.md §2; classification by rule_class, 6 / 10 / 11 / 6</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10</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1554480"/>
                <a:gridCol w="2377440"/>
                <a:gridCol w="457200"/>
              </a:tblGrid>
              <a:tr h="640080">
                <a:tc>
                  <a:txBody>
                    <a:bodyPr/>
                    <a:lstStyle/>
                    <a:p>
                      <a:pPr indent="0" marL="0">
                        <a:buNone/>
                      </a:pPr>
                      <a:r>
                        <a:rPr lang="en-US" sz="1100" b="1" dirty="0">
                          <a:solidFill>
                            <a:srgbClr val="FFFFFF"/>
                          </a:solidFill>
                          <a:latin typeface="Arial" pitchFamily="34" charset="0"/>
                          <a:ea typeface="Arial" pitchFamily="34" charset="-122"/>
                          <a:cs typeface="Arial" pitchFamily="34" charset="-120"/>
                        </a:rPr>
                        <a:t>Layer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 it answers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Executed by, when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Agent receives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which difference must this question distinguish; which sub-questions; what competing explanations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person + template, before the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nothing directly: the question text and the hidden rubric</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B 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can these data answer it: object, condition, units, time, evidence role,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before freezing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card of PASS / FAIL results in the data directory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should this kind of data be computed: forward model, averaging, reweighting prerequisites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retrieval by method family, at run time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short cards, ≤ 10 lines each, the only rule text it sees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can this result be read: frames ≠ populations, fit ≠ validation, proximity ≠ state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after submission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feedback message, may revise once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800" b="1" dirty="0">
                <a:solidFill>
                  <a:srgbClr val="1F4E79"/>
                </a:solidFill>
                <a:latin typeface="Arial" pitchFamily="34" charset="0"/>
                <a:ea typeface="Arial" pitchFamily="34" charset="-122"/>
                <a:cs typeface="Arial" pitchFamily="34" charset="-120"/>
              </a:rPr>
              <a:t>Each layer got its own falsifiable test: what changed, what we expected to see if the layer helps, and the criterion written down before running</a:t>
            </a:r>
            <a:endParaRPr lang="en-US" sz="18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FOUR_LAYER_VALIDATION_PLAN_ZH.md v2; frozen before first call; 74 runs, $1.20; scorer = curator (masked labels)</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11</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05840"/>
                <a:gridCol w="1920240"/>
                <a:gridCol w="2103120"/>
                <a:gridCol w="1371600"/>
                <a:gridCol w="1828800"/>
              </a:tblGrid>
              <a:tr h="566928">
                <a:tc>
                  <a:txBody>
                    <a:bodyPr/>
                    <a:lstStyle/>
                    <a:p>
                      <a:pPr indent="0" marL="0">
                        <a:buNone/>
                      </a:pPr>
                      <a:r>
                        <a:rPr lang="en-US" sz="1050" b="1" dirty="0">
                          <a:solidFill>
                            <a:srgbClr val="FFFFFF"/>
                          </a:solidFill>
                          <a:latin typeface="Arial" pitchFamily="34" charset="0"/>
                          <a:ea typeface="Arial" pitchFamily="34" charset="-122"/>
                          <a:cs typeface="Arial" pitchFamily="34" charset="-120"/>
                        </a:rPr>
                        <a:t>Layer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Trigger (what we had seen)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Only thing that differs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Questions · runs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Expected if it helps (pre-set criterion)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A Framing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direction answered, arrival never asked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original question vs explicit sub-questions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ADK · 16</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coverage up on 2/2, overclaims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B Admission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wrapped table passed into the run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admission card present vs absent; checker on 6 planted defects + 3 clean packages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defective · 8</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checker ≥ 5/6, 0 false alarms; Agent downgrades more with card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C Method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B1/B2: FRET conditions imported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7-line protocol vs full rules vs scoped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NOE, nanodisc Q05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cards non-inferior to both on both questions; 0 inapplicable terms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D Conclusion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A2 thresholds; Q05 wrong NOE bound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feedback vs one automated pass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DHFR fixed, ADK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fewer core errors on ≥ 2/3, omissions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4160520"/>
            <a:ext cx="8229600" cy="457200"/>
          </a:xfrm>
          <a:prstGeom prst="rect">
            <a:avLst/>
          </a:prstGeom>
          <a:noFill/>
          <a:ln/>
        </p:spPr>
        <p:txBody>
          <a:bodyPr wrap="square" rtlCol="0" anchor="ctr"/>
          <a:lstStyle/>
          <a:p>
            <a:pPr indent="0" marL="0">
              <a:buNone/>
            </a:pPr>
            <a:r>
              <a:rPr lang="en-US" sz="1150" dirty="0">
                <a:solidFill>
                  <a:srgbClr val="777777"/>
                </a:solidFill>
                <a:latin typeface="Arial" pitchFamily="34" charset="0"/>
                <a:ea typeface="Arial" pitchFamily="34" charset="-122"/>
                <a:cs typeface="Arial" pitchFamily="34" charset="-120"/>
              </a:rPr>
              <a:t>Scored on five frozen core units per question, plus core errors, overclaims, omissions, defect detection; answers de-labelled, scores sealed before unblinding.</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000" b="1" dirty="0">
                <a:solidFill>
                  <a:srgbClr val="1F4E79"/>
                </a:solidFill>
                <a:latin typeface="Arial" pitchFamily="34" charset="0"/>
                <a:ea typeface="Arial" pitchFamily="34" charset="-122"/>
                <a:cs typeface="Arial" pitchFamily="34" charset="-120"/>
              </a:rPr>
              <a:t>Result: only explicit sub-questions met its criterion; the admission card, method cards and one feedback pass did not</a:t>
            </a:r>
            <a:endParaRPr lang="en-US" sz="20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UNBLINDED_SCORES.csv medians of 4; FINAL_DECISIONS.json; RULES_TABLE_VERDICT_EN.md</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12</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3840480"/>
                <a:gridCol w="640080"/>
                <a:gridCol w="2651760"/>
              </a:tblGrid>
              <a:tr h="658368">
                <a:tc>
                  <a:txBody>
                    <a:bodyPr/>
                    <a:lstStyle/>
                    <a:p>
                      <a:pPr indent="0" marL="0">
                        <a:buNone/>
                      </a:pPr>
                      <a:r>
                        <a:rPr lang="en-US" sz="1100" b="1" dirty="0">
                          <a:solidFill>
                            <a:srgbClr val="FFFFFF"/>
                          </a:solidFill>
                          <a:latin typeface="Arial" pitchFamily="34" charset="0"/>
                          <a:ea typeface="Arial" pitchFamily="34" charset="-122"/>
                          <a:cs typeface="Arial" pitchFamily="34" charset="-120"/>
                        </a:rPr>
                        <a:t>Layer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Observed (median of 4 unless stated)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Decision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58368">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coverage HSP90 2 → 2.5 /3, ADK 2 → 3 /3; overclaims 0 → 0; HSP90 total errors 1 → 2 over 4 runs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2E7D32"/>
                          </a:solidFill>
                          <a:latin typeface="Arial" pitchFamily="34" charset="0"/>
                          <a:ea typeface="Arial" pitchFamily="34" charset="-122"/>
                          <a:cs typeface="Arial" pitchFamily="34" charset="-120"/>
                        </a:rPr>
                        <a:t>yes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keep: ask direction, magnitude and limits separately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58368">
                <a:tc>
                  <a:txBody>
                    <a:bodyPr/>
                    <a:lstStyle/>
                    <a:p>
                      <a:pPr indent="0" marL="0">
                        <a:buNone/>
                      </a:pPr>
                      <a:r>
                        <a:rPr lang="en-US" sz="1100" dirty="0">
                          <a:solidFill>
                            <a:srgbClr val="2D2D2D"/>
                          </a:solidFill>
                          <a:latin typeface="Arial" pitchFamily="34" charset="0"/>
                          <a:ea typeface="Arial" pitchFamily="34" charset="-122"/>
                          <a:cs typeface="Arial" pitchFamily="34" charset="-120"/>
                        </a:rPr>
                        <a:t>B 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checker 6/6 planted defects, 0/3 false alarms; Agent detected the defect 0/4 with card, 0/4 without; all 4 card runs listed the file, none read 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move admission into data preparation; never rely on the Agent finding a warning file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58368">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correct units /5 — HSP90: protocol 4.5 · full rules 2 · cards 2.5; Q05: 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retrieve by operation, not method family; keep the Q05 full-rule benefit on record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58368">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1/3 questions improved (ADK), already better in initial drafts; 0/12 revisions reduced errors; 3 lost content; 0/9 warnings hit a real error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number matching cannot catch numbers already wrong in the logs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Why each layer failed matters more than that it failed: delivery, applicability and traceability are three different problems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E1B_CARD_ACCESS_AUDIT.json; E3_CARD_RETRIEVAL.json; METHOD_CARD_DESIGN_ANALYSIS_ZH.md; E0_CEILING_REPLAY_REVIEW_ZH.md</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13</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4023360"/>
                <a:gridCol w="2743200"/>
              </a:tblGrid>
              <a:tr h="777240">
                <a:tc>
                  <a:txBody>
                    <a:bodyPr/>
                    <a:lstStyle/>
                    <a:p>
                      <a:pPr indent="0" marL="0">
                        <a:buNone/>
                      </a:pPr>
                      <a:r>
                        <a:rPr lang="en-US" sz="1150" b="1" dirty="0">
                          <a:solidFill>
                            <a:srgbClr val="FFFFFF"/>
                          </a:solidFill>
                          <a:latin typeface="Arial" pitchFamily="34" charset="0"/>
                          <a:ea typeface="Arial" pitchFamily="34" charset="-122"/>
                          <a:cs typeface="Arial" pitchFamily="34" charset="-120"/>
                        </a:rPr>
                        <a:t>Layer</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Mechanism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Repair it points to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B Admission card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tool logs: card file listed in 4/4 runs, contents read in 0/4</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block bad tables at step 2; a warning file is not a channel</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C Method cards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HSP90 retrieved 1 card, a BME/MaxEnt reweighting card, for a task that fits no weights; Q05 retrieved 4 incl. FRET-specific; DHFR and ADK retrieved 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index cards by the operation being performed and its prerequisites; cover MD-only operations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D Conclusion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checks whether a number appears in tool output; the wrong Q05 bound array was already in the log, so 4.35 Å passed; replay on 8 answers: 0/7 caught, 1 false alarm (the −1 in Å⁻¹)</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bind each claim to raw quantity, unit and transform; recompute, do not string-match</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How the Rules Table should be built from here: three forms, what each assumes, and what this round's evidence says about each</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Original idea: slide 2; evidence: slides 12–13; SYSTEM.md authority split (Agent proposes, deterministic system validates)</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14</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286000"/>
                <a:gridCol w="1554480"/>
                <a:gridCol w="1920240"/>
                <a:gridCol w="914400"/>
              </a:tblGrid>
              <a:tr h="713232">
                <a:tc>
                  <a:txBody>
                    <a:bodyPr/>
                    <a:lstStyle/>
                    <a:p>
                      <a:pPr indent="0" marL="0">
                        <a:buNone/>
                      </a:pPr>
                      <a:r>
                        <a:rPr lang="en-US" sz="1100" b="1" dirty="0">
                          <a:solidFill>
                            <a:srgbClr val="FFFFFF"/>
                          </a:solidFill>
                          <a:latin typeface="Arial" pitchFamily="34" charset="0"/>
                          <a:ea typeface="Arial" pitchFamily="34" charset="-122"/>
                          <a:cs typeface="Arial" pitchFamily="34" charset="-120"/>
                        </a:rPr>
                        <a:t>Form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Agent gets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Assumes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This round's evidence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Untested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13232">
                <a:tc>
                  <a:txBody>
                    <a:bodyPr/>
                    <a:lstStyle/>
                    <a:p>
                      <a:pPr indent="0" marL="0">
                        <a:buNone/>
                      </a:pPr>
                      <a:r>
                        <a:rPr lang="en-US" sz="1100" dirty="0">
                          <a:solidFill>
                            <a:srgbClr val="2D2D2D"/>
                          </a:solidFill>
                          <a:latin typeface="Arial" pitchFamily="34" charset="0"/>
                          <a:ea typeface="Arial" pitchFamily="34" charset="-122"/>
                          <a:cs typeface="Arial" pitchFamily="34" charset="-120"/>
                        </a:rPr>
                        <a:t>1  Repair the four layers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admission card delivered in the question, operation-indexed cards, recompute-based check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failures were implementation, not concept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supported; B, C, D failed in current form; mechanisms identified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every repair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100" dirty="0">
                          <a:solidFill>
                            <a:srgbClr val="2D2D2D"/>
                          </a:solidFill>
                          <a:latin typeface="Arial" pitchFamily="34" charset="0"/>
                          <a:ea typeface="Arial" pitchFamily="34" charset="-122"/>
                          <a:cs typeface="Arial" pitchFamily="34" charset="-120"/>
                        </a:rPr>
                        <a:t>2  Rules serve the protocol writer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7-line protocol only; rules used by people for rubric and 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human-written protocol captures what matters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arm never worse (HSP90 4.5/5, Q05 4.5/5)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whether it scales past three systems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100" dirty="0">
                          <a:solidFill>
                            <a:srgbClr val="2D2D2D"/>
                          </a:solidFill>
                          <a:latin typeface="Arial" pitchFamily="34" charset="0"/>
                          <a:ea typeface="Arial" pitchFamily="34" charset="-122"/>
                          <a:cs typeface="Arial" pitchFamily="34" charset="-120"/>
                        </a:rPr>
                        <a:t>3  Rules as operator configuration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catalogue of callable, registered operators; Agent proposes which to call, code executes and bounds the claim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every useful rule can be made executable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and ADK: the checks that mattered were physical and executable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the whole form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4160520"/>
            <a:ext cx="8229600" cy="457200"/>
          </a:xfrm>
          <a:prstGeom prst="rect">
            <a:avLst/>
          </a:prstGeom>
          <a:solidFill>
            <a:srgbClr val="FFF2CC"/>
          </a:solidFill>
          <a:ln w="12700">
            <a:solidFill>
              <a:srgbClr val="E6D48A"/>
            </a:solidFill>
            <a:prstDash val="solid"/>
          </a:ln>
        </p:spPr>
      </p:sp>
      <p:sp>
        <p:nvSpPr>
          <p:cNvPr id="8" name="Text 4"/>
          <p:cNvSpPr/>
          <p:nvPr/>
        </p:nvSpPr>
        <p:spPr>
          <a:xfrm>
            <a:off x="457200" y="4160520"/>
            <a:ext cx="8229600" cy="45720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My lean: build toward 3, keep 2 as the baseline every version must beat on new questions. Your call.</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Are the three systems the right ones? By the criterion "MD plus an experiment that constrains the difference we want to distinguish", only HSP90 fully qualifies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Slides 5–8; PROJECT_MEMORY G1–G4; 24 Aug meeting: HSP90 first, one system at a time</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15</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731520"/>
                <a:gridCol w="1828800"/>
                <a:gridCol w="1828800"/>
                <a:gridCol w="1737360"/>
                <a:gridCol w="1371600"/>
                <a:gridCol w="731520"/>
              </a:tblGrid>
              <a:tr h="640080">
                <a:tc>
                  <a:txBody>
                    <a:bodyPr/>
                    <a:lstStyle/>
                    <a:p>
                      <a:pPr indent="0" marL="0">
                        <a:buNone/>
                      </a:pPr>
                      <a:r>
                        <a:rPr lang="en-US" sz="1050" b="1" dirty="0">
                          <a:solidFill>
                            <a:srgbClr val="FFFFFF"/>
                          </a:solidFill>
                          <a:latin typeface="Arial" pitchFamily="34" charset="0"/>
                          <a:ea typeface="Arial" pitchFamily="34" charset="-122"/>
                          <a:cs typeface="Arial" pitchFamily="34" charset="-120"/>
                        </a:rPr>
                        <a:t>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Paper's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Our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Experimental constraint on the question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tested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Keep?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transient closed state; 7/9/4 classification; ms exchange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10/20 direction; 9/10 relative-only at 1 Å; no populations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two NOE references, CPMG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science + framing + prompt 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D32"/>
                          </a:solidFill>
                          <a:latin typeface="Arial" pitchFamily="34" charset="0"/>
                          <a:ea typeface="Arial" pitchFamily="34" charset="-122"/>
                          <a:cs typeface="Arial" pitchFamily="34" charset="-120"/>
                        </a:rPr>
                        <a:t>yes, deepen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DHFR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4′-DTMP recovers L28R inhibition; closer local contacts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same direction, 8.69 → 4.62 Å (WT), n = 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Ki only, no structural observable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workflow: exposed missing admission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777777"/>
                          </a:solidFill>
                          <a:latin typeface="Arial" pitchFamily="34" charset="0"/>
                          <a:ea typeface="Arial" pitchFamily="34" charset="-122"/>
                          <a:cs typeface="Arial" pitchFamily="34" charset="-120"/>
                        </a:rPr>
                        <a:t>as regression test only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ADK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ms ATP-binding response by TR-XSS; MD candidates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apo domain distances overlap; +2.29 Å LID (open start)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partly: TR-XSS exists, but deposited MD is apo, 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admission rule (broke it); framing; only unseen 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5B6"/>
                          </a:solidFill>
                          <a:latin typeface="Arial" pitchFamily="34" charset="0"/>
                          <a:ea typeface="Arial" pitchFamily="34" charset="-122"/>
                          <a:cs typeface="Arial" pitchFamily="34" charset="-120"/>
                        </a:rPr>
                        <a:t>keep as unseen control</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931920"/>
            <a:ext cx="8229600" cy="640080"/>
          </a:xfrm>
          <a:prstGeom prst="rect">
            <a:avLst/>
          </a:prstGeom>
          <a:solidFill>
            <a:srgbClr val="FFF2CC"/>
          </a:solidFill>
          <a:ln w="12700">
            <a:solidFill>
              <a:srgbClr val="E6D48A"/>
            </a:solidFill>
            <a:prstDash val="solid"/>
          </a:ln>
        </p:spPr>
      </p:sp>
      <p:sp>
        <p:nvSpPr>
          <p:cNvPr id="8" name="Text 4"/>
          <p:cNvSpPr/>
          <p:nvPr/>
        </p:nvSpPr>
        <p:spPr>
          <a:xfrm>
            <a:off x="457200" y="3931920"/>
            <a:ext cx="8229600" cy="64008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Ask: a fourth system with MD plus an experiment that constrains populations (NMR / SAXS / smFRET)? Any candidate from the group's own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Conclusions, and the three things I need from you</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Full evidence and all 74 runs: github.com/alex051107/dynamics-atlas-harness/pull/27</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16</a:t>
            </a:r>
            <a:endParaRPr lang="en-US" sz="1050" dirty="0"/>
          </a:p>
        </p:txBody>
      </p:sp>
      <p:sp>
        <p:nvSpPr>
          <p:cNvPr id="6" name="Text 3"/>
          <p:cNvSpPr/>
          <p:nvPr/>
        </p:nvSpPr>
        <p:spPr>
          <a:xfrm>
            <a:off x="457200" y="1188720"/>
            <a:ext cx="8229600" cy="2103120"/>
          </a:xfrm>
          <a:prstGeom prst="rect">
            <a:avLst/>
          </a:prstGeom>
          <a:noFill/>
          <a:ln/>
        </p:spPr>
        <p:txBody>
          <a:bodyPr wrap="square"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Workflow (slide 3): a new system goes intake → package → frame → run → check → report; the table can act at steps 2–5, and the evidence says step 2 (in code) and step 3 (by a person) are where it earns its place.</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Three systems: HSP90 gave a real cross-source result (direction ≠ arrival); DHFR and ADK are single-source MD descriptions that exposed two admission defects, one of them in my own rule.</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Four-layer test, 74 runs: only explicit sub-questions met its criterion; card delivery, method-family retrieval and number matching each failed for an identified reason.</a:t>
            </a:r>
            <a:endParaRPr lang="en-US" sz="1400" dirty="0"/>
          </a:p>
        </p:txBody>
      </p:sp>
      <p:sp>
        <p:nvSpPr>
          <p:cNvPr id="7" name="Shape 4"/>
          <p:cNvSpPr/>
          <p:nvPr/>
        </p:nvSpPr>
        <p:spPr>
          <a:xfrm>
            <a:off x="457200" y="3337560"/>
            <a:ext cx="8229600" cy="1188720"/>
          </a:xfrm>
          <a:prstGeom prst="rect">
            <a:avLst/>
          </a:prstGeom>
          <a:solidFill>
            <a:srgbClr val="FFF2CC"/>
          </a:solidFill>
          <a:ln w="12700">
            <a:solidFill>
              <a:srgbClr val="E6D48A"/>
            </a:solidFill>
            <a:prstDash val="solid"/>
          </a:ln>
        </p:spPr>
      </p:sp>
      <p:sp>
        <p:nvSpPr>
          <p:cNvPr id="8" name="Text 5"/>
          <p:cNvSpPr/>
          <p:nvPr/>
        </p:nvSpPr>
        <p:spPr>
          <a:xfrm>
            <a:off x="457200" y="3337560"/>
            <a:ext cx="8229600" cy="118872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Decisions for today</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1. Is the workflow on slide 3 reasonable? What would you reorder, cut or add?</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2. Which form of the table (slide 14) should we build toward: repair the four layers, rules for the protocol writer, or rules as operator configuration?</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3. Are HSP90 / DHFR / ADK the right systems by the criterion on slide 15, and is there a fourth with MD plus population-constraining experiment?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References</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17</a:t>
            </a:r>
            <a:endParaRPr lang="en-US" sz="1050" dirty="0"/>
          </a:p>
        </p:txBody>
      </p:sp>
      <p:sp>
        <p:nvSpPr>
          <p:cNvPr id="4" name="Text 2"/>
          <p:cNvSpPr/>
          <p:nvPr/>
        </p:nvSpPr>
        <p:spPr>
          <a:xfrm>
            <a:off x="457200" y="1188720"/>
            <a:ext cx="8229600" cy="338328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Henot F. et al. (2022) Visualizing the transiently populated closed-state of human HSP90 ATP binding domain. Nat Commun 13, 7601. doi:10.1038/s41467-022-35399-8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Cetin E. et al. (2023) DHFR L28R / TMP and 4′-DTMP study. J Chem Inf Model; PMC10428214; data Zenodo 7966540; authors' code github.com/midstlab/JCIM_Cetin_etal_2023</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Orädd F. et al. (2021) Tracking the ATP-binding response in adenylate kinase in real time. Sci Adv 7, eabi5514. doi:10.1126/sciadv.abi5514; data Zenodo 5583119</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Bengtsen T. et al. (2020) Structure and dynamics of a nanodisc by integrating NMR, SAXS and SANS experiments with MD. eLife 9, e56518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Li, Thomasen, Cossio (2026) Are we capturing the ensemble? RS Station blog, 31 Aug 2026</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Bhakat S. (2026) Benchmarking generative AI and physics-based simulation for conformational heterogeneity in T4 lysozyme. J Chem Inf Model. doi:10.1021/acs.jcim.6c02044</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Rule sources (11): Hellenkamp 2018; Agam 2023; Dimura 2020; Fuertes 2017; Shevchuk 2017; Bengtsen 2020; Hoff 2024; Peter 2022; Sanabria 2020; Steffen 2021; Wankowicz &amp; Bonomi 2026 — full locators in rule_registry.tsv</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920240"/>
            <a:ext cx="7863840"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Appendix</a:t>
            </a:r>
            <a:endParaRPr lang="en-US" sz="3000" dirty="0"/>
          </a:p>
        </p:txBody>
      </p:sp>
      <p:sp>
        <p:nvSpPr>
          <p:cNvPr id="3" name="Text 1"/>
          <p:cNvSpPr/>
          <p:nvPr/>
        </p:nvSpPr>
        <p:spPr>
          <a:xfrm>
            <a:off x="640080" y="2651760"/>
            <a:ext cx="7863840" cy="457200"/>
          </a:xfrm>
          <a:prstGeom prst="rect">
            <a:avLst/>
          </a:prstGeom>
          <a:noFill/>
          <a:ln/>
        </p:spPr>
        <p:txBody>
          <a:bodyPr wrap="square" rtlCol="0" anchor="ctr"/>
          <a:lstStyle/>
          <a:p>
            <a:pPr indent="0" marL="0">
              <a:buNone/>
            </a:pPr>
            <a:r>
              <a:rPr lang="en-US" sz="1300" dirty="0">
                <a:solidFill>
                  <a:srgbClr val="A0BBDD"/>
                </a:solidFill>
                <a:latin typeface="Arial" pitchFamily="34" charset="0"/>
                <a:ea typeface="Arial" pitchFamily="34" charset="-122"/>
                <a:cs typeface="Arial" pitchFamily="34" charset="-120"/>
              </a:rPr>
              <a:t>A1 what the evidence can and cannot support · A2 all 33 rules by layer · A3 scores per condition · A4 cost · A5 terms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A1. What this evidence can and cannot support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METHODS_AND_LIMITS_ZH.md; DEVIATIONS.md</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19</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114800"/>
                <a:gridCol w="4114800"/>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 say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Cannot say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pasting rules into the prompt showed no gain on 2 questions and one concrete harm</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that rules are useless in general</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explicit sub-questions raised coverage on 2/2 questions without new overclaims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that the Agent discovers sub-questions on its own</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the current checker and card retrieval did not meet pre-set criteria; mechanisms identified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a population-level correctness rate for any condition</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HSP90: leaving closed ≠ reaching open, at three tolerances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populations or rates for HSP90; H-bonds or mechanism for DHFR; anything about ADK's ATP response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74 runs, $1.20, all preserved with logs and sealed scores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independent expert scoring (not done); human time saved (not measured); scorer ≠ curator</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A2. All 33 rules, grouped by the layer they now belong to</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rule_registry.tsv; RULES_TABLE_ROLE_DESIGN_ZH.md §2</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20</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6766560"/>
              </a:tblGrid>
              <a:tr h="7315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Layer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IDs (rule_class)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C010-001 claim_ladder · C010-002 state_semantics · C005-001 estimand_non_equivalence · C009-003 estimand_non_equivalence · C012-001 benchmark_contract · C012-002 identifiability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B Admission (10)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C001-001 measurement_semantics · C002-001 measurement_semantics · C001-002 uncertainty_provenance · C001-003 measurement_quality · C008-001 source_quality · C007-001 multi_source_semantics · C009-001 cross_validation · C009-002 diagnostic_controls · C003-001 candidate_design · C003-003 held_out_validation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 (11)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C002-002, C006-001, C008-003 forward_bridge · C011-001 forward_implementation · C005-003 inverse_model · C003-002 reweighting · C007-002 integration_operator · C006-002 uncertainty_integration · C011-002 uncertainty_decomposition · C002-003, C008-002 artifact_exclusion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C006-003, C011-003, C012-003 claim_ceiling · C005-002 complementary_evidence · C007-003 integration_validation · C010-003 functional_validation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A3. Median scores per question and condition (n = 4 each)</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UNBLINDED_SCORES.csv; medians recomputed locally from the unblinded table</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21</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1280160"/>
                <a:gridCol w="1737360"/>
                <a:gridCol w="1005840"/>
                <a:gridCol w="914400"/>
                <a:gridCol w="822960"/>
                <a:gridCol w="822960"/>
                <a:gridCol w="45720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Condition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Correct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Errors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Overclaims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Omissions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Coverage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defective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 card / card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corrected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3.5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1.5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nanodisc Q05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Q01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2.5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A4. Cost and run ledger</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50" dirty="0">
                <a:solidFill>
                  <a:srgbClr val="777777"/>
                </a:solidFill>
                <a:latin typeface="Arial" pitchFamily="34" charset="0"/>
                <a:ea typeface="Arial" pitchFamily="34" charset="-122"/>
                <a:cs typeface="Arial" pitchFamily="34" charset="-120"/>
              </a:rPr>
              <a:t>CAMPAIGN_PROGRESS.json; COST_RECONCILIATION.json</a:t>
            </a:r>
            <a:endParaRPr lang="en-US" sz="105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22</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754880"/>
                <a:gridCol w="822960"/>
                <a:gridCol w="1554480"/>
                <a:gridCol w="1097280"/>
              </a:tblGrid>
              <a:tr h="365760">
                <a:tc>
                  <a:txBody>
                    <a:bodyPr/>
                    <a:lstStyle/>
                    <a:p>
                      <a:pPr indent="0" marL="0">
                        <a:buNone/>
                      </a:pPr>
                      <a:r>
                        <a:rPr lang="en-US" sz="1250" b="1" dirty="0">
                          <a:solidFill>
                            <a:srgbClr val="FFFFFF"/>
                          </a:solidFill>
                          <a:latin typeface="Arial" pitchFamily="34" charset="0"/>
                          <a:ea typeface="Arial" pitchFamily="34" charset="-122"/>
                          <a:cs typeface="Arial" pitchFamily="34" charset="-120"/>
                        </a:rPr>
                        <a:t>Batch</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Runs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Settled cost (USD)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Cap</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Historical: HSP90 first round (4), DHFR (2), old A/B/C (8), D/P/R pilot (2)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0.2855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Admission card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0.1469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Plain ADK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0.0233</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One-feedback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0.3858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Method-guidance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0.4158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Question decomposition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0.2312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Four-layer total</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74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1.2029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1.85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457200" y="4206240"/>
            <a:ext cx="8229600" cy="365760"/>
          </a:xfrm>
          <a:prstGeom prst="rect">
            <a:avLst/>
          </a:prstGeom>
          <a:noFill/>
          <a:ln/>
        </p:spPr>
        <p:txBody>
          <a:bodyPr wrap="square" rtlCol="0" anchor="ctr"/>
          <a:lstStyle/>
          <a:p>
            <a:pPr indent="0" marL="0">
              <a:buNone/>
            </a:pPr>
            <a:r>
              <a:rPr lang="en-US" sz="1150" dirty="0">
                <a:solidFill>
                  <a:srgbClr val="777777"/>
                </a:solidFill>
                <a:latin typeface="Arial" pitchFamily="34" charset="0"/>
                <a:ea typeface="Arial" pitchFamily="34" charset="-122"/>
                <a:cs typeface="Arial" pitchFamily="34" charset="-120"/>
              </a:rPr>
              <a:t>Model wall time for the 74 runs ≈ 90 minutes. Scoring, cross-checks and report writing were the actual cost.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A5. Terms as used in this deck</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50" dirty="0">
                <a:solidFill>
                  <a:srgbClr val="777777"/>
                </a:solidFill>
                <a:latin typeface="Arial" pitchFamily="34" charset="0"/>
                <a:ea typeface="Arial" pitchFamily="34" charset="-122"/>
                <a:cs typeface="Arial" pitchFamily="34" charset="-120"/>
              </a:rPr>
              <a:t>23</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65836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 here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caution from one methods paper: finding, required check, abstain route, transfer 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Selector / obligation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that matches rules to a question by method family and renders them as required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Agent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sealed container session of the LLM: reads data, writes Python, submits a structured answer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Frozen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question, rubric, code and run order hashed before the first model call; changes void the experiment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Core unit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of five predefined pieces of scientific content the rubric expects; scored correct / wrong / missing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Overclaim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stated conclusion stronger than the evidence supports (e.g. frame fraction as population)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Exposed case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question or dataset already used during development; cannot serve as an independent 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checks that the data can answer the question: object, condition, units, time, evidence role,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Dynamics Atlas: the Rules Table, tested on three systems</dc:title>
  <dc:subject>PptxGenJS Presentation</dc:subject>
  <dc:creator>Zhenpeng Liu</dc:creator>
  <cp:lastModifiedBy>Zhenpeng Liu</cp:lastModifiedBy>
  <cp:revision>1</cp:revision>
  <dcterms:created xsi:type="dcterms:W3CDTF">2026-09-10T15:03:03Z</dcterms:created>
  <dcterms:modified xsi:type="dcterms:W3CDTF">2026-09-10T15:03:03Z</dcterms:modified>
</cp:coreProperties>
</file>